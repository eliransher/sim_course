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9" r:id="rId11"/>
    <p:sldId id="288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7" r:id="rId20"/>
    <p:sldId id="278" r:id="rId21"/>
    <p:sldId id="272" r:id="rId22"/>
    <p:sldId id="273" r:id="rId23"/>
    <p:sldId id="279" r:id="rId24"/>
    <p:sldId id="280" r:id="rId25"/>
    <p:sldId id="281" r:id="rId26"/>
    <p:sldId id="274" r:id="rId27"/>
    <p:sldId id="275" r:id="rId28"/>
    <p:sldId id="290" r:id="rId29"/>
    <p:sldId id="282" r:id="rId30"/>
    <p:sldId id="283" r:id="rId31"/>
    <p:sldId id="284" r:id="rId32"/>
    <p:sldId id="285" r:id="rId33"/>
    <p:sldId id="286" r:id="rId34"/>
    <p:sldId id="287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2886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82296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000" b="0" i="0">
                <a:solidFill>
                  <a:srgbClr val="9FC0D8"/>
                </a:solidFill>
                <a:latin typeface="Calibri"/>
                <a:cs typeface="Calibri"/>
              </a:rPr>
              <a:t>סימולציה של אירועים בדידים לניתוח מערכות תורים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1" i="0">
                <a:solidFill>
                  <a:srgbClr val="E07A2F"/>
                </a:solidFill>
                <a:latin typeface="Calibri"/>
                <a:cs typeface="Calibri"/>
              </a:rPr>
              <a:t>שיעור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360152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4000" b="1" i="0">
                <a:solidFill>
                  <a:srgbClr val="FFFFFF"/>
                </a:solidFill>
                <a:latin typeface="Calibri"/>
                <a:cs typeface="Calibri"/>
              </a:rPr>
              <a:t>רשתות תורים ותלות בתהליך ההגעה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26280"/>
            <a:ext cx="103601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000" b="0" i="0">
                <a:solidFill>
                  <a:srgbClr val="C7D8E6"/>
                </a:solidFill>
                <a:latin typeface="Calibri"/>
                <a:cs typeface="Calibri"/>
              </a:rPr>
              <a:t>מבנים של רשתות, התפלגויות משותפות, ואוטוקורלציה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‪Lesson 6 · Queueing networks &amp; dependence‬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מה נעשה היום?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מבנים של רשתות תורים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שרשרת, התקדמות קדימה, ומשוב.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57830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812694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תהליך ההגעה בתוך רשת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למה ההנחה של אי-תלות נשברת.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41140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696004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משתנה מקרי דו-ממדי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התפלגות משותפת, שולית ומותנית.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524451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4579315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דוגמה מספרית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אותה התפלגות שולית — ובכל זאת תלות.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407761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5462625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אוטוקורלציה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איך מודדים תלות בזמן, ומה המשמעות לתורים.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6 · רשתות תורים ותלות  ·  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201168" cy="21031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E07A2F"/>
                </a:solidFill>
                <a:latin typeface="Calibri"/>
              </a:rPr>
              <a:t>‪Network structures‬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3400" b="1" i="0">
                <a:solidFill>
                  <a:srgbClr val="FFFFFF"/>
                </a:solidFill>
                <a:latin typeface="Calibri"/>
                <a:cs typeface="Calibri"/>
              </a:rPr>
              <a:t>מבנים של רשתות תורים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C7D3DE"/>
                </a:solidFill>
                <a:latin typeface="Calibri"/>
                <a:cs typeface="Calibri"/>
              </a:rPr>
              <a:t>שיעור 6 · רשתות תורים ותלות  · 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‪Reading a network diagram‬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איך קוראים תרשים של רשת?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תחנות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כל עיגול בתרשים מייצג תחנת שירות או תור.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82111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236975"/>
            <a:ext cx="10515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חצים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לאן לקוחות יכולים לעבור אחרי סיום שירות בתחנה.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89704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544568"/>
            <a:ext cx="10515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המטרה כרגע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להבין את מבנה המערכת — לפני שנכנסים לסימולציה עצמה.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6 · רשתות תורים ותלות  ·  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‪Tandem‬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שרשרת תחנות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hi_cell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828800"/>
            <a:ext cx="10058400" cy="264959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569831"/>
            <a:ext cx="11274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1">
                <a:solidFill>
                  <a:srgbClr val="5A6B7B"/>
                </a:solidFill>
                <a:latin typeface="Calibri"/>
                <a:cs typeface="Calibri"/>
              </a:rPr>
              <a:t>המבנה הפשוט ביותר של רשת תורים עם כמה תחנות.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027031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5054463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400" b="0" i="0">
                <a:solidFill>
                  <a:srgbClr val="1F3A5F"/>
                </a:solidFill>
                <a:latin typeface="Calibri"/>
                <a:cs typeface="Calibri"/>
              </a:rPr>
              <a:t>כל תחנה מזינה את הבאה אחריה — מסלול אחד קבוע, מהתחנה הראשונה ועד היציאה.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6 · רשתות תורים ותלות  · 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‪Feed-forward‬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התקדמות קדימה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רק קדימה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לקוחות לא חוזרים לתחנות קודמות.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033522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פיצול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לקוחות שמסיימים בתחנה אחת יכולים להישלח לכמה תחנות אפשריות.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137659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מיזוג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לקוחות מכמה תחנות שונות יכולים להגיע לאותה תחנה בהמשך.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86933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5241797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התוצאה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המבנה כבר לא חייב להיות שרשרת אחת פשוטה.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6 · רשתות תורים ותלות  ·  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‪Feed-forward · split and merge‬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התקדמות קדימה: 4 תחנות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hi_cell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0177" y="1828800"/>
            <a:ext cx="5691339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212079"/>
            <a:ext cx="11274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1">
                <a:solidFill>
                  <a:srgbClr val="5A6B7B"/>
                </a:solidFill>
                <a:latin typeface="Calibri"/>
                <a:cs typeface="Calibri"/>
              </a:rPr>
              <a:t>פיצול אחרי התחנה הראשונה, ומיזוג לתחנה האחרונה.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669279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5696712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400" b="0" i="0">
                <a:solidFill>
                  <a:srgbClr val="1F3A5F"/>
                </a:solidFill>
                <a:latin typeface="Calibri"/>
                <a:cs typeface="Calibri"/>
              </a:rPr>
              <a:t>כל לקוח עובר באחת משתי תחנות הביניים — וכולם מגיעים לתחנה האחרונה.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6 · רשתות תורים ותלות  · 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‪Feed-forward · two paths‬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התקדמות קדימה: 5 תחנות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hi_cell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1755" y="1828800"/>
            <a:ext cx="6148183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212079"/>
            <a:ext cx="11274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1">
                <a:solidFill>
                  <a:srgbClr val="5A6B7B"/>
                </a:solidFill>
                <a:latin typeface="Calibri"/>
                <a:cs typeface="Calibri"/>
              </a:rPr>
              <a:t>שני מסלולים מקבילים אחרי התחנה הראשונה.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669279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5696712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400" b="0" i="0">
                <a:solidFill>
                  <a:srgbClr val="1F3A5F"/>
                </a:solidFill>
                <a:latin typeface="Calibri"/>
                <a:cs typeface="Calibri"/>
              </a:rPr>
              <a:t>המסלולים מתאחדים בתחנה האחרונה — והיא מקבלת הגעות משתי תחנות שונות.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6 · רשתות תורים ותלות  · 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‪Feed-forward · up to 7 stations‬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התקדמות קדימה: 7 תחנות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hi_cell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8717" y="1828800"/>
            <a:ext cx="5834261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212079"/>
            <a:ext cx="11274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1">
                <a:solidFill>
                  <a:srgbClr val="5A6B7B"/>
                </a:solidFill>
                <a:latin typeface="Calibri"/>
                <a:cs typeface="Calibri"/>
              </a:rPr>
              <a:t>דוגמה עשירה יותר, עם פיצולים ומיזוגים.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669279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5696712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400" b="0" i="0">
                <a:solidFill>
                  <a:srgbClr val="1F3A5F"/>
                </a:solidFill>
                <a:latin typeface="Calibri"/>
                <a:cs typeface="Calibri"/>
              </a:rPr>
              <a:t>כל החצים עדיין הולכים קדימה בלבד — אין חזרה לתחנה שכבר הופיעה במסלול.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6 · רשתות תורים ותלות  · 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70C71-0E80-C930-98E9-1E4B0864A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4156A6-EF6A-009E-60EB-6AC8E122CC3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5D046F-A3A1-0659-BF75-4092A6061E1C}"/>
              </a:ext>
            </a:extLst>
          </p:cNvPr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‪Feed-forward‬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A18327-68CD-AC63-3D10-DA06F4228076}"/>
              </a:ext>
            </a:extLst>
          </p:cNvPr>
          <p:cNvSpPr txBox="1"/>
          <p:nvPr/>
        </p:nvSpPr>
        <p:spPr>
          <a:xfrm>
            <a:off x="457200" y="749808"/>
            <a:ext cx="1127455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 dirty="0">
                <a:solidFill>
                  <a:srgbClr val="1F3A5F"/>
                </a:solidFill>
                <a:latin typeface="Calibri"/>
                <a:cs typeface="Calibri"/>
              </a:rPr>
              <a:t>התקדמות קדימה: ניתן לפרק את המערכת לתת מערכות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794830-0F58-1729-9670-867135717A7B}"/>
              </a:ext>
            </a:extLst>
          </p:cNvPr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E472A58-5B49-BCEE-CEAF-0C5C091550BC}"/>
              </a:ext>
            </a:extLst>
          </p:cNvPr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F08825-7FD4-55B5-F536-80333B4DDBF1}"/>
              </a:ext>
            </a:extLst>
          </p:cNvPr>
          <p:cNvSpPr txBox="1"/>
          <p:nvPr/>
        </p:nvSpPr>
        <p:spPr>
          <a:xfrm>
            <a:off x="822960" y="1997948"/>
            <a:ext cx="10515600" cy="6926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b="1" i="0" dirty="0">
                <a:solidFill>
                  <a:srgbClr val="1F3A5F"/>
                </a:solidFill>
                <a:latin typeface="Calibri"/>
                <a:cs typeface="Calibri"/>
              </a:rPr>
              <a:t>D</a:t>
            </a:r>
            <a:r>
              <a:rPr lang="en-US" b="1" dirty="0">
                <a:solidFill>
                  <a:srgbClr val="1F3A5F"/>
                </a:solidFill>
                <a:latin typeface="Calibri"/>
                <a:cs typeface="Calibri"/>
              </a:rPr>
              <a:t>ecomposition</a:t>
            </a:r>
            <a:r>
              <a:rPr lang="he-IL" b="1" dirty="0">
                <a:solidFill>
                  <a:srgbClr val="1F3A5F"/>
                </a:solidFill>
                <a:latin typeface="Calibri"/>
                <a:cs typeface="Calibri"/>
              </a:rPr>
              <a:t>: פירוק לתת מערכות</a:t>
            </a:r>
            <a:endParaRPr lang="he-IL" sz="1800" b="1" i="0" dirty="0">
              <a:solidFill>
                <a:srgbClr val="1F3A5F"/>
              </a:solidFill>
              <a:latin typeface="Calibri"/>
              <a:cs typeface="Calibri"/>
            </a:endParaRP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ניתן להתסכל על כל תור בנפרד. לבדוק כיצד מתנהג זרם הצרכנים וכיצד מתפלגים זמני השירות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C084C23-0C44-EA01-1C74-E027C71694EB}"/>
              </a:ext>
            </a:extLst>
          </p:cNvPr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8D4F06-DDF8-7AE9-7C4F-BAF2548E8759}"/>
              </a:ext>
            </a:extLst>
          </p:cNvPr>
          <p:cNvSpPr txBox="1"/>
          <p:nvPr/>
        </p:nvSpPr>
        <p:spPr>
          <a:xfrm>
            <a:off x="822960" y="3102086"/>
            <a:ext cx="10515600" cy="6926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תוצאה: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ניתוח הרשת פשוט יותר.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0DA936-99A4-1930-3F90-EF1B64B002CF}"/>
              </a:ext>
            </a:extLst>
          </p:cNvPr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6 · רשתות תורים ותלות  ·  5</a:t>
            </a:r>
          </a:p>
        </p:txBody>
      </p:sp>
    </p:spTree>
    <p:extLst>
      <p:ext uri="{BB962C8B-B14F-4D97-AF65-F5344CB8AC3E}">
        <p14:creationId xmlns:p14="http://schemas.microsoft.com/office/powerpoint/2010/main" val="3081968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1DBCF-EDFF-48BF-9E16-98E669B26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8ABF1C-1E98-0C98-5838-62675482596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858E7E-388A-2B19-5502-3D8D95ED40F0}"/>
              </a:ext>
            </a:extLst>
          </p:cNvPr>
          <p:cNvSpPr txBox="1"/>
          <p:nvPr/>
        </p:nvSpPr>
        <p:spPr>
          <a:xfrm>
            <a:off x="457200" y="411480"/>
            <a:ext cx="11274552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b="1" dirty="0">
                <a:solidFill>
                  <a:srgbClr val="2E86AB"/>
                </a:solidFill>
                <a:latin typeface="Calibri"/>
              </a:rPr>
              <a:t>Feed back loop</a:t>
            </a:r>
            <a:endParaRPr sz="1400" b="1" i="0" dirty="0">
              <a:solidFill>
                <a:srgbClr val="2E86AB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ACDE80-C6FC-B326-7478-20D26A52FA05}"/>
              </a:ext>
            </a:extLst>
          </p:cNvPr>
          <p:cNvSpPr txBox="1"/>
          <p:nvPr/>
        </p:nvSpPr>
        <p:spPr>
          <a:xfrm>
            <a:off x="457200" y="749808"/>
            <a:ext cx="1127455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dirty="0">
                <a:solidFill>
                  <a:srgbClr val="1F3A5F"/>
                </a:solidFill>
                <a:cs typeface="Calibri"/>
              </a:rPr>
              <a:t>רשת עם חזרה לתחנה קודמת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5CC1CB-2814-42E2-7A34-B50FB689C051}"/>
              </a:ext>
            </a:extLst>
          </p:cNvPr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3AB6D2C-1C79-108C-BE07-C857AF41613A}"/>
              </a:ext>
            </a:extLst>
          </p:cNvPr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49D9D2-2644-CF0C-47CB-94B28E724264}"/>
              </a:ext>
            </a:extLst>
          </p:cNvPr>
          <p:cNvSpPr txBox="1"/>
          <p:nvPr/>
        </p:nvSpPr>
        <p:spPr>
          <a:xfrm>
            <a:off x="822960" y="1997948"/>
            <a:ext cx="10515600" cy="6926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מה קורה עם צרכן יכול לחזור לתחנה יותר מפעם אחת?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למשל: בבית חולים, מטופל מגיע לאחות, משם לרופא ואז חוזר לאחות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ADB5462-390C-1865-C9CF-DA659D390EAC}"/>
              </a:ext>
            </a:extLst>
          </p:cNvPr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8A88F8-C79C-F777-0D27-89B448998813}"/>
              </a:ext>
            </a:extLst>
          </p:cNvPr>
          <p:cNvSpPr txBox="1"/>
          <p:nvPr/>
        </p:nvSpPr>
        <p:spPr>
          <a:xfrm>
            <a:off x="822960" y="3102086"/>
            <a:ext cx="10515600" cy="6926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למה זה משנה?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הניתוח של המערכת יותר מורכב. 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F12369A-6733-7564-E30A-E2A49E92EEB4}"/>
              </a:ext>
            </a:extLst>
          </p:cNvPr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134271-822C-7035-08CF-A097945DCD72}"/>
              </a:ext>
            </a:extLst>
          </p:cNvPr>
          <p:cNvSpPr txBox="1"/>
          <p:nvPr/>
        </p:nvSpPr>
        <p:spPr>
          <a:xfrm>
            <a:off x="822960" y="4206223"/>
            <a:ext cx="10515600" cy="6926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למה זה כלכך מורכב</a:t>
            </a:r>
            <a:r>
              <a:rPr lang="he-IL" b="1" dirty="0">
                <a:solidFill>
                  <a:srgbClr val="1F3A5F"/>
                </a:solidFill>
                <a:latin typeface="Calibri"/>
                <a:cs typeface="Calibri"/>
              </a:rPr>
              <a:t>?</a:t>
            </a:r>
            <a:endParaRPr lang="he-IL" sz="1800" b="1" i="0" dirty="0">
              <a:solidFill>
                <a:srgbClr val="1F3A5F"/>
              </a:solidFill>
              <a:latin typeface="Calibri"/>
              <a:cs typeface="Calibri"/>
            </a:endParaRP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כי היציאה של צרכנים מתור מסוים משפיעה על ההגעה שלו בעקיפין עד עכשיו לא היה לנו את זה.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38C39D-5448-1AB3-21D0-3812D190910E}"/>
              </a:ext>
            </a:extLst>
          </p:cNvPr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6 · רשתות תורים ותלות  ·  5</a:t>
            </a:r>
          </a:p>
        </p:txBody>
      </p:sp>
    </p:spTree>
    <p:extLst>
      <p:ext uri="{BB962C8B-B14F-4D97-AF65-F5344CB8AC3E}">
        <p14:creationId xmlns:p14="http://schemas.microsoft.com/office/powerpoint/2010/main" val="2128852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‪Feedback loop‬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dirty="0">
                <a:solidFill>
                  <a:srgbClr val="1F3A5F"/>
                </a:solidFill>
                <a:latin typeface="Calibri"/>
                <a:cs typeface="Calibri"/>
              </a:rPr>
              <a:t>רשת עם</a:t>
            </a:r>
            <a:r>
              <a:rPr lang="he-IL" sz="2800" b="1" i="0" dirty="0">
                <a:solidFill>
                  <a:srgbClr val="1F3A5F"/>
                </a:solidFill>
                <a:latin typeface="Calibri"/>
                <a:cs typeface="Calibri"/>
              </a:rPr>
              <a:t> חזרה לתחנות קודמות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hi_cell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203" y="1828800"/>
            <a:ext cx="5883288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212079"/>
            <a:ext cx="11274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1">
                <a:solidFill>
                  <a:srgbClr val="5A6B7B"/>
                </a:solidFill>
                <a:latin typeface="Calibri"/>
                <a:cs typeface="Calibri"/>
              </a:rPr>
              <a:t>לקוח יכול לחזור לתחנה שכבר היה בה (החצים המקווקווים).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669279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5696712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400" b="0" i="0">
                <a:solidFill>
                  <a:srgbClr val="1F3A5F"/>
                </a:solidFill>
                <a:latin typeface="Calibri"/>
                <a:cs typeface="Calibri"/>
              </a:rPr>
              <a:t>מתאים למשל לתיקון, לבדיקה חוזרת, או לטיפול נוסף אחרי כישלון בשלב מסוים.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6 · רשתות תורים ותלות  ·  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201168" cy="21031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E07A2F"/>
                </a:solidFill>
                <a:latin typeface="Calibri"/>
              </a:rPr>
              <a:t>‪Arrivals inside a network‬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3400" b="1" i="0">
                <a:solidFill>
                  <a:srgbClr val="FFFFFF"/>
                </a:solidFill>
                <a:latin typeface="Calibri"/>
                <a:cs typeface="Calibri"/>
              </a:rPr>
              <a:t>מה קורה לתהליך ההגעה בתוך רשת?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C7D3DE"/>
                </a:solidFill>
                <a:latin typeface="Calibri"/>
                <a:cs typeface="Calibri"/>
              </a:rPr>
              <a:t>שיעור 6 · רשתות תורים ותלות  ·  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‪Independence breaks down‬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ההנחה שנשברת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43484" y="1636775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8657" y="1715328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ההנחה עד עכשיו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זמני בין-הגעה בלתי תלויים, וגם זמני שירות של לקוחות עוקבים.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" y="2666763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8657" y="2660626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למה היא נוחה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סבירה בהרבה מערכות, ומקלה מאוד על הניתוח ועל הסימולציה.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78034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80711" y="3814810"/>
            <a:ext cx="10515600" cy="6926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ברשת היא נשברת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בשרשרת, תהליך העזיבה מהתחנה הראשונה הוא בדיוק תהליך ההגעה לשנייה.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1714" y="5461381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3425" y="5449128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המסקנה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גם אם ההגעות החיצוניות בלתי תלויות — ההגעות הפנימיות כבר יכולות להיות תלויות.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6 · רשתות תורים ותלות  ·  11</a:t>
            </a:r>
          </a:p>
        </p:txBody>
      </p:sp>
      <p:sp>
        <p:nvSpPr>
          <p:cNvPr id="16" name="Rounded Rectangle 9">
            <a:extLst>
              <a:ext uri="{FF2B5EF4-FFF2-40B4-BE49-F238E27FC236}">
                <a16:creationId xmlns:a16="http://schemas.microsoft.com/office/drawing/2014/main" id="{86690D17-89EF-1B24-537A-5449A39428A7}"/>
              </a:ext>
            </a:extLst>
          </p:cNvPr>
          <p:cNvSpPr/>
          <p:nvPr/>
        </p:nvSpPr>
        <p:spPr>
          <a:xfrm>
            <a:off x="477656" y="4729396"/>
            <a:ext cx="11274552" cy="595663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63FAF3-8477-F7F7-EE3B-37FBF7DCA42E}"/>
              </a:ext>
            </a:extLst>
          </p:cNvPr>
          <p:cNvSpPr txBox="1"/>
          <p:nvPr/>
        </p:nvSpPr>
        <p:spPr>
          <a:xfrm>
            <a:off x="1080711" y="4879817"/>
            <a:ext cx="10515600" cy="3248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1" i="0" dirty="0">
                <a:solidFill>
                  <a:srgbClr val="1F3A5F"/>
                </a:solidFill>
                <a:latin typeface="Calibri"/>
                <a:cs typeface="Calibri"/>
              </a:rPr>
              <a:t>תופעה בתורים: תה</a:t>
            </a:r>
            <a:r>
              <a:rPr lang="he-IL" sz="1500" b="1" dirty="0">
                <a:solidFill>
                  <a:srgbClr val="1F3A5F"/>
                </a:solidFill>
                <a:latin typeface="Calibri"/>
                <a:cs typeface="Calibri"/>
              </a:rPr>
              <a:t>ליכי עזיבה יוצרים תלות בין צרכנים. למה???</a:t>
            </a:r>
            <a:endParaRPr lang="he-IL" sz="1500" b="0" i="0" dirty="0">
              <a:solidFill>
                <a:srgbClr val="1A2433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  <p:bldP spid="1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‪Order matters‬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למה התפלגות כבר לא מספיקה?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65769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603" y="1641681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כשיש אי-תלות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מספיק לתאר את ההתפלגות — מעריכית, גמא, לוג-נורמלית.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82557"/>
            <a:ext cx="11274552" cy="1185687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37752" y="2648209"/>
            <a:ext cx="10515600" cy="125438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כשיש תלות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dirty="0">
                <a:solidFill>
                  <a:srgbClr val="1A2433"/>
                </a:solidFill>
                <a:latin typeface="Calibri"/>
                <a:cs typeface="Calibri"/>
              </a:rPr>
              <a:t>זמנים בין הגעות כבר לא ניתנים לתיאור על ידי התפלגות אלא על ידי ייצור שונה בעל שני מרכיבים.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dirty="0">
                <a:solidFill>
                  <a:srgbClr val="1A2433"/>
                </a:solidFill>
                <a:latin typeface="Calibri"/>
                <a:cs typeface="Calibri"/>
              </a:rPr>
              <a:t>1. התפלגות שולית. כעצם אותה התפלגות כמו מקודם. </a:t>
            </a:r>
            <a:br>
              <a:rPr lang="en-US" sz="1500" dirty="0">
                <a:solidFill>
                  <a:srgbClr val="1A2433"/>
                </a:solidFill>
                <a:latin typeface="Calibri"/>
                <a:cs typeface="Calibri"/>
              </a:rPr>
            </a:br>
            <a:r>
              <a:rPr lang="he-IL" sz="1500" dirty="0">
                <a:solidFill>
                  <a:srgbClr val="1A2433"/>
                </a:solidFill>
                <a:latin typeface="Calibri"/>
                <a:cs typeface="Calibri"/>
              </a:rPr>
              <a:t>2. תלות בין הגעות. יורחב בהמשך.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7752" y="4194617"/>
            <a:ext cx="10515600" cy="6926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הסיבה שהתפלגות בלבד לא מספיקה.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ההתפלגות השולית לא מתארת את הסדר שבו הערכים מופיעים.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7665" y="5461381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37752" y="5683740"/>
            <a:ext cx="10515600" cy="371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בשביל להבין על תלות בין הגעות תחילה נלמד מושג חדש בהסתברות: מ"מ דו מימדי.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6 · רשתות תורים ותלות  · 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201168" cy="21031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E07A2F"/>
                </a:solidFill>
                <a:latin typeface="Calibri"/>
              </a:rPr>
              <a:t>‪Joint distributions‬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3400" b="1" i="0">
                <a:solidFill>
                  <a:srgbClr val="FFFFFF"/>
                </a:solidFill>
                <a:latin typeface="Calibri"/>
                <a:cs typeface="Calibri"/>
              </a:rPr>
              <a:t>משתנה מקרי דו-ממדי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C7D3DE"/>
                </a:solidFill>
                <a:latin typeface="Calibri"/>
                <a:cs typeface="Calibri"/>
              </a:rPr>
              <a:t>שיעור 6 · רשתות תורים ותלות  ·  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‪Random vector‬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משתנה מקרי דו-ממדי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x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274" y="1783080"/>
            <a:ext cx="2747147" cy="10972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3063240"/>
            <a:ext cx="10543032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3090672"/>
            <a:ext cx="996696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1" i="0">
                <a:solidFill>
                  <a:srgbClr val="1F3A5F"/>
                </a:solidFill>
                <a:latin typeface="Calibri"/>
                <a:cs typeface="Calibri"/>
              </a:rPr>
              <a:t>זוג משתנים  </a:t>
            </a:r>
            <a:r>
              <a:rPr lang="he-IL" sz="1400" b="0" i="0">
                <a:solidFill>
                  <a:srgbClr val="1A2433"/>
                </a:solidFill>
                <a:latin typeface="Calibri"/>
                <a:cs typeface="Calibri"/>
              </a:rPr>
              <a:t>לכל תוצאה אקראית בניסוי מקבלים שני ערכים — אחד לכל משתנה.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114800"/>
            <a:ext cx="10543032" cy="91440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4142232"/>
            <a:ext cx="996696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1" i="0">
                <a:solidFill>
                  <a:srgbClr val="1F3A5F"/>
                </a:solidFill>
                <a:latin typeface="Calibri"/>
                <a:cs typeface="Calibri"/>
              </a:rPr>
              <a:t>בתורים  </a:t>
            </a:r>
            <a:r>
              <a:rPr lang="he-IL" sz="1400" b="0" i="0">
                <a:solidFill>
                  <a:srgbClr val="1A2433"/>
                </a:solidFill>
                <a:latin typeface="Calibri"/>
                <a:cs typeface="Calibri"/>
              </a:rPr>
              <a:t>המשתנה הראשון: זמן בין-הגעות אחד. השני: זמן בין-הגעות הבא אחריו.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6 · רשתות תורים ותלות  ·  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‪Joint distribution‬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התפלגות משותפת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jo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649" y="1783080"/>
            <a:ext cx="5158395" cy="14630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3429000"/>
            <a:ext cx="10543032" cy="838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3456432"/>
            <a:ext cx="9966960" cy="783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1" i="0" dirty="0">
                <a:solidFill>
                  <a:srgbClr val="1F3A5F"/>
                </a:solidFill>
                <a:latin typeface="Calibri"/>
                <a:cs typeface="Calibri"/>
              </a:rPr>
              <a:t>מקרה בדיד  </a:t>
            </a:r>
            <a:r>
              <a:rPr lang="he-IL" sz="1400" b="0" i="0" dirty="0">
                <a:solidFill>
                  <a:srgbClr val="1A2433"/>
                </a:solidFill>
                <a:latin typeface="Calibri"/>
                <a:cs typeface="Calibri"/>
              </a:rPr>
              <a:t>ההסתברות שגם המשתנה הראשון וגם השני יקבלו ערכים מסוימים.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404360"/>
            <a:ext cx="10543032" cy="83820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4431792"/>
            <a:ext cx="9966960" cy="783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1" i="0">
                <a:solidFill>
                  <a:srgbClr val="1F3A5F"/>
                </a:solidFill>
                <a:latin typeface="Calibri"/>
                <a:cs typeface="Calibri"/>
              </a:rPr>
              <a:t>מקרה רציף  </a:t>
            </a:r>
            <a:r>
              <a:rPr lang="he-IL" sz="1400" b="0" i="0">
                <a:solidFill>
                  <a:srgbClr val="1A2433"/>
                </a:solidFill>
                <a:latin typeface="Calibri"/>
                <a:cs typeface="Calibri"/>
              </a:rPr>
              <a:t>משתמשים בצפיפות משותפת.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379720"/>
            <a:ext cx="10543032" cy="838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5407152"/>
            <a:ext cx="9966960" cy="783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1" i="0">
                <a:solidFill>
                  <a:srgbClr val="1F3A5F"/>
                </a:solidFill>
                <a:latin typeface="Calibri"/>
                <a:cs typeface="Calibri"/>
              </a:rPr>
              <a:t>מה היא מכילה  </a:t>
            </a:r>
            <a:r>
              <a:rPr lang="he-IL" sz="1400" b="0" i="0">
                <a:solidFill>
                  <a:srgbClr val="1A2433"/>
                </a:solidFill>
                <a:latin typeface="Calibri"/>
                <a:cs typeface="Calibri"/>
              </a:rPr>
              <a:t>מידע על כל משתנה בנפרד — וגם על הקשר ביניהם.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6 · רשתות תורים ותלות  ·  15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‪Setup‬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 dirty="0">
                <a:solidFill>
                  <a:srgbClr val="1F3A5F"/>
                </a:solidFill>
                <a:latin typeface="Calibri"/>
                <a:cs typeface="Calibri"/>
              </a:rPr>
              <a:t>דוגמה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המשתנים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זמן הבין-הגעה הנוכחי, וזמן הבין-הגעה הבא.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82111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236975"/>
            <a:ext cx="10515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ערכים אפשריים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כל אחד מהם מקבל 1 (מרווח קצר) או 2 (מרווח ארוך).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6 · רשתות תורים ותלות  · 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‪Joint table with marginals‬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ההתפלגות המשותפת והשוליות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072487" y="2103120"/>
          <a:ext cx="80467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endParaRPr/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‪Y = 1‬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‪Y = 2‬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‪P(X)‬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‪X = 1‬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0.35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0.15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‪X = 2‬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0.15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0.35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‪P(Y)‬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033780" y="4848352"/>
            <a:ext cx="9994392" cy="64008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4200" y="4894072"/>
            <a:ext cx="944575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F3A5F"/>
                </a:solidFill>
                <a:latin typeface="Calibri"/>
                <a:cs typeface="Calibri"/>
              </a:rPr>
              <a:t>סכום כל ההסתברויות הוא 1 — התפלגות חוקית. שתי ההתפלגויות השוליות זהות: חצי-חצי.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6 · רשתות תורים ותלות  ·  22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8CB6545-14FE-0F8B-74AA-9EE1B47060CB}"/>
                  </a:ext>
                </a:extLst>
              </p:cNvPr>
              <p:cNvSpPr txBox="1"/>
              <p:nvPr/>
            </p:nvSpPr>
            <p:spPr>
              <a:xfrm>
                <a:off x="3168650" y="5676900"/>
                <a:ext cx="3289300" cy="6585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=0.35</m:t>
                      </m:r>
                    </m:oMath>
                  </m:oMathPara>
                </a14:m>
                <a:endParaRPr lang="en-US" b="0" dirty="0"/>
              </a:p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IL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8CB6545-14FE-0F8B-74AA-9EE1B4706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650" y="5676900"/>
                <a:ext cx="3289300" cy="6585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‪Marginal distribution‬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התפלגות שולית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mar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8356" y="1783080"/>
            <a:ext cx="4354982" cy="1737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3703320"/>
            <a:ext cx="10543032" cy="7467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3730752"/>
            <a:ext cx="9966960" cy="691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1" i="0">
                <a:solidFill>
                  <a:srgbClr val="1F3A5F"/>
                </a:solidFill>
                <a:latin typeface="Calibri"/>
                <a:cs typeface="Calibri"/>
              </a:rPr>
              <a:t>מה זה  </a:t>
            </a:r>
            <a:r>
              <a:rPr lang="he-IL" sz="1400" b="0" i="0">
                <a:solidFill>
                  <a:srgbClr val="1A2433"/>
                </a:solidFill>
                <a:latin typeface="Calibri"/>
                <a:cs typeface="Calibri"/>
              </a:rPr>
              <a:t>ההתפלגות של משתנה אחד בלבד, כשמתעלמים מהשני.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587240"/>
            <a:ext cx="10543032" cy="74676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4614672"/>
            <a:ext cx="9966960" cy="691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1" i="0">
                <a:solidFill>
                  <a:srgbClr val="1F3A5F"/>
                </a:solidFill>
                <a:latin typeface="Calibri"/>
                <a:cs typeface="Calibri"/>
              </a:rPr>
              <a:t>מקרה רציף  </a:t>
            </a:r>
            <a:r>
              <a:rPr lang="he-IL" sz="1400" b="0" i="0">
                <a:solidFill>
                  <a:srgbClr val="1A2433"/>
                </a:solidFill>
                <a:latin typeface="Calibri"/>
                <a:cs typeface="Calibri"/>
              </a:rPr>
              <a:t>מחליפים סכום באינטגרל.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471160"/>
            <a:ext cx="10543032" cy="7467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5498592"/>
            <a:ext cx="9966960" cy="691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1" i="0">
                <a:solidFill>
                  <a:srgbClr val="1F3A5F"/>
                </a:solidFill>
                <a:latin typeface="Calibri"/>
                <a:cs typeface="Calibri"/>
              </a:rPr>
              <a:t>מה חסר  </a:t>
            </a:r>
            <a:r>
              <a:rPr lang="he-IL" sz="1400" b="0" i="0">
                <a:solidFill>
                  <a:srgbClr val="1A2433"/>
                </a:solidFill>
                <a:latin typeface="Calibri"/>
                <a:cs typeface="Calibri"/>
              </a:rPr>
              <a:t>היא לא אומרת אם יש קשר למשתנה השני.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6 · רשתות תורים ותלות  ·  16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‪Marginal expectation‬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תוחלת שולית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marg_ex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4843" y="1783080"/>
            <a:ext cx="3922007" cy="1737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3703320"/>
            <a:ext cx="10543032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3730752"/>
            <a:ext cx="996696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1" i="0">
                <a:solidFill>
                  <a:srgbClr val="1F3A5F"/>
                </a:solidFill>
                <a:latin typeface="Calibri"/>
                <a:cs typeface="Calibri"/>
              </a:rPr>
              <a:t>מה זה  </a:t>
            </a:r>
            <a:r>
              <a:rPr lang="he-IL" sz="1400" b="0" i="0">
                <a:solidFill>
                  <a:srgbClr val="1A2433"/>
                </a:solidFill>
                <a:latin typeface="Calibri"/>
                <a:cs typeface="Calibri"/>
              </a:rPr>
              <a:t>הממוצע של משתנה אחד בלבד מתוך הזוג.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754879"/>
            <a:ext cx="10543032" cy="91440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4782312"/>
            <a:ext cx="996696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1" i="0">
                <a:solidFill>
                  <a:srgbClr val="1F3A5F"/>
                </a:solidFill>
                <a:latin typeface="Calibri"/>
                <a:cs typeface="Calibri"/>
              </a:rPr>
              <a:t>שימו לב  </a:t>
            </a:r>
            <a:r>
              <a:rPr lang="he-IL" sz="1400" b="0" i="0">
                <a:solidFill>
                  <a:srgbClr val="1A2433"/>
                </a:solidFill>
                <a:latin typeface="Calibri"/>
                <a:cs typeface="Calibri"/>
              </a:rPr>
              <a:t>גם אם ידועות שתי התוחלות — עדיין לא יודעים אם המשתנים תלויים.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6 · רשתות תורים ותלות  ·  17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‪Marginal expectations‬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התוחלות השוליות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ex_ex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9041" y="1783080"/>
            <a:ext cx="6233612" cy="14630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3429000"/>
            <a:ext cx="10543032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3456432"/>
            <a:ext cx="996696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1" i="0">
                <a:solidFill>
                  <a:srgbClr val="1F3A5F"/>
                </a:solidFill>
                <a:latin typeface="Calibri"/>
                <a:cs typeface="Calibri"/>
              </a:rPr>
              <a:t>התוחלות זהות  </a:t>
            </a:r>
            <a:r>
              <a:rPr lang="he-IL" sz="1400" b="0" i="0">
                <a:solidFill>
                  <a:srgbClr val="1A2433"/>
                </a:solidFill>
                <a:latin typeface="Calibri"/>
                <a:cs typeface="Calibri"/>
              </a:rPr>
              <a:t>בדיוק כמו ההתפלגויות השוליות.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480560"/>
            <a:ext cx="10543032" cy="91440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4507992"/>
            <a:ext cx="996696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1" i="0">
                <a:solidFill>
                  <a:srgbClr val="1F3A5F"/>
                </a:solidFill>
                <a:latin typeface="Calibri"/>
                <a:cs typeface="Calibri"/>
              </a:rPr>
              <a:t>ועדיין  </a:t>
            </a:r>
            <a:r>
              <a:rPr lang="he-IL" sz="1400" b="0" i="0">
                <a:solidFill>
                  <a:srgbClr val="1A2433"/>
                </a:solidFill>
                <a:latin typeface="Calibri"/>
                <a:cs typeface="Calibri"/>
              </a:rPr>
              <a:t>זה לא אומר שאין תלות בין שני המשתנים.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6 · רשתות תורים ותלות  ·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‪Conditional distribution‬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ההתפלגות המותנית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ex_co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2766" y="1783080"/>
            <a:ext cx="5986162" cy="1828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3794760"/>
            <a:ext cx="10543032" cy="716279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3822192"/>
            <a:ext cx="9966960" cy="6614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1" i="0" dirty="0">
                <a:solidFill>
                  <a:srgbClr val="1F3A5F"/>
                </a:solidFill>
                <a:latin typeface="Calibri"/>
                <a:cs typeface="Calibri"/>
              </a:rPr>
              <a:t>אחרי מרווח קצר  </a:t>
            </a:r>
            <a:r>
              <a:rPr lang="he-IL" sz="1400" b="0" i="0" dirty="0">
                <a:solidFill>
                  <a:srgbClr val="1A2433"/>
                </a:solidFill>
                <a:latin typeface="Calibri"/>
                <a:cs typeface="Calibri"/>
              </a:rPr>
              <a:t>ההסתברות שגם המרווח הבא יהיה קצר עולה מ-0.5 ל-0.7.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648200"/>
            <a:ext cx="10543032" cy="716279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4675632"/>
            <a:ext cx="9966960" cy="6614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1" i="0" dirty="0">
                <a:solidFill>
                  <a:srgbClr val="1F3A5F"/>
                </a:solidFill>
                <a:latin typeface="Calibri"/>
                <a:cs typeface="Calibri"/>
              </a:rPr>
              <a:t>אחרי מרווח ארוך  </a:t>
            </a:r>
            <a:r>
              <a:rPr lang="he-IL" sz="1400" b="0" i="0" dirty="0">
                <a:solidFill>
                  <a:srgbClr val="1A2433"/>
                </a:solidFill>
                <a:latin typeface="Calibri"/>
                <a:cs typeface="Calibri"/>
              </a:rPr>
              <a:t>ההסתברות שהמרווח הבא יהיה קצר יורדת ל-0.3.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501640"/>
            <a:ext cx="10543032" cy="716279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5529072"/>
            <a:ext cx="9966960" cy="6614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1" i="0" dirty="0">
                <a:solidFill>
                  <a:srgbClr val="1F3A5F"/>
                </a:solidFill>
                <a:latin typeface="Calibri"/>
                <a:cs typeface="Calibri"/>
              </a:rPr>
              <a:t>במילים של תורים  </a:t>
            </a:r>
            <a:r>
              <a:rPr lang="he-IL" sz="1400" b="0" i="0" dirty="0">
                <a:solidFill>
                  <a:srgbClr val="1A2433"/>
                </a:solidFill>
                <a:latin typeface="Calibri"/>
                <a:cs typeface="Calibri"/>
              </a:rPr>
              <a:t>הזמן הנוכחי בין הגעות נותן מידע על הזמן הבא.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6 · רשתות תורים ותלות  ·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‪Independence check‬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בדיקת אי-תלות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ex_ind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2390" y="1783080"/>
            <a:ext cx="7266914" cy="14630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3429000"/>
            <a:ext cx="10543032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3456432"/>
            <a:ext cx="996696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1" i="0">
                <a:solidFill>
                  <a:srgbClr val="1F3A5F"/>
                </a:solidFill>
                <a:latin typeface="Calibri"/>
                <a:cs typeface="Calibri"/>
              </a:rPr>
              <a:t>ההתפלגות המשותפת  </a:t>
            </a:r>
            <a:r>
              <a:rPr lang="he-IL" sz="1400" b="0" i="0">
                <a:solidFill>
                  <a:srgbClr val="1A2433"/>
                </a:solidFill>
                <a:latin typeface="Calibri"/>
                <a:cs typeface="Calibri"/>
              </a:rPr>
              <a:t>לא מתפרקת למכפלה של ההתפלגויות השוליות — המשתנים תלויים.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480560"/>
            <a:ext cx="10543032" cy="91440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4507992"/>
            <a:ext cx="996696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1" i="0">
                <a:solidFill>
                  <a:srgbClr val="1F3A5F"/>
                </a:solidFill>
                <a:latin typeface="Calibri"/>
                <a:cs typeface="Calibri"/>
              </a:rPr>
              <a:t>השיעור  </a:t>
            </a:r>
            <a:r>
              <a:rPr lang="he-IL" sz="1400" b="0" i="0">
                <a:solidFill>
                  <a:srgbClr val="1A2433"/>
                </a:solidFill>
                <a:latin typeface="Calibri"/>
                <a:cs typeface="Calibri"/>
              </a:rPr>
              <a:t>אותה התפלגות שולית לא מבטיחה אי-תלות.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6 · רשתות תורים ותלות  · 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‪Conditioning‬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התניה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o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991" y="1783080"/>
            <a:ext cx="8109712" cy="1188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3154680"/>
            <a:ext cx="10543032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3182112"/>
            <a:ext cx="996696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1" i="0">
                <a:solidFill>
                  <a:srgbClr val="1F3A5F"/>
                </a:solidFill>
                <a:latin typeface="Calibri"/>
                <a:cs typeface="Calibri"/>
              </a:rPr>
              <a:t>השאלה  </a:t>
            </a:r>
            <a:r>
              <a:rPr lang="he-IL" sz="1400" b="0" i="0">
                <a:solidFill>
                  <a:srgbClr val="1A2433"/>
                </a:solidFill>
                <a:latin typeface="Calibri"/>
                <a:cs typeface="Calibri"/>
              </a:rPr>
              <a:t>איך משתנה אחד מתנהג כשידוע לנו משהו על השני?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206240"/>
            <a:ext cx="10543032" cy="91440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4233672"/>
            <a:ext cx="996696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1" i="0">
                <a:solidFill>
                  <a:srgbClr val="1F3A5F"/>
                </a:solidFill>
                <a:latin typeface="Calibri"/>
                <a:cs typeface="Calibri"/>
              </a:rPr>
              <a:t>הרעיון  </a:t>
            </a:r>
            <a:r>
              <a:rPr lang="he-IL" sz="1400" b="0" i="0">
                <a:solidFill>
                  <a:srgbClr val="1A2433"/>
                </a:solidFill>
                <a:latin typeface="Calibri"/>
                <a:cs typeface="Calibri"/>
              </a:rPr>
              <a:t>מצמצמים את העולם למקרים שבהם ערך המשתנה הראשון ידוע — ובודקים שם את השני.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257800"/>
            <a:ext cx="10543032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5285232"/>
            <a:ext cx="996696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1" i="0">
                <a:solidFill>
                  <a:srgbClr val="1F3A5F"/>
                </a:solidFill>
                <a:latin typeface="Calibri"/>
                <a:cs typeface="Calibri"/>
              </a:rPr>
              <a:t>המסקנה  </a:t>
            </a:r>
            <a:r>
              <a:rPr lang="he-IL" sz="1400" b="0" i="0">
                <a:solidFill>
                  <a:srgbClr val="1A2433"/>
                </a:solidFill>
                <a:latin typeface="Calibri"/>
                <a:cs typeface="Calibri"/>
              </a:rPr>
              <a:t>אם ההתניה משנה את ההתפלגות — יש קשר בין המשתנים.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6 · רשתות תורים ותלות  ·  18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‪Independence‬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תלות ואי-תלות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nd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7202" y="1783080"/>
            <a:ext cx="4957290" cy="14630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3429000"/>
            <a:ext cx="10543032" cy="838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3456432"/>
            <a:ext cx="9966960" cy="783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1" i="0" dirty="0">
                <a:solidFill>
                  <a:srgbClr val="1F3A5F"/>
                </a:solidFill>
                <a:latin typeface="Calibri"/>
                <a:cs typeface="Calibri"/>
              </a:rPr>
              <a:t>אי-תלות  </a:t>
            </a:r>
            <a:r>
              <a:rPr lang="he-IL" sz="1400" b="0" i="0" dirty="0">
                <a:solidFill>
                  <a:srgbClr val="1A2433"/>
                </a:solidFill>
                <a:latin typeface="Calibri"/>
                <a:cs typeface="Calibri"/>
              </a:rPr>
              <a:t>הידיעה על משתנה אחד לא משנה את ההתפלגות של השני.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404360"/>
            <a:ext cx="10543032" cy="83820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4431792"/>
            <a:ext cx="9966960" cy="783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1" i="0" dirty="0">
                <a:solidFill>
                  <a:srgbClr val="1F3A5F"/>
                </a:solidFill>
                <a:latin typeface="Calibri"/>
                <a:cs typeface="Calibri"/>
              </a:rPr>
              <a:t>תלות  </a:t>
            </a:r>
            <a:r>
              <a:rPr lang="he-IL" sz="1400" b="0" i="0" dirty="0">
                <a:solidFill>
                  <a:srgbClr val="1A2433"/>
                </a:solidFill>
                <a:latin typeface="Calibri"/>
                <a:cs typeface="Calibri"/>
              </a:rPr>
              <a:t>אם ההתניה משנה את מה שאנחנו יודעים על השני — יש תלות.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379720"/>
            <a:ext cx="10543032" cy="838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5407152"/>
            <a:ext cx="9966960" cy="783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1" i="0">
                <a:solidFill>
                  <a:srgbClr val="1F3A5F"/>
                </a:solidFill>
                <a:latin typeface="Calibri"/>
                <a:cs typeface="Calibri"/>
              </a:rPr>
              <a:t>בתורים  </a:t>
            </a:r>
            <a:r>
              <a:rPr lang="he-IL" sz="1400" b="0" i="0">
                <a:solidFill>
                  <a:srgbClr val="1A2433"/>
                </a:solidFill>
                <a:latin typeface="Calibri"/>
                <a:cs typeface="Calibri"/>
              </a:rPr>
              <a:t>תלות אומרת שהמרווח הנוכחי בין הגעות נותן מידע על המרווח הבא.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6 · רשתות תורים ותלות  ·  19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7A3F9-B393-4365-38E6-FE7DDB028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B8A44F-B97F-29A0-0902-45EB8A30353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522279-EC65-A4C3-ED01-E6B1816D10B8}"/>
              </a:ext>
            </a:extLst>
          </p:cNvPr>
          <p:cNvSpPr txBox="1"/>
          <p:nvPr/>
        </p:nvSpPr>
        <p:spPr>
          <a:xfrm>
            <a:off x="457200" y="411480"/>
            <a:ext cx="11274552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b="1" dirty="0">
                <a:solidFill>
                  <a:srgbClr val="2E86AB"/>
                </a:solidFill>
                <a:latin typeface="Calibri"/>
              </a:rPr>
              <a:t>From Bi-random to Multi-random</a:t>
            </a:r>
            <a:endParaRPr sz="1400" b="1" i="0" dirty="0">
              <a:solidFill>
                <a:srgbClr val="2E86AB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9E3CB9-578B-AFC2-F148-AA03D216ADE2}"/>
              </a:ext>
            </a:extLst>
          </p:cNvPr>
          <p:cNvSpPr txBox="1"/>
          <p:nvPr/>
        </p:nvSpPr>
        <p:spPr>
          <a:xfrm>
            <a:off x="457200" y="749808"/>
            <a:ext cx="1127455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dirty="0">
                <a:solidFill>
                  <a:srgbClr val="1F3A5F"/>
                </a:solidFill>
                <a:latin typeface="Calibri"/>
                <a:cs typeface="Calibri"/>
              </a:rPr>
              <a:t>מעבר מדו-ממדי לרב ממדי</a:t>
            </a:r>
            <a:endParaRPr lang="he-IL" sz="2800" b="1" i="0" dirty="0">
              <a:solidFill>
                <a:srgbClr val="1F3A5F"/>
              </a:solidFill>
              <a:latin typeface="Calibri"/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5A95AD-3A74-369B-2596-734CD3D95C88}"/>
              </a:ext>
            </a:extLst>
          </p:cNvPr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C3537C0-8B3F-6F3D-D24A-B686C10616C0}"/>
              </a:ext>
            </a:extLst>
          </p:cNvPr>
          <p:cNvSpPr/>
          <p:nvPr/>
        </p:nvSpPr>
        <p:spPr>
          <a:xfrm>
            <a:off x="822960" y="2131060"/>
            <a:ext cx="10543032" cy="838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138057-C36C-19ED-9FE0-FE27C24E84CC}"/>
              </a:ext>
            </a:extLst>
          </p:cNvPr>
          <p:cNvSpPr txBox="1"/>
          <p:nvPr/>
        </p:nvSpPr>
        <p:spPr>
          <a:xfrm>
            <a:off x="1193800" y="2219300"/>
            <a:ext cx="9966960" cy="661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1" i="0" dirty="0">
                <a:solidFill>
                  <a:srgbClr val="1F3A5F"/>
                </a:solidFill>
                <a:latin typeface="Calibri"/>
                <a:cs typeface="Calibri"/>
              </a:rPr>
              <a:t>דו ממדי 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1" dirty="0">
                <a:solidFill>
                  <a:srgbClr val="1F3A5F"/>
                </a:solidFill>
                <a:latin typeface="Calibri"/>
                <a:cs typeface="Calibri"/>
              </a:rPr>
              <a:t>יש תלות רק בין הגעות עוקבות.</a:t>
            </a:r>
            <a:endParaRPr lang="he-IL" sz="1400" b="0" i="0" dirty="0">
              <a:solidFill>
                <a:srgbClr val="1A2433"/>
              </a:solidFill>
              <a:latin typeface="Calibri"/>
              <a:cs typeface="Calibri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6FE8737-86E8-0466-F0C5-E07E03A3CAFA}"/>
              </a:ext>
            </a:extLst>
          </p:cNvPr>
          <p:cNvSpPr/>
          <p:nvPr/>
        </p:nvSpPr>
        <p:spPr>
          <a:xfrm>
            <a:off x="822960" y="3309290"/>
            <a:ext cx="10543032" cy="83820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E1AA9F-F24B-C936-054F-4F3A8AAD5311}"/>
              </a:ext>
            </a:extLst>
          </p:cNvPr>
          <p:cNvSpPr txBox="1"/>
          <p:nvPr/>
        </p:nvSpPr>
        <p:spPr>
          <a:xfrm>
            <a:off x="1238250" y="3397530"/>
            <a:ext cx="9966960" cy="661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1" i="0" dirty="0">
                <a:solidFill>
                  <a:srgbClr val="1F3A5F"/>
                </a:solidFill>
                <a:latin typeface="Calibri"/>
                <a:cs typeface="Calibri"/>
              </a:rPr>
              <a:t>רב ממדי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1" dirty="0">
                <a:solidFill>
                  <a:srgbClr val="1F3A5F"/>
                </a:solidFill>
                <a:latin typeface="Calibri"/>
                <a:cs typeface="Calibri"/>
              </a:rPr>
              <a:t>יש תלות בין </a:t>
            </a:r>
            <a:r>
              <a:rPr lang="en-US" sz="1600" b="1" dirty="0">
                <a:solidFill>
                  <a:srgbClr val="1F3A5F"/>
                </a:solidFill>
                <a:latin typeface="Calibri"/>
                <a:cs typeface="Calibri"/>
              </a:rPr>
              <a:t>k</a:t>
            </a:r>
            <a:r>
              <a:rPr lang="he-IL" sz="1600" b="1" dirty="0">
                <a:solidFill>
                  <a:srgbClr val="1F3A5F"/>
                </a:solidFill>
                <a:latin typeface="Calibri"/>
                <a:cs typeface="Calibri"/>
              </a:rPr>
              <a:t> הגעות עוקבות</a:t>
            </a:r>
            <a:endParaRPr lang="he-IL" sz="1400" b="0" i="0" dirty="0">
              <a:solidFill>
                <a:srgbClr val="1A2433"/>
              </a:solidFill>
              <a:latin typeface="Calibri"/>
              <a:cs typeface="Calibri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4BBFE16-7891-F9CC-76A5-7399D1F91DB5}"/>
              </a:ext>
            </a:extLst>
          </p:cNvPr>
          <p:cNvSpPr/>
          <p:nvPr/>
        </p:nvSpPr>
        <p:spPr>
          <a:xfrm>
            <a:off x="854964" y="4541520"/>
            <a:ext cx="10543032" cy="838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2C6FBD-DEA8-A547-2D58-147B197196D7}"/>
              </a:ext>
            </a:extLst>
          </p:cNvPr>
          <p:cNvSpPr txBox="1"/>
          <p:nvPr/>
        </p:nvSpPr>
        <p:spPr>
          <a:xfrm>
            <a:off x="1289050" y="4560698"/>
            <a:ext cx="9966960" cy="661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1" i="0" dirty="0">
                <a:solidFill>
                  <a:srgbClr val="1F3A5F"/>
                </a:solidFill>
                <a:latin typeface="Calibri"/>
                <a:cs typeface="Calibri"/>
              </a:rPr>
              <a:t>בתורים  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1" dirty="0">
                <a:solidFill>
                  <a:srgbClr val="1F3A5F"/>
                </a:solidFill>
                <a:latin typeface="Calibri"/>
                <a:cs typeface="Calibri"/>
              </a:rPr>
              <a:t>בד"כ יש תלות יותר מ-2 הגעות עוקבות.</a:t>
            </a:r>
            <a:endParaRPr lang="he-IL" sz="1400" b="0" i="0" dirty="0">
              <a:solidFill>
                <a:srgbClr val="1A2433"/>
              </a:solidFill>
              <a:latin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012880-DE9B-103A-6A7F-B43E2CDD2185}"/>
              </a:ext>
            </a:extLst>
          </p:cNvPr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6 · רשתות תורים ותלות  ·  19</a:t>
            </a:r>
          </a:p>
        </p:txBody>
      </p:sp>
    </p:spTree>
    <p:extLst>
      <p:ext uri="{BB962C8B-B14F-4D97-AF65-F5344CB8AC3E}">
        <p14:creationId xmlns:p14="http://schemas.microsoft.com/office/powerpoint/2010/main" val="29682354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201168" cy="21031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E07A2F"/>
                </a:solidFill>
                <a:latin typeface="Calibri"/>
              </a:rPr>
              <a:t>‪Autocorrelation‬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3400" b="1" i="0">
                <a:solidFill>
                  <a:srgbClr val="FFFFFF"/>
                </a:solidFill>
                <a:latin typeface="Calibri"/>
                <a:cs typeface="Calibri"/>
              </a:rPr>
              <a:t>אוטוקורלציה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C7D3DE"/>
                </a:solidFill>
                <a:latin typeface="Calibri"/>
                <a:cs typeface="Calibri"/>
              </a:rPr>
              <a:t>שיעור 6 · רשתות תורים ותלות  ·  26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‪Autocorrelation at lag k‬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אוטוקורלציה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a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778" y="1783080"/>
            <a:ext cx="3192137" cy="1737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3703320"/>
            <a:ext cx="10543032" cy="7467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3730752"/>
            <a:ext cx="9966960" cy="691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1" i="0" dirty="0">
                <a:solidFill>
                  <a:srgbClr val="1F3A5F"/>
                </a:solidFill>
                <a:latin typeface="Calibri"/>
                <a:cs typeface="Calibri"/>
              </a:rPr>
              <a:t>המטרה  </a:t>
            </a:r>
            <a:r>
              <a:rPr lang="he-IL" sz="1400" b="0" i="0" dirty="0">
                <a:solidFill>
                  <a:srgbClr val="1A2433"/>
                </a:solidFill>
                <a:latin typeface="Calibri"/>
                <a:cs typeface="Calibri"/>
              </a:rPr>
              <a:t>לתאר תלות בין ערכים עוקבים באותו תהליך — למשל זמני בין-הגעה.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587240"/>
            <a:ext cx="10543032" cy="74676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4791343"/>
            <a:ext cx="996696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600" b="1" dirty="0">
                <a:solidFill>
                  <a:srgbClr val="1F3A5F"/>
                </a:solidFill>
                <a:latin typeface="Calibri"/>
                <a:cs typeface="Calibri"/>
              </a:rPr>
              <a:t>Lag k</a:t>
            </a:r>
            <a:r>
              <a:rPr lang="he-IL" sz="1600" b="1" i="0" dirty="0">
                <a:solidFill>
                  <a:srgbClr val="1F3A5F"/>
                </a:solidFill>
                <a:latin typeface="Calibri"/>
                <a:cs typeface="Calibri"/>
              </a:rPr>
              <a:t>  </a:t>
            </a:r>
            <a:r>
              <a:rPr lang="he-IL" sz="1400" b="0" i="0" dirty="0">
                <a:solidFill>
                  <a:srgbClr val="1A2433"/>
                </a:solidFill>
                <a:latin typeface="Calibri"/>
                <a:cs typeface="Calibri"/>
              </a:rPr>
              <a:t>המדד בודק עד כמה ערך קשור לערך שמופיע </a:t>
            </a:r>
            <a:r>
              <a:rPr lang="en-US" sz="1400" b="0" i="0" dirty="0">
                <a:solidFill>
                  <a:srgbClr val="1A2433"/>
                </a:solidFill>
                <a:latin typeface="Calibri"/>
                <a:cs typeface="Calibri"/>
              </a:rPr>
              <a:t>k</a:t>
            </a:r>
            <a:r>
              <a:rPr lang="he-IL" sz="1400" b="0" i="0" dirty="0">
                <a:solidFill>
                  <a:srgbClr val="1A2433"/>
                </a:solidFill>
                <a:latin typeface="Calibri"/>
                <a:cs typeface="Calibri"/>
              </a:rPr>
              <a:t> צעדים אחריו.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471160"/>
            <a:ext cx="10543032" cy="7467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5498592"/>
            <a:ext cx="9966960" cy="691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1" i="0" dirty="0">
                <a:solidFill>
                  <a:srgbClr val="1F3A5F"/>
                </a:solidFill>
                <a:latin typeface="Calibri"/>
                <a:cs typeface="Calibri"/>
              </a:rPr>
              <a:t>תנאי  </a:t>
            </a:r>
            <a:r>
              <a:rPr lang="he-IL" sz="1400" b="0" i="0" dirty="0">
                <a:solidFill>
                  <a:srgbClr val="1A2433"/>
                </a:solidFill>
                <a:latin typeface="Calibri"/>
                <a:cs typeface="Calibri"/>
              </a:rPr>
              <a:t>התהליך סטציונרי — הממוצע והשונות לא משתנים עם הזמן.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6 · רשתות תורים ותלות  ·  27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‪Sample autocorrelation‬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אומדן אוטוקורלציה מתוך נתונים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acf_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3965" y="1783080"/>
            <a:ext cx="4483765" cy="2011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3977640"/>
            <a:ext cx="10543032" cy="655319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4005072"/>
            <a:ext cx="9966960" cy="6004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1" i="0">
                <a:solidFill>
                  <a:srgbClr val="1F3A5F"/>
                </a:solidFill>
                <a:latin typeface="Calibri"/>
                <a:cs typeface="Calibri"/>
              </a:rPr>
              <a:t>קרוב ל-0  </a:t>
            </a:r>
            <a:r>
              <a:rPr lang="he-IL" sz="1400" b="0" i="0">
                <a:solidFill>
                  <a:srgbClr val="1A2433"/>
                </a:solidFill>
                <a:latin typeface="Calibri"/>
                <a:cs typeface="Calibri"/>
              </a:rPr>
              <a:t>אין עדות חזקה לתלות ליניארית בפיגור הזה.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770120"/>
            <a:ext cx="10543032" cy="655319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4797552"/>
            <a:ext cx="9966960" cy="6004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1" i="0" dirty="0">
                <a:solidFill>
                  <a:srgbClr val="1F3A5F"/>
                </a:solidFill>
                <a:latin typeface="Calibri"/>
                <a:cs typeface="Calibri"/>
              </a:rPr>
              <a:t>חיובי  </a:t>
            </a:r>
            <a:r>
              <a:rPr lang="he-IL" sz="1400" b="0" i="0" dirty="0">
                <a:solidFill>
                  <a:srgbClr val="1A2433"/>
                </a:solidFill>
                <a:latin typeface="Calibri"/>
                <a:cs typeface="Calibri"/>
              </a:rPr>
              <a:t>ערכים גדולים נוטים לבוא אחרי גדולים, וקטנים אחרי קטנים.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562600"/>
            <a:ext cx="10543032" cy="655319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5590032"/>
            <a:ext cx="9966960" cy="6004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1" i="0" dirty="0">
                <a:solidFill>
                  <a:srgbClr val="1F3A5F"/>
                </a:solidFill>
                <a:latin typeface="Calibri"/>
                <a:cs typeface="Calibri"/>
              </a:rPr>
              <a:t>שלילי  </a:t>
            </a:r>
            <a:r>
              <a:rPr lang="he-IL" sz="1400" b="0" i="0" dirty="0">
                <a:solidFill>
                  <a:srgbClr val="1A2433"/>
                </a:solidFill>
                <a:latin typeface="Calibri"/>
                <a:cs typeface="Calibri"/>
              </a:rPr>
              <a:t>ערכים גדולים נוטים לבוא אחרי קטנים, ולהפך.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6 · רשתות תורים ותלות  ·  28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‪Intuition‬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אינטואיציה בתורים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5486400" cy="4114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874519"/>
            <a:ext cx="5486400" cy="54864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920239"/>
            <a:ext cx="5120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>
                <a:solidFill>
                  <a:srgbClr val="FFFFFF"/>
                </a:solidFill>
                <a:latin typeface="Calibri"/>
                <a:cs typeface="Calibri"/>
              </a:rPr>
              <a:t>אוטוקורלציה שלילית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493776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lang="he-IL" sz="1600" b="0" i="0">
                <a:solidFill>
                  <a:srgbClr val="1A2433"/>
                </a:solidFill>
                <a:latin typeface="Calibri"/>
                <a:cs typeface="Calibri"/>
              </a:rPr>
              <a:t>•  נטייה לפיצוי</a:t>
            </a:r>
          </a:p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lang="he-IL" sz="1600" b="0" i="0">
                <a:solidFill>
                  <a:srgbClr val="1A2433"/>
                </a:solidFill>
                <a:latin typeface="Calibri"/>
                <a:cs typeface="Calibri"/>
              </a:rPr>
              <a:t>•  אחרי מרווח קצר — יבוא מרווח ארוך יותר</a:t>
            </a:r>
          </a:p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lang="he-IL" sz="1600" b="0" i="0">
                <a:solidFill>
                  <a:srgbClr val="1A2433"/>
                </a:solidFill>
                <a:latin typeface="Calibri"/>
                <a:cs typeface="Calibri"/>
              </a:rPr>
              <a:t>•  עומס חלק יותר, באותה התפלגות שולית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874519"/>
            <a:ext cx="5486400" cy="4114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45352" y="1874519"/>
            <a:ext cx="5486400" cy="54864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2" y="1920239"/>
            <a:ext cx="5120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>
                <a:solidFill>
                  <a:srgbClr val="FFFFFF"/>
                </a:solidFill>
                <a:latin typeface="Calibri"/>
                <a:cs typeface="Calibri"/>
              </a:rPr>
              <a:t>אוטוקורלציה חיובית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560320"/>
            <a:ext cx="493776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lang="he-IL" sz="1600" b="0" i="0">
                <a:solidFill>
                  <a:srgbClr val="1A2433"/>
                </a:solidFill>
                <a:latin typeface="Calibri"/>
                <a:cs typeface="Calibri"/>
              </a:rPr>
              <a:t>•  ההגעות מגיעות באשכולות</a:t>
            </a:r>
          </a:p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lang="he-IL" sz="1600" b="0" i="0">
                <a:solidFill>
                  <a:srgbClr val="1A2433"/>
                </a:solidFill>
                <a:latin typeface="Calibri"/>
                <a:cs typeface="Calibri"/>
              </a:rPr>
              <a:t>•  מרווח קצר — סביר שגם הבא יהיה קצר</a:t>
            </a:r>
          </a:p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lang="he-IL" sz="1600" b="0" i="0">
                <a:solidFill>
                  <a:srgbClr val="1A2433"/>
                </a:solidFill>
                <a:latin typeface="Calibri"/>
                <a:cs typeface="Calibri"/>
              </a:rPr>
              <a:t>•  עומס, המתנות ארוכות, ויותר נטישות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6 · רשתות תורים ותלות  ·  29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‪Bottom line‬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השורה התחתונה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97280" y="2194560"/>
            <a:ext cx="9994392" cy="3108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091672" y="2194560"/>
            <a:ext cx="0" cy="3108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2377440"/>
            <a:ext cx="9445752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600" b="1" i="0">
                <a:solidFill>
                  <a:srgbClr val="2E86AB"/>
                </a:solidFill>
                <a:latin typeface="Calibri"/>
                <a:cs typeface="Calibri"/>
              </a:rPr>
              <a:t>ברשת תורים בודקים לא רק התפלגות —</a:t>
            </a:r>
          </a:p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600" b="1" i="0">
                <a:solidFill>
                  <a:srgbClr val="2E86AB"/>
                </a:solidFill>
                <a:latin typeface="Calibri"/>
                <a:cs typeface="Calibri"/>
              </a:rPr>
              <a:t>אלא גם תלות בזמן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440680"/>
            <a:ext cx="94457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0" i="0">
                <a:solidFill>
                  <a:srgbClr val="5A6B7B"/>
                </a:solidFill>
                <a:latin typeface="Calibri"/>
                <a:cs typeface="Calibri"/>
              </a:rPr>
              <a:t>במיוחד כשתהליך העזיבה מתחנה אחת מזין את התחנה הבאה.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6 · רשתות תורים ותלות  ·  30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‪Takeaways‬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מה לוקחים מהשיעור?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שלושה מבנים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שרשרת, התקדמות קדימה עם פיצולים ומיזוגים, ומשוב.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57830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812694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עזיבה הופכת להגעה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תהליך העזיבה מתחנה אחת הוא תהליך ההגעה לתחנה הבאה.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41140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696004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התפלגות לא מספיקה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אותה התפלגות שולית יכולה להסתיר תלות.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524451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4579315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אוטוקורלציה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המדד לתלות בין ערכים עוקבים באותו תהליך.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407761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5462625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הצעד הבא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להוסיף למבנים זמני הגעה ושירות, הסתברויות ניתוב, וסימולציה דינמית.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6 · רשתות תורים ותלות  ·  31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1600</Words>
  <Application>Microsoft Office PowerPoint</Application>
  <PresentationFormat>Widescreen</PresentationFormat>
  <Paragraphs>242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אלירן שרצר/Eliran Sherzer</cp:lastModifiedBy>
  <cp:revision>5</cp:revision>
  <dcterms:created xsi:type="dcterms:W3CDTF">2013-01-27T09:14:16Z</dcterms:created>
  <dcterms:modified xsi:type="dcterms:W3CDTF">2026-10-11T07:42:09Z</dcterms:modified>
  <cp:category/>
</cp:coreProperties>
</file>