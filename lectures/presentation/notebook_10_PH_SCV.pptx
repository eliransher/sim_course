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E07A2F"/>
                </a:solidFill>
                <a:latin typeface="Calibri"/>
                <a:cs typeface="Calibri"/>
              </a:rPr>
              <a:t>שיעור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 lang="he-IL">
                <a:solidFill>
                  <a:srgbClr val="FFFFFF"/>
                </a:solidFill>
                <a:latin typeface="Calibri"/>
                <a:cs typeface="Calibri"/>
              </a:rPr>
              <a:t>שונות, התפלגויות פאזה ומקדם השונות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 lang="he-IL">
                <a:solidFill>
                  <a:srgbClr val="C7D8E6"/>
                </a:solidFill>
                <a:latin typeface="Calibri"/>
                <a:cs typeface="Calibri"/>
              </a:rPr>
              <a:t>למה נוצרים תורים — ואיך מודדים את השונות שגורמת להם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10 · Variability‬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מאיפה באים תורים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גם כשהשרת פנוי חלק מהזמן.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התפלגויות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מעריכית, ארלנג, היפר־מעריכית — ומשפחה כללית שמכילה את כולן.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‪SCV‬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מדד לשונות שלא תלוי בסקאלה.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ההשפעה על התור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אותו עומס, אותה תוחלת שירות — ותורים שונים לגמרי.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‪Why do queues form?‬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למה בכלל יש תורים?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lang="he-IL">
                <a:solidFill>
                  <a:srgbClr val="2E86AB"/>
                </a:solidFill>
                <a:latin typeface="Calibri"/>
                <a:cs typeface="Calibri"/>
              </a:rPr>
              <a:t>השרת עובד רק 70% מהזמן —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 lang="he-IL">
                <a:solidFill>
                  <a:srgbClr val="2E86AB"/>
                </a:solidFill>
                <a:latin typeface="Calibri"/>
                <a:cs typeface="Calibri"/>
              </a:rPr>
              <a:t>ובכל זאת נוצר תור.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 lang="he-IL">
                <a:solidFill>
                  <a:srgbClr val="5A6B7B"/>
                </a:solidFill>
                <a:latin typeface="Calibri"/>
                <a:cs typeface="Calibri"/>
              </a:rPr>
              <a:t>במערכת יציבה קצב השירות גדול מקצב ההגעה. אז למה מחכים?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‪Thought experiment‬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ניסוי מחשבתי בלונה פארק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יום ראשון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הפארק פתוח, כל מבקר רושם בדיוק מתי עלה על כל מתקן. יש תורים, כמו תמיד.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יום שני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רק אותם מבקרים מגיעים, ועולים על אותם מתקנים באותן שעות בדיוק.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החוק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כל אחד מגיע למתקן שנייה לפני תורו.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התוצאה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אין תורים בכלל — אותו עומס בדיוק, אבל בלי אי־ודאות.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‪Variability causes queues‬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מתי יהיו תורים ארוכים?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כשיש שונות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בזמנים בין הגעות, או בזמני השירות.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דוגמה: קופת הופעה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חלק מהלקוחות רק אוספים כרטיס — 20 שניות. אחרים קונים ובוחרים מקום — 10 דקות.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שלושה לפניך בתור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אם כולם קונים עכשיו — תחכה חצי שעה, רק כדי לאסוף כרטיס.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והפרדוקס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התור ארוך, למרות שבהרבה רגעים אחרים השרת פנוי לגמרי.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‪Distributions &amp; variability‬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התפלגויות ושונות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10 · שונות ותורים  ·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‪Same mean, different variability‬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שלוש התפלגויות עם אותה תוחלת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ree_dens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575" y="1828800"/>
            <a:ext cx="7506543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לשלושתן תוחלת 1. ההיפר־מעריכית נראית צרה ליד אפס — אבל יש לה זנב ארוך מאוד שלא נכנס לגרף.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‪Erlang  ·  X = Y₁ + … + Yₙ ,   Yᵢ ~ Exp(μ)‬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התפלגות ארלנג: סכום של מעריכיות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s_erl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436" y="1783080"/>
            <a:ext cx="8900822" cy="1280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246120"/>
            <a:ext cx="10543032" cy="899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73551"/>
            <a:ext cx="9966960" cy="844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שלבים בטור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עוברים את כל השלבים אחד אחרי השני. כל שלב נמשך זמן מעריכי.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82440"/>
            <a:ext cx="10543032" cy="89916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09872"/>
            <a:ext cx="9966960" cy="844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התוחלת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מספר השלבים חלקי הקצב של כל שלב.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18760"/>
            <a:ext cx="10543032" cy="899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346192"/>
            <a:ext cx="9966960" cy="844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השונות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קטנה יחסית — הזמנים הקצרים והארוכים של השלבים מאזנים זה את זה.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‪Hyper-exponential  ·  with probability pᵢ :   X ~ Exp(μᵢ)‬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התפלגות היפר־מעריכית: עירוב של מעריכיות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s_hy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268" y="1783080"/>
            <a:ext cx="3801157" cy="1828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79476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2219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שלבים במקביל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בהתחלה מגרילים ענף אחד. אחר כך עוברים רק את השלב שלו.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4820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67563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ענף מהיר וענף איטי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רוב הלקוחות קצרים, ומעטים ארוכים מאוד.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01640"/>
            <a:ext cx="10543032" cy="71627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529072"/>
            <a:ext cx="9966960" cy="661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השונות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יכולה להיות גדולה מאוד — זה בדיוק המקרה של קופת ההופעה.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‪Phase-type (PH) distributions‬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התפלגויות פאזה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הרעיון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רשת של שלבים, שבכל אחד מהם שוהים זמן מעריכי.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ההתחלה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וקטור הסתברויות קובע באיזה שלב מתחילים.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המעברים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מטריצה קובעת את קצבי המעבר בין השלבים ואת קצב הסיום.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מקרים פרטיים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מעריכית, ארלנג והיפר־מעריכית הן כולן התפלגויות פאזה.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כוחה של המשפחה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אפשר לקרב בעזרתה כמעט כל התפלגות רציפה וחיובית.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‪PH density and moments‬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ההגדרה המתמטית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00" y="1783080"/>
            <a:ext cx="10180895" cy="1645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6118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639312"/>
            <a:ext cx="996696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הצפיפות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מחושבת ישירות מהווקטור ומהמטריצה.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262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553712"/>
            <a:ext cx="996696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המומנטים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התוחלת של המשתנה בחזקה מסוימת — ולכל אחד מהם יש נוסחה סגורה.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10543032" cy="7772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468112"/>
            <a:ext cx="996696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השונות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המומנט השני פחות ריבוע המומנט הראשון.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‪Notation‬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אומר כל סימון?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5352" y="187451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m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248" y="2108835"/>
            <a:ext cx="379903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2512" y="1911095"/>
            <a:ext cx="4557856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וקטור ההתחלה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ההסתברות להתחיל בכל אחד מהשלבים.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98322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ym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720" y="3217545"/>
            <a:ext cx="365431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2512" y="3019806"/>
            <a:ext cx="4572328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מטריצת הקצבים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קצבי המעבר בין השלבים. על האלכסון — מינוס קצב היציאה מהשלב.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09193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m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811" y="4326254"/>
            <a:ext cx="34734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2512" y="4128515"/>
            <a:ext cx="4590419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גודל ההתפלגות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מספר השלבים: הווקטור באורך זה, והמטריצה ריבועית בגודל זה.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5200650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ym_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9614" y="5434965"/>
            <a:ext cx="1823537" cy="5029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82512" y="5237226"/>
            <a:ext cx="3114222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וקטור הסיום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הקצב שבו מכל שלב מסיימים לגמרי.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87451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ym_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2332" y="2108835"/>
            <a:ext cx="372667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1911095"/>
            <a:ext cx="4565092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וקטור אחדות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וקטור עמודה שכל איבריו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8322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ym_mo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1208" y="3217545"/>
            <a:ext cx="943791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3019806"/>
            <a:ext cx="3993968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המומנטים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התוחלת של המשתנה בחזקה. הראשון הוא התוחלת עצמה.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91939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ym_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3431" y="4326254"/>
            <a:ext cx="951568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4360" y="4128515"/>
            <a:ext cx="3986191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השונות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המומנט השני פחות ריבוע התוחלת.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00650"/>
            <a:ext cx="5486400" cy="97155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ym_sc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9813" y="5434965"/>
            <a:ext cx="955186" cy="502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4360" y="5237226"/>
            <a:ext cx="3982573" cy="8983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מקדם השונות בריבוע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השונות חלקי ריבוע התוחלת — נגיע אליו בהמשך.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‪PH can take many shapes‬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התפלגויות פאזה אקראיות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ndom_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311" y="1828800"/>
            <a:ext cx="7397072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חמש התפלגויות שהוגרלו באקראי — עם שיא אחד, כמה שיאים, או זנב ארוך. כולן מאותה משפחה.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‪Squared coefficient of variation‬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מקדם השונות: שונות מנורמלת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10 · שונות ותורים  ·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‪Which is more variable?‬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למי יש שונות גדולה יותר?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riance_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451" y="1828800"/>
            <a:ext cx="8990791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5778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6052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ההיפר־מעריכית נראית רחבה ולא צפויה — אבל השונות של הארלנג גדולה יותר: 5 מול 2.91.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‪Variance depends on scale‬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השונות תלויה בסקאלה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ההסבר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התוחלת של הארלנג כאן היא 5 — פי חמישה מזו של ההיפר־מעריכית.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דוגמה קיצונית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משכורת ממוצעת של מיליון שקל, עם סטייה של 10 שקלים בלבד.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המספרים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השונות היא 100 — גדולה מכל הדוגמאות שלנו. אבל המשכורת כמעט קבועה.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המסקנה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כדי להשוות שונות בין התפלגויות — צריך לנרמל לפי גודל התוחלת.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‪Squared coefficient of variation‬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מקדם השונות בריבוע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999" y="1783080"/>
            <a:ext cx="3171696" cy="1188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154680"/>
            <a:ext cx="10543032" cy="6629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82112"/>
            <a:ext cx="9966960" cy="608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בלי יחידות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אם מכפילים את כל הזמנים בקבוע — המדד לא משתנה.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54780"/>
            <a:ext cx="10543032" cy="66293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982212"/>
            <a:ext cx="9966960" cy="608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נקודת ייחוס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להתפלגות המעריכית תמיד 1, ללא תלות בקצב.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54880"/>
            <a:ext cx="10543032" cy="6629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782312"/>
            <a:ext cx="9966960" cy="608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מתחת ל־1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פחות שונות ממעריכית — למשל ארלנג.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554979"/>
            <a:ext cx="10543032" cy="66293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582412"/>
            <a:ext cx="9966960" cy="6080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מעל 1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יותר שונות ממעריכית — למשל היפר־מעריכית.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‪SCV of our examples‬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מקדם השונות בדוגמאות שלנו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75207" y="2103120"/>
          <a:ext cx="10241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</a:tblGrid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‪Distribution‬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‪E[X]‬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‪V[X]‬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‪SCV‬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‪Exponential‬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‪Erlang (5 phases)‬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‪Hyper-exponential‬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2.91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2.64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07492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השונות של הארלנג הייתה הגדולה ביותר — אבל לפי מקדם השונות היא הפחות משתנה, וההיפר־מעריכית הכי משתנה.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E07A2F"/>
                </a:solidFill>
                <a:latin typeface="Calibri"/>
              </a:rPr>
              <a:t>‪SCV and waiting‬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lang="he-IL">
                <a:solidFill>
                  <a:srgbClr val="FFFFFF"/>
                </a:solidFill>
                <a:latin typeface="Calibri"/>
                <a:cs typeface="Calibri"/>
              </a:rPr>
              <a:t>איך מקדם השונות משפיע על התור?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C7D3DE"/>
                </a:solidFill>
                <a:latin typeface="Calibri"/>
                <a:cs typeface="Calibri"/>
              </a:rPr>
              <a:t>שיעור 10 · שונות ותורים  ·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‪M/G/1 · same load, same mean service‬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הניסוי: שתי מערכות, הבדל אחד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95247" y="2103120"/>
          <a:ext cx="9601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‪Erlang service‬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‪Hyper-exp. service‬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‪Arrivals‬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‪Poisson, λ = 0.7‬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‪Poisson, λ = 0.7‬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‪E[S]‬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‪ρ‬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‪Service‬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‪5 phases, rate 5‬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‪2 branches, rates 0.1 / 1.9‬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‪SCV of service‬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9.53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80644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52159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אותו קצב הגעה, אותה תוחלת שירות ואותו עומס. ההבדל היחיד — השונות של זמן השירות.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‪Queue-length distribution‬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התפלגות מספר הלקוחות במערכת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ueue_p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50" y="1828800"/>
            <a:ext cx="8640593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" y="5806440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3387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 lang="he-IL">
                <a:solidFill>
                  <a:srgbClr val="1F3A5F"/>
                </a:solidFill>
                <a:latin typeface="Calibri"/>
                <a:cs typeface="Calibri"/>
              </a:rPr>
              <a:t>בשתיהן המערכת ריקה 30% מהזמן — זה העומס. אבל עם שירות היפר־מעריכי, 22% מהזמן יש 16 לקוחות ומעלה.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‪Simulation · 2,000,000 customers each‬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התוצאות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69567" y="2103120"/>
          <a:ext cx="90525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19"/>
                <a:gridCol w="3017519"/>
                <a:gridCol w="3017521"/>
              </a:tblGrid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‪Erlang (SCV 0.2)‬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‪Hyper-exp. (SCV 9.5)‬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‪Mean wait in queue‬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12.38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‪Mean time in system‬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2.40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13.38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‪Mean number in system‬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9.36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‪P(empty)‬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1" i="0">
                          <a:solidFill>
                            <a:srgbClr val="1F3A5F"/>
                          </a:solidFill>
                          <a:latin typeface="Calibri"/>
                        </a:rPr>
                        <a:t>‪P(N ≥ 16)‬</a:t>
                      </a:r>
                    </a:p>
                  </a:txBody>
                  <a:tcPr anchor="ctr">
                    <a:solidFill>
                      <a:srgbClr val="E7EEF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0.0002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sz="2000" b="0" i="0">
                          <a:solidFill>
                            <a:srgbClr val="1A2433"/>
                          </a:solidFill>
                          <a:latin typeface="Calibri"/>
                        </a:rPr>
                        <a:t>0.216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97280" y="5806440"/>
            <a:ext cx="9994392" cy="64008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52159"/>
            <a:ext cx="944575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F3A5F"/>
                </a:solidFill>
                <a:latin typeface="Calibri"/>
                <a:cs typeface="Calibri"/>
              </a:rPr>
              <a:t>אותו עומס בדיוק — ופי 9 זמן המתנה. מספר הלקוחות הממוצע במערכת גדול פי 5.6.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‪M/G/1 · Pollaczek–Khinchine‬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הנוסחה מאשרת את הסימולציה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526" y="1783080"/>
            <a:ext cx="7952642" cy="1371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337560"/>
            <a:ext cx="10543032" cy="6172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364992"/>
            <a:ext cx="9966960" cy="562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Pollaczek–Khinchine</a:t>
            </a:r>
            <a:br/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נוסחה סגורה לתור עם הגעות פואסון ושירות כללי.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91940"/>
            <a:ext cx="10543032" cy="61721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119372"/>
            <a:ext cx="9966960" cy="562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עבור ארלנג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הגורם השני הוא 0.6, ולכן זמן ההמתנה בתור הוא 1.40.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46320"/>
            <a:ext cx="10543032" cy="61721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873752"/>
            <a:ext cx="9966960" cy="562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עבור היפר־מעריכית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הגורם השני הוא 5.26, ולכן זמן ההמתנה בתור הוא 12.28.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00700"/>
            <a:ext cx="10543032" cy="617219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628132"/>
            <a:ext cx="9966960" cy="5623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lang="he-IL">
                <a:solidFill>
                  <a:srgbClr val="1F3A5F"/>
                </a:solidFill>
                <a:latin typeface="Calibri"/>
                <a:cs typeface="Calibri"/>
              </a:rPr>
              <a:t>המשמעות  </a:t>
            </a:r>
            <a:r>
              <a:rPr sz="1400" b="0" i="0" lang="he-IL">
                <a:solidFill>
                  <a:srgbClr val="1A2433"/>
                </a:solidFill>
                <a:latin typeface="Calibri"/>
                <a:cs typeface="Calibri"/>
              </a:rPr>
              <a:t>זמן ההמתנה גדל באופן ליניארי עם מקדם השונות של זמן השירות.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‪Why variability hurts‬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למה השונות כל כך מזיקה?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שירות ארוך ונדיר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5% מהלקוחות צורכים בממוצע 10 יחידות זמן של שירות.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בזמן הזה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מגיעים בממוצע 7 לקוחות חדשים — וכולם מחכים.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והשרת לא מפצה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אחר כך הוא פנוי שוב, אבל הזמן שהלקוחות חיכו כבר לא חוזר.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בדיוק כמו בקופה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מעט קונים איטיים גורמים לכל מי שרק אוסף כרטיס לחכות.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 lang="he-IL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מקור התורים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אי־ודאות בזמני ההגעה ובזמני השירות — לא רק העומס.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‪PH‬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משפחה גמישה שבנויה משלבים מעריכיים, ומקרבת כמעט כל התפלגות.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‪SCV‬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השונות חלקי ריבוע התוחלת — מדד לשונות שלא תלוי בסקאלה.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ההשפעה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אותו עומס ואותה תוחלת — ומקדם שונות גבוה יותר נותן תורים ארוכים בהרבה.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lang="he-IL">
                <a:solidFill>
                  <a:srgbClr val="1F3A5F"/>
                </a:solidFill>
                <a:latin typeface="Calibri"/>
                <a:cs typeface="Calibri"/>
              </a:rPr>
              <a:t>לסימולציה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lang="he-IL">
                <a:solidFill>
                  <a:srgbClr val="1A2433"/>
                </a:solidFill>
                <a:latin typeface="Calibri"/>
                <a:cs typeface="Calibri"/>
              </a:rPr>
              <a:t>לא מספיק לבחור תוחלת נכונה לקלט. צריך לבחור גם את השונות.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lang="he-IL">
                <a:solidFill>
                  <a:srgbClr val="5A6B7B"/>
                </a:solidFill>
                <a:latin typeface="Calibri"/>
                <a:cs typeface="Calibri"/>
              </a:rPr>
              <a:t>שיעור 10 · שונות ותורים  ·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