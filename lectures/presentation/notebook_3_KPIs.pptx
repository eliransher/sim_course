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0" d="100"/>
          <a:sy n="150" d="100"/>
        </p:scale>
        <p:origin x="2886" y="1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82296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005840"/>
            <a:ext cx="1036015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9FC0D8"/>
                </a:solidFill>
                <a:latin typeface="Calibri"/>
              </a:rPr>
              <a:t>סימולציה של אירועים בדידים לניתוח מערכות תורים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36015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E07A2F"/>
                </a:solidFill>
                <a:latin typeface="Calibri"/>
              </a:rPr>
              <a:t>שיעור ‪3‬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63240"/>
            <a:ext cx="1036015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מדדי ביצוע, אומדים ואורך סימולציה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26280"/>
            <a:ext cx="10360152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C7D8E6"/>
                </a:solidFill>
                <a:latin typeface="Calibri"/>
              </a:rPr>
              <a:t>מ-KPI</a:t>
            </a:r>
            <a:br/>
            <a:r>
              <a:rPr sz="2000" b="0" i="0">
                <a:solidFill>
                  <a:srgbClr val="C7D8E6"/>
                </a:solidFill>
                <a:latin typeface="Calibri"/>
              </a:rPr>
              <a:t>ופונקציית עלות, דרך תורת האומדים, ועד קביעת אורך ריצה אמין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7455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86AB"/>
                </a:solidFill>
                <a:latin typeface="Calibri"/>
              </a:rPr>
              <a:t>‪Lesson 3 · KPIs &amp; estimation‬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7455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מה נעשה היום?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72768"/>
            <a:ext cx="11274552" cy="25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11274552" cy="718718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888272"/>
            <a:ext cx="10515600" cy="6912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 dirty="0">
                <a:solidFill>
                  <a:srgbClr val="1F3A5F"/>
                </a:solidFill>
                <a:latin typeface="Calibri"/>
              </a:rPr>
              <a:t>KPIs</a:t>
            </a:r>
            <a:br/>
            <a:r>
              <a:rPr sz="1800" b="1" i="0" dirty="0" err="1">
                <a:solidFill>
                  <a:srgbClr val="1F3A5F"/>
                </a:solidFill>
                <a:latin typeface="Calibri"/>
              </a:rPr>
              <a:t>ופונקציית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1F3A5F"/>
                </a:solidFill>
                <a:latin typeface="Calibri"/>
              </a:rPr>
              <a:t>עלות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 dirty="0" err="1">
                <a:solidFill>
                  <a:srgbClr val="1A2433"/>
                </a:solidFill>
                <a:latin typeface="Calibri"/>
              </a:rPr>
              <a:t>איך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מתרגמים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בעיה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תפעולית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למספר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שאפשר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לייעל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757830"/>
            <a:ext cx="11274552" cy="718718"/>
          </a:xfrm>
          <a:prstGeom prst="roundRect">
            <a:avLst>
              <a:gd name="adj" fmla="val 6000"/>
            </a:avLst>
          </a:prstGeom>
          <a:solidFill>
            <a:srgbClr val="E7EEF4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2812694"/>
            <a:ext cx="10515600" cy="60899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 dirty="0" err="1">
                <a:solidFill>
                  <a:srgbClr val="1F3A5F"/>
                </a:solidFill>
                <a:latin typeface="Calibri"/>
              </a:rPr>
              <a:t>סימולציה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1F3A5F"/>
                </a:solidFill>
                <a:latin typeface="Calibri"/>
              </a:rPr>
              <a:t>כאומד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 dirty="0" err="1">
                <a:solidFill>
                  <a:srgbClr val="1A2433"/>
                </a:solidFill>
                <a:latin typeface="Calibri"/>
              </a:rPr>
              <a:t>מה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זה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אומד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,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ולמה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סימולציה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בעצם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משערכת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מדדים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641140"/>
            <a:ext cx="11274552" cy="718718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3654892"/>
            <a:ext cx="10515600" cy="6912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 dirty="0">
                <a:solidFill>
                  <a:srgbClr val="1F3A5F"/>
                </a:solidFill>
                <a:latin typeface="Calibri"/>
              </a:rPr>
              <a:t>‪</a:t>
            </a:r>
            <a:r>
              <a:rPr lang="en-US" sz="1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Bias‬ </a:t>
            </a:r>
            <a:r>
              <a:rPr sz="1800" b="1" i="0" dirty="0" err="1">
                <a:solidFill>
                  <a:srgbClr val="1F3A5F"/>
                </a:solidFill>
                <a:latin typeface="Calibri"/>
              </a:rPr>
              <a:t>וVariance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 dirty="0" err="1">
                <a:solidFill>
                  <a:srgbClr val="1A2433"/>
                </a:solidFill>
                <a:latin typeface="Calibri"/>
              </a:rPr>
              <a:t>שני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הקריטריונים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שקובעים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אם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אומד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טוב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524451"/>
            <a:ext cx="11274552" cy="718718"/>
          </a:xfrm>
          <a:prstGeom prst="roundRect">
            <a:avLst>
              <a:gd name="adj" fmla="val 6000"/>
            </a:avLst>
          </a:prstGeom>
          <a:solidFill>
            <a:srgbClr val="E7EEF4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4579315"/>
            <a:ext cx="10515600" cy="60899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אורך הסימולציה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2433"/>
                </a:solidFill>
                <a:latin typeface="Calibri"/>
              </a:rPr>
              <a:t>כמה זמן להריץ, ואיך מודדים את זה עם רווח סמך.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407761"/>
            <a:ext cx="11274552" cy="718718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5462625"/>
            <a:ext cx="10515600" cy="60899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 dirty="0" err="1">
                <a:solidFill>
                  <a:srgbClr val="1F3A5F"/>
                </a:solidFill>
                <a:latin typeface="Calibri"/>
              </a:rPr>
              <a:t>סימון</a:t>
            </a:r>
            <a:br/>
            <a:r>
              <a:rPr sz="1800" b="1" i="0" dirty="0">
                <a:solidFill>
                  <a:srgbClr val="1F3A5F"/>
                </a:solidFill>
                <a:latin typeface="Calibri"/>
              </a:rPr>
              <a:t>Kendall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 dirty="0" err="1">
                <a:solidFill>
                  <a:srgbClr val="1A2433"/>
                </a:solidFill>
                <a:latin typeface="Calibri"/>
              </a:rPr>
              <a:t>שפה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משותפת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לתיאור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מערכות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תורים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19088"/>
            <a:ext cx="112745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B7B"/>
                </a:solidFill>
                <a:latin typeface="Calibri"/>
              </a:rPr>
              <a:t>שיעור 3 ·</a:t>
            </a:r>
            <a:br/>
            <a:r>
              <a:rPr sz="1000" b="0" i="0">
                <a:solidFill>
                  <a:srgbClr val="5A6B7B"/>
                </a:solidFill>
                <a:latin typeface="Calibri"/>
              </a:rPr>
              <a:t>KPIs</a:t>
            </a:r>
            <a:br/>
            <a:r>
              <a:rPr sz="1000" b="0" i="0">
                <a:solidFill>
                  <a:srgbClr val="5A6B7B"/>
                </a:solidFill>
                <a:latin typeface="Calibri"/>
              </a:rPr>
              <a:t>ואומדים  · 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7455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86AB"/>
                </a:solidFill>
                <a:latin typeface="Calibri"/>
              </a:rPr>
              <a:t>‪Why KPIs?‬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7455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בשביל מה אנחנו כאן?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72768"/>
            <a:ext cx="11274552" cy="25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11274552" cy="718718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929384"/>
            <a:ext cx="10515600" cy="60899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התפקיד שלנו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2433"/>
                </a:solidFill>
                <a:latin typeface="Calibri"/>
              </a:rPr>
              <a:t>כמהנדסי תעשייה, למצוא פתרונות יעילים למערכות מסובכות.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757830"/>
            <a:ext cx="11274552" cy="718718"/>
          </a:xfrm>
          <a:prstGeom prst="roundRect">
            <a:avLst>
              <a:gd name="adj" fmla="val 6000"/>
            </a:avLst>
          </a:prstGeom>
          <a:solidFill>
            <a:srgbClr val="E7EEF4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2771582"/>
            <a:ext cx="10515600" cy="6912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 dirty="0">
                <a:solidFill>
                  <a:srgbClr val="1F3A5F"/>
                </a:solidFill>
                <a:latin typeface="Calibri"/>
              </a:rPr>
              <a:t>‪Call center‬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 dirty="0" err="1">
                <a:solidFill>
                  <a:srgbClr val="1A2433"/>
                </a:solidFill>
                <a:latin typeface="Calibri"/>
              </a:rPr>
              <a:t>כמה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נציגים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אופטימלי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להעסיק</a:t>
            </a:r>
            <a:r>
              <a:rPr lang="he-IL" sz="1500" dirty="0">
                <a:solidFill>
                  <a:srgbClr val="1A2433"/>
                </a:solidFill>
                <a:latin typeface="Calibri"/>
              </a:rPr>
              <a:t> במשמרת?</a:t>
            </a:r>
            <a:endParaRPr sz="1500" b="0" i="0" dirty="0">
              <a:solidFill>
                <a:srgbClr val="1A2433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57200" y="3641140"/>
            <a:ext cx="11274552" cy="718718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3654892"/>
            <a:ext cx="10515600" cy="6912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 dirty="0" err="1">
                <a:solidFill>
                  <a:srgbClr val="1F3A5F"/>
                </a:solidFill>
                <a:latin typeface="Calibri"/>
              </a:rPr>
              <a:t>ניהול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1F3A5F"/>
                </a:solidFill>
                <a:latin typeface="Calibri"/>
              </a:rPr>
              <a:t>מלאי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 dirty="0" err="1">
                <a:solidFill>
                  <a:srgbClr val="1A2433"/>
                </a:solidFill>
                <a:latin typeface="Calibri"/>
              </a:rPr>
              <a:t>כמה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מוצרים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להזמין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למחסן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?</a:t>
            </a:r>
            <a:r>
              <a:rPr lang="he-IL" sz="1500" b="0" i="0" dirty="0">
                <a:solidFill>
                  <a:srgbClr val="1A2433"/>
                </a:solidFill>
                <a:latin typeface="Calibri"/>
              </a:rPr>
              <a:t> ומתי?</a:t>
            </a:r>
            <a:endParaRPr sz="1500" b="0" i="0" dirty="0">
              <a:solidFill>
                <a:srgbClr val="1A2433"/>
              </a:solidFill>
              <a:latin typeface="Calibri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57200" y="4524451"/>
            <a:ext cx="11274552" cy="718718"/>
          </a:xfrm>
          <a:prstGeom prst="roundRect">
            <a:avLst>
              <a:gd name="adj" fmla="val 6000"/>
            </a:avLst>
          </a:prstGeom>
          <a:solidFill>
            <a:srgbClr val="E7EEF4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4579315"/>
            <a:ext cx="10515600" cy="60899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 dirty="0" err="1">
                <a:solidFill>
                  <a:srgbClr val="1F3A5F"/>
                </a:solidFill>
                <a:latin typeface="Calibri"/>
              </a:rPr>
              <a:t>ניתוב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1F3A5F"/>
                </a:solidFill>
                <a:latin typeface="Calibri"/>
              </a:rPr>
              <a:t>תורים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 dirty="0" err="1">
                <a:solidFill>
                  <a:srgbClr val="1A2433"/>
                </a:solidFill>
                <a:latin typeface="Calibri"/>
              </a:rPr>
              <a:t>לאן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להוביל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לקוחות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במערכת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שירות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גדולה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407761"/>
            <a:ext cx="11274552" cy="718718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5462625"/>
            <a:ext cx="10515600" cy="60899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השאלה המרכזית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2433"/>
                </a:solidFill>
                <a:latin typeface="Calibri"/>
              </a:rPr>
              <a:t>כדי לענות — צריך קודם להגדיר פונקציית עלות:</a:t>
            </a:r>
            <a:br/>
            <a:r>
              <a:rPr sz="1500" b="0" i="0">
                <a:solidFill>
                  <a:srgbClr val="1A2433"/>
                </a:solidFill>
                <a:latin typeface="Calibri"/>
              </a:rPr>
              <a:t>KPI.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19088"/>
            <a:ext cx="112745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B7B"/>
                </a:solidFill>
                <a:latin typeface="Calibri"/>
              </a:rPr>
              <a:t>שיעור 3 ·</a:t>
            </a:r>
            <a:br/>
            <a:r>
              <a:rPr sz="1000" b="0" i="0">
                <a:solidFill>
                  <a:srgbClr val="5A6B7B"/>
                </a:solidFill>
                <a:latin typeface="Calibri"/>
              </a:rPr>
              <a:t>KPIs</a:t>
            </a:r>
            <a:br/>
            <a:r>
              <a:rPr sz="1000" b="0" i="0">
                <a:solidFill>
                  <a:srgbClr val="5A6B7B"/>
                </a:solidFill>
                <a:latin typeface="Calibri"/>
              </a:rPr>
              <a:t>ואומדים  · 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7455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86AB"/>
                </a:solidFill>
                <a:latin typeface="Calibri"/>
              </a:rPr>
              <a:t>‪Cost function‬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7455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דוגמה: קנס על המתנה ארוכה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72768"/>
            <a:ext cx="11274552" cy="25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11274552" cy="718718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888272"/>
            <a:ext cx="10515600" cy="6912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 dirty="0" err="1">
                <a:solidFill>
                  <a:srgbClr val="1F3A5F"/>
                </a:solidFill>
                <a:latin typeface="Calibri"/>
              </a:rPr>
              <a:t>הכלל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 dirty="0" err="1">
                <a:solidFill>
                  <a:srgbClr val="1A2433"/>
                </a:solidFill>
                <a:latin typeface="Calibri"/>
              </a:rPr>
              <a:t>כל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לקוח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שממתין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יותר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מ-6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דקות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גורר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קנס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של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‪100‬ </a:t>
            </a:r>
            <a:r>
              <a:rPr lang="he-IL"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ש"ח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757830"/>
            <a:ext cx="11274552" cy="718718"/>
          </a:xfrm>
          <a:prstGeom prst="roundRect">
            <a:avLst>
              <a:gd name="adj" fmla="val 6000"/>
            </a:avLst>
          </a:prstGeom>
          <a:solidFill>
            <a:srgbClr val="E7EEF4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2771582"/>
            <a:ext cx="10515600" cy="6912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 dirty="0" err="1">
                <a:solidFill>
                  <a:srgbClr val="1F3A5F"/>
                </a:solidFill>
                <a:latin typeface="Calibri"/>
              </a:rPr>
              <a:t>המשתנה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 dirty="0">
                <a:solidFill>
                  <a:srgbClr val="1A2433"/>
                </a:solidFill>
                <a:latin typeface="Calibri"/>
              </a:rPr>
              <a:t>Wₜ</a:t>
            </a:r>
            <a:br/>
            <a:r>
              <a:rPr sz="1500" b="0" i="0" dirty="0" err="1">
                <a:solidFill>
                  <a:srgbClr val="1A2433"/>
                </a:solidFill>
                <a:latin typeface="Calibri"/>
              </a:rPr>
              <a:t>משך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ההמתנה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של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לקוח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יחיד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במערכת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641140"/>
            <a:ext cx="11274552" cy="718718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3696004"/>
            <a:ext cx="10515600" cy="60899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 dirty="0" err="1">
                <a:solidFill>
                  <a:srgbClr val="1F3A5F"/>
                </a:solidFill>
                <a:latin typeface="Calibri"/>
              </a:rPr>
              <a:t>שאלת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1F3A5F"/>
                </a:solidFill>
                <a:latin typeface="Calibri"/>
              </a:rPr>
              <a:t>המפתח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 dirty="0" err="1">
                <a:solidFill>
                  <a:srgbClr val="1A2433"/>
                </a:solidFill>
                <a:latin typeface="Calibri"/>
              </a:rPr>
              <a:t>מה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ההסתברות</a:t>
            </a:r>
            <a:br/>
            <a:r>
              <a:rPr sz="1500" b="0" i="0" dirty="0">
                <a:solidFill>
                  <a:srgbClr val="1A2433"/>
                </a:solidFill>
                <a:latin typeface="Calibri"/>
              </a:rPr>
              <a:t>P(Wₜ &gt; 6)?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524451"/>
            <a:ext cx="11274552" cy="718718"/>
          </a:xfrm>
          <a:prstGeom prst="roundRect">
            <a:avLst>
              <a:gd name="adj" fmla="val 6000"/>
            </a:avLst>
          </a:prstGeom>
          <a:solidFill>
            <a:srgbClr val="E7EEF4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4579315"/>
            <a:ext cx="10515600" cy="60899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 dirty="0" err="1">
                <a:solidFill>
                  <a:srgbClr val="1F3A5F"/>
                </a:solidFill>
                <a:latin typeface="Calibri"/>
              </a:rPr>
              <a:t>עלות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1F3A5F"/>
                </a:solidFill>
                <a:latin typeface="Calibri"/>
              </a:rPr>
              <a:t>ללקוח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 dirty="0">
                <a:solidFill>
                  <a:srgbClr val="1A2433"/>
                </a:solidFill>
                <a:latin typeface="Calibri"/>
              </a:rPr>
              <a:t>‪100 · P(Wₜ &gt; 6)‬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407761"/>
            <a:ext cx="11274552" cy="718718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5421513"/>
            <a:ext cx="10515600" cy="6912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 dirty="0" err="1">
                <a:solidFill>
                  <a:srgbClr val="1F3A5F"/>
                </a:solidFill>
                <a:latin typeface="Calibri"/>
              </a:rPr>
              <a:t>עלות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1F3A5F"/>
                </a:solidFill>
                <a:latin typeface="Calibri"/>
              </a:rPr>
              <a:t>ליחידת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1F3A5F"/>
                </a:solidFill>
                <a:latin typeface="Calibri"/>
              </a:rPr>
              <a:t>זמן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 dirty="0" err="1">
                <a:solidFill>
                  <a:srgbClr val="1A2433"/>
                </a:solidFill>
                <a:latin typeface="Calibri"/>
              </a:rPr>
              <a:t>אם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מגיעים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4 </a:t>
            </a:r>
            <a:r>
              <a:rPr lang="he-IL"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לקוחות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ביחידת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זמן</a:t>
            </a:r>
            <a:r>
              <a:rPr lang="he-IL"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100 · 4 ·</a:t>
            </a:r>
            <a:br/>
            <a:r>
              <a:rPr sz="1500" b="0" i="0" dirty="0">
                <a:solidFill>
                  <a:srgbClr val="1A2433"/>
                </a:solidFill>
                <a:latin typeface="Calibri"/>
              </a:rPr>
              <a:t>P(Wₜ &gt; 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19088"/>
            <a:ext cx="112745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B7B"/>
                </a:solidFill>
                <a:latin typeface="Calibri"/>
              </a:rPr>
              <a:t>שיעור 3 ·</a:t>
            </a:r>
            <a:br/>
            <a:r>
              <a:rPr sz="1000" b="0" i="0">
                <a:solidFill>
                  <a:srgbClr val="5A6B7B"/>
                </a:solidFill>
                <a:latin typeface="Calibri"/>
              </a:rPr>
              <a:t>KPIs</a:t>
            </a:r>
            <a:br/>
            <a:r>
              <a:rPr sz="1000" b="0" i="0">
                <a:solidFill>
                  <a:srgbClr val="5A6B7B"/>
                </a:solidFill>
                <a:latin typeface="Calibri"/>
              </a:rPr>
              <a:t>ואומדים  ·  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  <p:bldP spid="13" grpId="0"/>
      <p:bldP spid="1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7455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86AB"/>
                </a:solidFill>
                <a:latin typeface="Calibri"/>
              </a:rPr>
              <a:t>‪Why simulate?‬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7455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אז בשביל מה אנחנו צריכים סימולציה?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72768"/>
            <a:ext cx="11274552" cy="25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11274552" cy="939546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929384"/>
            <a:ext cx="10515600" cy="82981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קצב הגעה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2433"/>
                </a:solidFill>
                <a:latin typeface="Calibri"/>
              </a:rPr>
              <a:t>בדרך כלל נתון מראש.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978658"/>
            <a:ext cx="11274552" cy="939546"/>
          </a:xfrm>
          <a:prstGeom prst="roundRect">
            <a:avLst>
              <a:gd name="adj" fmla="val 6000"/>
            </a:avLst>
          </a:prstGeom>
          <a:solidFill>
            <a:srgbClr val="E7EEF4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3102823"/>
            <a:ext cx="10515600" cy="6912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 dirty="0" err="1">
                <a:solidFill>
                  <a:srgbClr val="1F3A5F"/>
                </a:solidFill>
                <a:latin typeface="Calibri"/>
              </a:rPr>
              <a:t>עלות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1F3A5F"/>
                </a:solidFill>
                <a:latin typeface="Calibri"/>
              </a:rPr>
              <a:t>קנס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 dirty="0" err="1">
                <a:solidFill>
                  <a:srgbClr val="1A2433"/>
                </a:solidFill>
                <a:latin typeface="Calibri"/>
              </a:rPr>
              <a:t>בדרך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כלל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נתונה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מראש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מדיניות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עסקית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082796"/>
            <a:ext cx="11274552" cy="939546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4137659"/>
            <a:ext cx="10515600" cy="82981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‪P(Wₜ &gt; 6)‬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2433"/>
                </a:solidFill>
                <a:latin typeface="Calibri"/>
              </a:rPr>
              <a:t>תלויה בתהליך סטוכסטי מורכב — בלי פתרון אנליטי.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186933"/>
            <a:ext cx="11274552" cy="939546"/>
          </a:xfrm>
          <a:prstGeom prst="roundRect">
            <a:avLst>
              <a:gd name="adj" fmla="val 6000"/>
            </a:avLst>
          </a:prstGeom>
          <a:solidFill>
            <a:srgbClr val="E7EEF4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241797"/>
            <a:ext cx="10515600" cy="82981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הרעיון הכללי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2433"/>
                </a:solidFill>
                <a:latin typeface="Calibri"/>
              </a:rPr>
              <a:t>מנסחים פונקציית עלות, ואת המדד הסטוכסטי שבתוכה משערכים בסימולציה.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19088"/>
            <a:ext cx="112745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B7B"/>
                </a:solidFill>
                <a:latin typeface="Calibri"/>
              </a:rPr>
              <a:t>שיעור 3 ·</a:t>
            </a:r>
            <a:br/>
            <a:r>
              <a:rPr sz="1000" b="0" i="0">
                <a:solidFill>
                  <a:srgbClr val="5A6B7B"/>
                </a:solidFill>
                <a:latin typeface="Calibri"/>
              </a:rPr>
              <a:t>KPIs</a:t>
            </a:r>
            <a:br/>
            <a:r>
              <a:rPr sz="1000" b="0" i="0">
                <a:solidFill>
                  <a:srgbClr val="5A6B7B"/>
                </a:solidFill>
                <a:latin typeface="Calibri"/>
              </a:rPr>
              <a:t>ואומדים  · 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7455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86AB"/>
                </a:solidFill>
                <a:latin typeface="Calibri"/>
              </a:rPr>
              <a:t>‪A minimal example‬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7455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דוגמה פשוטה: תור יחיד, שרת יחיד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72768"/>
            <a:ext cx="11274552" cy="25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11274552" cy="939546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929384"/>
            <a:ext cx="10515600" cy="82981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מה קובע את ההמתנה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2433"/>
                </a:solidFill>
                <a:latin typeface="Calibri"/>
              </a:rPr>
              <a:t>התפלגות הזמנים בין הגעות + התפלגות זמן השירות.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978658"/>
            <a:ext cx="11274552" cy="939546"/>
          </a:xfrm>
          <a:prstGeom prst="roundRect">
            <a:avLst>
              <a:gd name="adj" fmla="val 6000"/>
            </a:avLst>
          </a:prstGeom>
          <a:solidFill>
            <a:srgbClr val="E7EEF4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3033522"/>
            <a:ext cx="10515600" cy="82981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 dirty="0" err="1">
                <a:solidFill>
                  <a:srgbClr val="1F3A5F"/>
                </a:solidFill>
                <a:latin typeface="Calibri"/>
              </a:rPr>
              <a:t>בין-הגעות</a:t>
            </a:r>
            <a:r>
              <a:rPr sz="1800" b="1" i="0" dirty="0">
                <a:solidFill>
                  <a:srgbClr val="1F3A5F"/>
                </a:solidFill>
                <a:latin typeface="Calibri"/>
              </a:rPr>
              <a:t>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 dirty="0">
                <a:solidFill>
                  <a:srgbClr val="1A2433"/>
                </a:solidFill>
                <a:latin typeface="Calibri"/>
              </a:rPr>
              <a:t>Gamma(2, 2) —</a:t>
            </a:r>
            <a:br/>
            <a:r>
              <a:rPr sz="1500" b="0" i="0" dirty="0" err="1">
                <a:solidFill>
                  <a:srgbClr val="1A2433"/>
                </a:solidFill>
                <a:latin typeface="Calibri"/>
              </a:rPr>
              <a:t>סכום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שני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מעריכיים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בקצב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2, </a:t>
            </a:r>
            <a:r>
              <a:rPr sz="1500" b="0" i="0" dirty="0" err="1">
                <a:solidFill>
                  <a:srgbClr val="1A2433"/>
                </a:solidFill>
                <a:latin typeface="Calibri"/>
              </a:rPr>
              <a:t>תוחלת</a:t>
            </a:r>
            <a:r>
              <a:rPr sz="1500" b="0" i="0" dirty="0">
                <a:solidFill>
                  <a:srgbClr val="1A2433"/>
                </a:solidFill>
                <a:latin typeface="Calibri"/>
              </a:rPr>
              <a:t> = 2/2 = 1.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082796"/>
            <a:ext cx="11274552" cy="939546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4137659"/>
            <a:ext cx="10515600" cy="82981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שירות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2433"/>
                </a:solidFill>
                <a:latin typeface="Calibri"/>
              </a:rPr>
              <a:t>Exponential</a:t>
            </a:r>
            <a:br/>
            <a:r>
              <a:rPr sz="1500" b="0" i="0">
                <a:solidFill>
                  <a:srgbClr val="1A2433"/>
                </a:solidFill>
                <a:latin typeface="Calibri"/>
              </a:rPr>
              <a:t>עם קצב 1.25, תוחלת = 1/1.25 = 0.8.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186933"/>
            <a:ext cx="11274552" cy="939546"/>
          </a:xfrm>
          <a:prstGeom prst="roundRect">
            <a:avLst>
              <a:gd name="adj" fmla="val 6000"/>
            </a:avLst>
          </a:prstGeom>
          <a:solidFill>
            <a:srgbClr val="E7EEF4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241797"/>
            <a:ext cx="10515600" cy="82981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שימו לב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2433"/>
                </a:solidFill>
                <a:latin typeface="Calibri"/>
              </a:rPr>
              <a:t>np.random</a:t>
            </a:r>
            <a:br/>
            <a:r>
              <a:rPr sz="1500" b="0" i="0">
                <a:solidFill>
                  <a:srgbClr val="1A2433"/>
                </a:solidFill>
                <a:latin typeface="Calibri"/>
              </a:rPr>
              <a:t>מקבל את התוחלת (1/קצב) ולא את הקצב עצמו.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19088"/>
            <a:ext cx="112745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B7B"/>
                </a:solidFill>
                <a:latin typeface="Calibri"/>
              </a:rPr>
              <a:t>שיעור 3 ·</a:t>
            </a:r>
            <a:br/>
            <a:r>
              <a:rPr sz="1000" b="0" i="0">
                <a:solidFill>
                  <a:srgbClr val="5A6B7B"/>
                </a:solidFill>
                <a:latin typeface="Calibri"/>
              </a:rPr>
              <a:t>KPIs</a:t>
            </a:r>
            <a:br/>
            <a:r>
              <a:rPr sz="1000" b="0" i="0">
                <a:solidFill>
                  <a:srgbClr val="5A6B7B"/>
                </a:solidFill>
                <a:latin typeface="Calibri"/>
              </a:rPr>
              <a:t>ואומדים  · 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7455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86AB"/>
                </a:solidFill>
                <a:latin typeface="Calibri"/>
              </a:rPr>
              <a:t>‪The four core KPIs‬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7455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ארבעת המדדים שמהם נגזר הכל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72768"/>
            <a:ext cx="11274552" cy="25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5486400" cy="41148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874519"/>
            <a:ext cx="5486400" cy="54864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920239"/>
            <a:ext cx="5120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זמן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493776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2433"/>
                </a:solidFill>
                <a:latin typeface="Calibri"/>
              </a:rPr>
              <a:t>•  Wq —</a:t>
            </a:r>
            <a:br/>
            <a:r>
              <a:rPr sz="1600" b="0" i="0">
                <a:solidFill>
                  <a:srgbClr val="1A2433"/>
                </a:solidFill>
                <a:latin typeface="Calibri"/>
              </a:rPr>
              <a:t>זמן המתנה בתור</a:t>
            </a:r>
          </a:p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2433"/>
                </a:solidFill>
                <a:latin typeface="Calibri"/>
              </a:rPr>
              <a:t>•  W —</a:t>
            </a:r>
            <a:br/>
            <a:r>
              <a:rPr sz="1600" b="0" i="0">
                <a:solidFill>
                  <a:srgbClr val="1A2433"/>
                </a:solidFill>
                <a:latin typeface="Calibri"/>
              </a:rPr>
              <a:t>זמן שהייה (המתנה + שירות)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5352" y="1874519"/>
            <a:ext cx="5486400" cy="41148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45352" y="1874519"/>
            <a:ext cx="5486400" cy="548640"/>
          </a:xfrm>
          <a:prstGeom prst="rect">
            <a:avLst/>
          </a:prstGeom>
          <a:solidFill>
            <a:srgbClr val="E0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28232" y="1920239"/>
            <a:ext cx="5120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אורך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2560320"/>
            <a:ext cx="493776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2433"/>
                </a:solidFill>
                <a:latin typeface="Calibri"/>
              </a:rPr>
              <a:t>•  Lq —</a:t>
            </a:r>
            <a:br/>
            <a:r>
              <a:rPr sz="1600" b="0" i="0">
                <a:solidFill>
                  <a:srgbClr val="1A2433"/>
                </a:solidFill>
                <a:latin typeface="Calibri"/>
              </a:rPr>
              <a:t>אורך התור</a:t>
            </a:r>
          </a:p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2433"/>
                </a:solidFill>
                <a:latin typeface="Calibri"/>
              </a:rPr>
              <a:t>•  L —</a:t>
            </a:r>
            <a:br/>
            <a:r>
              <a:rPr sz="1600" b="0" i="0">
                <a:solidFill>
                  <a:srgbClr val="1A2433"/>
                </a:solidFill>
                <a:latin typeface="Calibri"/>
              </a:rPr>
              <a:t>מספר לקוחות במערכת (תור + שירות)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19088"/>
            <a:ext cx="112745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B7B"/>
                </a:solidFill>
                <a:latin typeface="Calibri"/>
              </a:rPr>
              <a:t>שיעור 3 ·</a:t>
            </a:r>
            <a:br/>
            <a:r>
              <a:rPr sz="1000" b="0" i="0">
                <a:solidFill>
                  <a:srgbClr val="5A6B7B"/>
                </a:solidFill>
                <a:latin typeface="Calibri"/>
              </a:rPr>
              <a:t>KPIs</a:t>
            </a:r>
            <a:br/>
            <a:r>
              <a:rPr sz="1000" b="0" i="0">
                <a:solidFill>
                  <a:srgbClr val="5A6B7B"/>
                </a:solidFill>
                <a:latin typeface="Calibri"/>
              </a:rPr>
              <a:t>ואומדים  ·  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7455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86AB"/>
                </a:solidFill>
                <a:latin typeface="Calibri"/>
              </a:rPr>
              <a:t>‪Simulation as an estimator‬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7455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סימולציה כאומד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72768"/>
            <a:ext cx="11274552" cy="25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11274552" cy="939546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929384"/>
            <a:ext cx="10515600" cy="82981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מהו אומד?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2433"/>
                </a:solidFill>
                <a:latin typeface="Calibri"/>
              </a:rPr>
              <a:t>פונקציה של הנתונים שמשערכת ערך מסוים — למשל, ממוצע משערך תוחלת.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978658"/>
            <a:ext cx="11274552" cy="939546"/>
          </a:xfrm>
          <a:prstGeom prst="roundRect">
            <a:avLst>
              <a:gd name="adj" fmla="val 6000"/>
            </a:avLst>
          </a:prstGeom>
          <a:solidFill>
            <a:srgbClr val="E7EEF4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3033522"/>
            <a:ext cx="10515600" cy="82981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מה סימולציה עושה בפועל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2433"/>
                </a:solidFill>
                <a:latin typeface="Calibri"/>
              </a:rPr>
              <a:t>משערכת מדדים של תהליך סטוכסטי מהריצה שלה.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082796"/>
            <a:ext cx="11274552" cy="939546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4137659"/>
            <a:ext cx="10515600" cy="82981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דוגמה ‪1‬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2433"/>
                </a:solidFill>
                <a:latin typeface="Calibri"/>
              </a:rPr>
              <a:t>פרופורציית הפעמים שההמתנה עברה 6 — אומד</a:t>
            </a:r>
            <a:br/>
            <a:r>
              <a:rPr sz="1500" b="0" i="0">
                <a:solidFill>
                  <a:srgbClr val="1A2433"/>
                </a:solidFill>
                <a:latin typeface="Calibri"/>
              </a:rPr>
              <a:t>ל-P(Wₜ &gt; 6).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186933"/>
            <a:ext cx="11274552" cy="939546"/>
          </a:xfrm>
          <a:prstGeom prst="roundRect">
            <a:avLst>
              <a:gd name="adj" fmla="val 6000"/>
            </a:avLst>
          </a:prstGeom>
          <a:solidFill>
            <a:srgbClr val="E7EEF4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241797"/>
            <a:ext cx="10515600" cy="82981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דוגמה ‪2‬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2433"/>
                </a:solidFill>
                <a:latin typeface="Calibri"/>
              </a:rPr>
              <a:t>פרופורציית הזמן שבה יש 3 לקוחות במערכת — אומד</a:t>
            </a:r>
            <a:br/>
            <a:r>
              <a:rPr sz="1500" b="0" i="0">
                <a:solidFill>
                  <a:srgbClr val="1A2433"/>
                </a:solidFill>
                <a:latin typeface="Calibri"/>
              </a:rPr>
              <a:t>ל-P(L=3).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19088"/>
            <a:ext cx="112745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B7B"/>
                </a:solidFill>
                <a:latin typeface="Calibri"/>
              </a:rPr>
              <a:t>שיעור 3 ·</a:t>
            </a:r>
            <a:br/>
            <a:r>
              <a:rPr sz="1000" b="0" i="0">
                <a:solidFill>
                  <a:srgbClr val="5A6B7B"/>
                </a:solidFill>
                <a:latin typeface="Calibri"/>
              </a:rPr>
              <a:t>KPIs</a:t>
            </a:r>
            <a:br/>
            <a:r>
              <a:rPr sz="1000" b="0" i="0">
                <a:solidFill>
                  <a:srgbClr val="5A6B7B"/>
                </a:solidFill>
                <a:latin typeface="Calibri"/>
              </a:rPr>
              <a:t>ואומדים  ·  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7455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86AB"/>
                </a:solidFill>
                <a:latin typeface="Calibri"/>
              </a:rPr>
              <a:t>‪A natural question‬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7455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מהו אומד טוב?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72768"/>
            <a:ext cx="11274552" cy="25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97280" y="2194560"/>
            <a:ext cx="9994392" cy="31089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091672" y="2194560"/>
            <a:ext cx="0" cy="310896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71600" y="2377440"/>
            <a:ext cx="9445752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1F3A5F"/>
                </a:solidFill>
                <a:latin typeface="Calibri"/>
              </a:rPr>
              <a:t>למה בוחרים דווקא בממוצע כדי לאמוד תוחלת?</a:t>
            </a:r>
          </a:p>
          <a:p>
            <a:pPr algn="ctr" rtl="1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1F3A5F"/>
                </a:solidFill>
                <a:latin typeface="Calibri"/>
              </a:rPr>
              <a:t>ולא, למשל, מקסימום או מינימום המדגם?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440680"/>
            <a:ext cx="944575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5A6B7B"/>
                </a:solidFill>
                <a:latin typeface="Calibri"/>
              </a:rPr>
              <a:t>נרצה שני קריטריונים בערכים נמוכים:</a:t>
            </a:r>
            <a:br/>
            <a:r>
              <a:rPr sz="1600" b="0" i="0">
                <a:solidFill>
                  <a:srgbClr val="5A6B7B"/>
                </a:solidFill>
                <a:latin typeface="Calibri"/>
              </a:rPr>
              <a:t>Bias ו-Variance.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19088"/>
            <a:ext cx="112745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B7B"/>
                </a:solidFill>
                <a:latin typeface="Calibri"/>
              </a:rPr>
              <a:t>שיעור 3 ·</a:t>
            </a:r>
            <a:br/>
            <a:r>
              <a:rPr sz="1000" b="0" i="0">
                <a:solidFill>
                  <a:srgbClr val="5A6B7B"/>
                </a:solidFill>
                <a:latin typeface="Calibri"/>
              </a:rPr>
              <a:t>KPIs</a:t>
            </a:r>
            <a:br/>
            <a:r>
              <a:rPr sz="1000" b="0" i="0">
                <a:solidFill>
                  <a:srgbClr val="5A6B7B"/>
                </a:solidFill>
                <a:latin typeface="Calibri"/>
              </a:rPr>
              <a:t>ואומדים  ·  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7455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86AB"/>
                </a:solidFill>
                <a:latin typeface="Calibri"/>
              </a:rPr>
              <a:t>‪Bias‬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7455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קריטריון 1: הטיה</a:t>
            </a:r>
            <a:br/>
            <a:r>
              <a:rPr sz="2800" b="1" i="0">
                <a:solidFill>
                  <a:srgbClr val="1F3A5F"/>
                </a:solidFill>
                <a:latin typeface="Calibri"/>
              </a:rPr>
              <a:t>(Bias)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72768"/>
            <a:ext cx="11274552" cy="25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97280" y="2194560"/>
            <a:ext cx="9994392" cy="31089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091672" y="2194560"/>
            <a:ext cx="0" cy="310896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71600" y="2377440"/>
            <a:ext cx="9445752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E86AB"/>
                </a:solidFill>
                <a:latin typeface="Calibri"/>
              </a:rPr>
              <a:t>‪bias(μ̂, μ) = E[μ̂] − μ‬</a:t>
            </a:r>
          </a:p>
          <a:p>
            <a:pPr algn="ctr" rtl="1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E86AB"/>
                </a:solidFill>
                <a:latin typeface="Calibri"/>
              </a:rPr>
              <a:t>אם ההטיה אפס — האומד 'פוגע' בממוצע בערך האמיתי.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440680"/>
            <a:ext cx="944575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5A6B7B"/>
                </a:solidFill>
                <a:latin typeface="Calibri"/>
              </a:rPr>
              <a:t>דוגמה: ממוצע המדגם</a:t>
            </a:r>
            <a:br/>
            <a:r>
              <a:rPr sz="1600" b="0" i="0">
                <a:solidFill>
                  <a:srgbClr val="5A6B7B"/>
                </a:solidFill>
                <a:latin typeface="Calibri"/>
              </a:rPr>
              <a:t>x̄ = Σxᵢ/n</a:t>
            </a:r>
            <a:br/>
            <a:r>
              <a:rPr sz="1600" b="0" i="0">
                <a:solidFill>
                  <a:srgbClr val="5A6B7B"/>
                </a:solidFill>
                <a:latin typeface="Calibri"/>
              </a:rPr>
              <a:t>מקיים</a:t>
            </a:r>
            <a:br/>
            <a:r>
              <a:rPr sz="1600" b="0" i="0">
                <a:solidFill>
                  <a:srgbClr val="5A6B7B"/>
                </a:solidFill>
                <a:latin typeface="Calibri"/>
              </a:rPr>
              <a:t>E[x̄] = μ —</a:t>
            </a:r>
            <a:br/>
            <a:r>
              <a:rPr sz="1600" b="0" i="0">
                <a:solidFill>
                  <a:srgbClr val="5A6B7B"/>
                </a:solidFill>
                <a:latin typeface="Calibri"/>
              </a:rPr>
              <a:t>הוא חסר-הטיה.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19088"/>
            <a:ext cx="112745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B7B"/>
                </a:solidFill>
                <a:latin typeface="Calibri"/>
              </a:rPr>
              <a:t>שיעור 3 ·</a:t>
            </a:r>
            <a:br/>
            <a:r>
              <a:rPr sz="1000" b="0" i="0">
                <a:solidFill>
                  <a:srgbClr val="5A6B7B"/>
                </a:solidFill>
                <a:latin typeface="Calibri"/>
              </a:rPr>
              <a:t>KPIs</a:t>
            </a:r>
            <a:br/>
            <a:r>
              <a:rPr sz="1000" b="0" i="0">
                <a:solidFill>
                  <a:srgbClr val="5A6B7B"/>
                </a:solidFill>
                <a:latin typeface="Calibri"/>
              </a:rPr>
              <a:t>ואומדים  ·  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7455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86AB"/>
                </a:solidFill>
                <a:latin typeface="Calibri"/>
              </a:rPr>
              <a:t>‪Zero-bias demo‬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7455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הדגמה: הטיה אפסית של ממוצע המדגם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72768"/>
            <a:ext cx="11274552" cy="25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cell1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4104" y="1828800"/>
            <a:ext cx="5523485" cy="3886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06440"/>
            <a:ext cx="112745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5A6B7B"/>
                </a:solidFill>
                <a:latin typeface="Calibri"/>
              </a:rPr>
              <a:t>50 ממוצעי מדגם</a:t>
            </a:r>
            <a:br/>
            <a:r>
              <a:rPr sz="1500" b="0" i="1">
                <a:solidFill>
                  <a:srgbClr val="5A6B7B"/>
                </a:solidFill>
                <a:latin typeface="Calibri"/>
              </a:rPr>
              <a:t>(n=10,000)</a:t>
            </a:r>
            <a:br/>
            <a:r>
              <a:rPr sz="1500" b="0" i="1">
                <a:solidFill>
                  <a:srgbClr val="5A6B7B"/>
                </a:solidFill>
                <a:latin typeface="Calibri"/>
              </a:rPr>
              <a:t>של</a:t>
            </a:r>
            <a:br/>
            <a:r>
              <a:rPr sz="1500" b="0" i="1">
                <a:solidFill>
                  <a:srgbClr val="5A6B7B"/>
                </a:solidFill>
                <a:latin typeface="Calibri"/>
              </a:rPr>
              <a:t>Uniform(0.8, 1.2),</a:t>
            </a:r>
            <a:br/>
            <a:r>
              <a:rPr sz="1500" b="0" i="1">
                <a:solidFill>
                  <a:srgbClr val="5A6B7B"/>
                </a:solidFill>
                <a:latin typeface="Calibri"/>
              </a:rPr>
              <a:t>מול התוחלת האמיתית (הקו השחור, μ=1).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5806440"/>
            <a:ext cx="9994392" cy="548640"/>
          </a:xfrm>
          <a:prstGeom prst="roundRect">
            <a:avLst>
              <a:gd name="adj" fmla="val 6000"/>
            </a:avLst>
          </a:prstGeom>
          <a:solidFill>
            <a:srgbClr val="E7EEF4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71600" y="5833872"/>
            <a:ext cx="9445752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3A5F"/>
                </a:solidFill>
                <a:latin typeface="Calibri"/>
              </a:rPr>
              <a:t>הממוצעים מתפזרים סביב הערך האמיתי בדיוק — זה מה שאומר 'חסר הטיה'.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19088"/>
            <a:ext cx="112745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B7B"/>
                </a:solidFill>
                <a:latin typeface="Calibri"/>
              </a:rPr>
              <a:t>שיעור 3 ·</a:t>
            </a:r>
            <a:br/>
            <a:r>
              <a:rPr sz="1000" b="0" i="0">
                <a:solidFill>
                  <a:srgbClr val="5A6B7B"/>
                </a:solidFill>
                <a:latin typeface="Calibri"/>
              </a:rPr>
              <a:t>KPIs</a:t>
            </a:r>
            <a:br/>
            <a:r>
              <a:rPr sz="1000" b="0" i="0">
                <a:solidFill>
                  <a:srgbClr val="5A6B7B"/>
                </a:solidFill>
                <a:latin typeface="Calibri"/>
              </a:rPr>
              <a:t>ואומדים  ·  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7455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86AB"/>
                </a:solidFill>
                <a:latin typeface="Calibri"/>
              </a:rPr>
              <a:t>‪Variance‬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7455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קריטריון 2: שונות</a:t>
            </a:r>
            <a:br/>
            <a:r>
              <a:rPr sz="2800" b="1" i="0">
                <a:solidFill>
                  <a:srgbClr val="1F3A5F"/>
                </a:solidFill>
                <a:latin typeface="Calibri"/>
              </a:rPr>
              <a:t>(Variance)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72768"/>
            <a:ext cx="11274552" cy="25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97280" y="2194560"/>
            <a:ext cx="9994392" cy="31089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091672" y="2194560"/>
            <a:ext cx="0" cy="310896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71600" y="2377440"/>
            <a:ext cx="9445752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E86AB"/>
                </a:solidFill>
                <a:latin typeface="Calibri"/>
              </a:rPr>
              <a:t>‪Var[x̄] = Var[Σ Xᵢ/n] = σ²/n‬</a:t>
            </a:r>
          </a:p>
          <a:p>
            <a:pPr algn="ctr" rtl="1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E86AB"/>
                </a:solidFill>
                <a:latin typeface="Calibri"/>
              </a:rPr>
              <a:t>השונות של האומד קטנה ככל שגודל המדגם</a:t>
            </a:r>
            <a:br/>
            <a:r>
              <a:rPr sz="2600" b="1" i="0">
                <a:solidFill>
                  <a:srgbClr val="2E86AB"/>
                </a:solidFill>
                <a:latin typeface="Calibri"/>
              </a:rPr>
              <a:t>n</a:t>
            </a:r>
            <a:br/>
            <a:r>
              <a:rPr sz="2600" b="1" i="0">
                <a:solidFill>
                  <a:srgbClr val="2E86AB"/>
                </a:solidFill>
                <a:latin typeface="Calibri"/>
              </a:rPr>
              <a:t>גדל.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440680"/>
            <a:ext cx="944575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5A6B7B"/>
                </a:solidFill>
                <a:latin typeface="Calibri"/>
              </a:rPr>
              <a:t>שונות קטנה = אומד יציב ומדויק יותר.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19088"/>
            <a:ext cx="112745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B7B"/>
                </a:solidFill>
                <a:latin typeface="Calibri"/>
              </a:rPr>
              <a:t>שיעור 3 ·</a:t>
            </a:r>
            <a:br/>
            <a:r>
              <a:rPr sz="1000" b="0" i="0">
                <a:solidFill>
                  <a:srgbClr val="5A6B7B"/>
                </a:solidFill>
                <a:latin typeface="Calibri"/>
              </a:rPr>
              <a:t>KPIs</a:t>
            </a:r>
            <a:br/>
            <a:r>
              <a:rPr sz="1000" b="0" i="0">
                <a:solidFill>
                  <a:srgbClr val="5A6B7B"/>
                </a:solidFill>
                <a:latin typeface="Calibri"/>
              </a:rPr>
              <a:t>ואומדים  ·  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7455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86AB"/>
                </a:solidFill>
                <a:latin typeface="Calibri"/>
              </a:rPr>
              <a:t>‪Variance shrinks with n‬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7455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הדגמה: השונות קטנה עם גודל המדגם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72768"/>
            <a:ext cx="11274552" cy="25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cell15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2253" y="1828800"/>
            <a:ext cx="4967188" cy="3886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06440"/>
            <a:ext cx="112745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5A6B7B"/>
                </a:solidFill>
                <a:latin typeface="Calibri"/>
              </a:rPr>
              <a:t>ממוצעי מדגם של אותה התפלגות, עבור גדלי מדגם ‪10, 100‬ ו-1,000.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5806440"/>
            <a:ext cx="9994392" cy="548640"/>
          </a:xfrm>
          <a:prstGeom prst="roundRect">
            <a:avLst>
              <a:gd name="adj" fmla="val 6000"/>
            </a:avLst>
          </a:prstGeom>
          <a:solidFill>
            <a:srgbClr val="E7EEF4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71600" y="5833872"/>
            <a:ext cx="9445752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3A5F"/>
                </a:solidFill>
                <a:latin typeface="Calibri"/>
              </a:rPr>
              <a:t>ככל שכל ממוצע מבוסס על יותר תצפיות — הפיזור סביב הערך האמיתי מצטמצם.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19088"/>
            <a:ext cx="112745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B7B"/>
                </a:solidFill>
                <a:latin typeface="Calibri"/>
              </a:rPr>
              <a:t>שיעור 3 ·</a:t>
            </a:r>
            <a:br/>
            <a:r>
              <a:rPr sz="1000" b="0" i="0">
                <a:solidFill>
                  <a:srgbClr val="5A6B7B"/>
                </a:solidFill>
                <a:latin typeface="Calibri"/>
              </a:rPr>
              <a:t>KPIs</a:t>
            </a:r>
            <a:br/>
            <a:r>
              <a:rPr sz="1000" b="0" i="0">
                <a:solidFill>
                  <a:srgbClr val="5A6B7B"/>
                </a:solidFill>
                <a:latin typeface="Calibri"/>
              </a:rPr>
              <a:t>ואומדים  ·  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7455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86AB"/>
                </a:solidFill>
                <a:latin typeface="Calibri"/>
              </a:rPr>
              <a:t>‪Bias–variance trade-off‬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7455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MSE:</a:t>
            </a:r>
            <a:br/>
            <a:r>
              <a:rPr sz="2800" b="1" i="0">
                <a:solidFill>
                  <a:srgbClr val="1F3A5F"/>
                </a:solidFill>
                <a:latin typeface="Calibri"/>
              </a:rPr>
              <a:t>לאחד הטיה ושונות למדד אחד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72768"/>
            <a:ext cx="11274552" cy="25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11274552" cy="939546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929384"/>
            <a:ext cx="10515600" cy="82981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ההגדרה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2433"/>
                </a:solidFill>
                <a:latin typeface="Calibri"/>
              </a:rPr>
              <a:t>‪MSE(θ̂) = E[(θ − θ̂)²] = Bias(θ̂)² + Var(θ̂)‬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978658"/>
            <a:ext cx="11274552" cy="939546"/>
          </a:xfrm>
          <a:prstGeom prst="roundRect">
            <a:avLst>
              <a:gd name="adj" fmla="val 6000"/>
            </a:avLst>
          </a:prstGeom>
          <a:solidFill>
            <a:srgbClr val="E7EEF4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3033522"/>
            <a:ext cx="10515600" cy="82981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דוגמת אומדי שונות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2433"/>
                </a:solidFill>
                <a:latin typeface="Calibri"/>
              </a:rPr>
              <a:t>מכנה</a:t>
            </a:r>
            <a:br/>
            <a:r>
              <a:rPr sz="1500" b="0" i="0">
                <a:solidFill>
                  <a:srgbClr val="1A2433"/>
                </a:solidFill>
                <a:latin typeface="Calibri"/>
              </a:rPr>
              <a:t>n</a:t>
            </a:r>
            <a:br/>
            <a:r>
              <a:rPr sz="1500" b="0" i="0">
                <a:solidFill>
                  <a:srgbClr val="1A2433"/>
                </a:solidFill>
                <a:latin typeface="Calibri"/>
              </a:rPr>
              <a:t>נותן הטיה של</a:t>
            </a:r>
            <a:br/>
            <a:r>
              <a:rPr sz="1500" b="0" i="0">
                <a:solidFill>
                  <a:srgbClr val="1A2433"/>
                </a:solidFill>
                <a:latin typeface="Calibri"/>
              </a:rPr>
              <a:t>σ²/n;</a:t>
            </a:r>
            <a:br/>
            <a:r>
              <a:rPr sz="1500" b="0" i="0">
                <a:solidFill>
                  <a:srgbClr val="1A2433"/>
                </a:solidFill>
                <a:latin typeface="Calibri"/>
              </a:rPr>
              <a:t>מכנה</a:t>
            </a:r>
            <a:br/>
            <a:r>
              <a:rPr sz="1500" b="0" i="0">
                <a:solidFill>
                  <a:srgbClr val="1A2433"/>
                </a:solidFill>
                <a:latin typeface="Calibri"/>
              </a:rPr>
              <a:t>n−1</a:t>
            </a:r>
            <a:br/>
            <a:r>
              <a:rPr sz="1500" b="0" i="0">
                <a:solidFill>
                  <a:srgbClr val="1A2433"/>
                </a:solidFill>
                <a:latin typeface="Calibri"/>
              </a:rPr>
              <a:t>נותן הטיה אפסית.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082796"/>
            <a:ext cx="11274552" cy="939546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4137659"/>
            <a:ext cx="10515600" cy="82981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שימו לב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2433"/>
                </a:solidFill>
                <a:latin typeface="Calibri"/>
              </a:rPr>
              <a:t>האומד המוטה (מכנה</a:t>
            </a:r>
            <a:br/>
            <a:r>
              <a:rPr sz="1500" b="0" i="0">
                <a:solidFill>
                  <a:srgbClr val="1A2433"/>
                </a:solidFill>
                <a:latin typeface="Calibri"/>
              </a:rPr>
              <a:t>n)</a:t>
            </a:r>
            <a:br/>
            <a:r>
              <a:rPr sz="1500" b="0" i="0">
                <a:solidFill>
                  <a:srgbClr val="1A2433"/>
                </a:solidFill>
                <a:latin typeface="Calibri"/>
              </a:rPr>
              <a:t>יכול לקבל</a:t>
            </a:r>
            <a:br/>
            <a:r>
              <a:rPr sz="1500" b="0" i="0">
                <a:solidFill>
                  <a:srgbClr val="1A2433"/>
                </a:solidFill>
                <a:latin typeface="Calibri"/>
              </a:rPr>
              <a:t>MSE</a:t>
            </a:r>
            <a:br/>
            <a:r>
              <a:rPr sz="1500" b="0" i="0">
                <a:solidFill>
                  <a:srgbClr val="1A2433"/>
                </a:solidFill>
                <a:latin typeface="Calibri"/>
              </a:rPr>
              <a:t>נמוך יותר בזכות שונות קטנה יותר.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186933"/>
            <a:ext cx="11274552" cy="939546"/>
          </a:xfrm>
          <a:prstGeom prst="roundRect">
            <a:avLst>
              <a:gd name="adj" fmla="val 6000"/>
            </a:avLst>
          </a:prstGeom>
          <a:solidFill>
            <a:srgbClr val="E7EEF4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241797"/>
            <a:ext cx="10515600" cy="82981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בקורס הזה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2433"/>
                </a:solidFill>
                <a:latin typeface="Calibri"/>
              </a:rPr>
              <a:t>נעבוד רק עם אומדים חסרי-הטיה, ונקטין שונות ע"י הרצות ארוכות יותר.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19088"/>
            <a:ext cx="112745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B7B"/>
                </a:solidFill>
                <a:latin typeface="Calibri"/>
              </a:rPr>
              <a:t>שיעור 3 ·</a:t>
            </a:r>
            <a:br/>
            <a:r>
              <a:rPr sz="1000" b="0" i="0">
                <a:solidFill>
                  <a:srgbClr val="5A6B7B"/>
                </a:solidFill>
                <a:latin typeface="Calibri"/>
              </a:rPr>
              <a:t>KPIs</a:t>
            </a:r>
            <a:br/>
            <a:r>
              <a:rPr sz="1000" b="0" i="0">
                <a:solidFill>
                  <a:srgbClr val="5A6B7B"/>
                </a:solidFill>
                <a:latin typeface="Calibri"/>
              </a:rPr>
              <a:t>ואומדים  ·  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7455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86AB"/>
                </a:solidFill>
                <a:latin typeface="Calibri"/>
              </a:rPr>
              <a:t>‪Method‬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7455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בדיקת שונות האומד באורכי סימולציה שונים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72768"/>
            <a:ext cx="11274552" cy="25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11274552" cy="1143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929384"/>
            <a:ext cx="10515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השיטה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2433"/>
                </a:solidFill>
                <a:latin typeface="Calibri"/>
              </a:rPr>
              <a:t>מריצים את אותה סימולציה כמה פעמים, ובודקים כמה התוצאות משתנות.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182111"/>
            <a:ext cx="11274552" cy="1143000"/>
          </a:xfrm>
          <a:prstGeom prst="roundRect">
            <a:avLst>
              <a:gd name="adj" fmla="val 6000"/>
            </a:avLst>
          </a:prstGeom>
          <a:solidFill>
            <a:srgbClr val="E7EEF4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3236975"/>
            <a:ext cx="10515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כאן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2433"/>
                </a:solidFill>
                <a:latin typeface="Calibri"/>
              </a:rPr>
              <a:t>‪10‬ חזרות בכל אחד משלושה אורכי סימולציה: ‪2,500 · 50,000 · 500,000‬ הגעות.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489704"/>
            <a:ext cx="11274552" cy="1143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4544568"/>
            <a:ext cx="10515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המדד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2433"/>
                </a:solidFill>
                <a:latin typeface="Calibri"/>
              </a:rPr>
              <a:t>תוחלת זמן ההמתנה המשוערכת בכל חזרה.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19088"/>
            <a:ext cx="112745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B7B"/>
                </a:solidFill>
                <a:latin typeface="Calibri"/>
              </a:rPr>
              <a:t>שיעור 3 ·</a:t>
            </a:r>
            <a:br/>
            <a:r>
              <a:rPr sz="1000" b="0" i="0">
                <a:solidFill>
                  <a:srgbClr val="5A6B7B"/>
                </a:solidFill>
                <a:latin typeface="Calibri"/>
              </a:rPr>
              <a:t>KPIs</a:t>
            </a:r>
            <a:br/>
            <a:r>
              <a:rPr sz="1000" b="0" i="0">
                <a:solidFill>
                  <a:srgbClr val="5A6B7B"/>
                </a:solidFill>
                <a:latin typeface="Calibri"/>
              </a:rPr>
              <a:t>ואומדים  ·  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7455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86AB"/>
                </a:solidFill>
                <a:latin typeface="Calibri"/>
              </a:rPr>
              <a:t>‪Result‬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7455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תוצאת ההשוואה: סימולציה ארוכה יותר = אומד מדויק יותר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72768"/>
            <a:ext cx="11274552" cy="25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cell21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2253" y="1828800"/>
            <a:ext cx="4967188" cy="3886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06440"/>
            <a:ext cx="112745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5A6B7B"/>
                </a:solidFill>
                <a:latin typeface="Calibri"/>
              </a:rPr>
              <a:t>תוחלת ההמתנה המשוערכת ב-10 חזרות, עבור כל אחד משלושת אורכי הסימולציה.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5806440"/>
            <a:ext cx="9994392" cy="548640"/>
          </a:xfrm>
          <a:prstGeom prst="roundRect">
            <a:avLst>
              <a:gd name="adj" fmla="val 6000"/>
            </a:avLst>
          </a:prstGeom>
          <a:solidFill>
            <a:srgbClr val="E7EEF4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71600" y="5833872"/>
            <a:ext cx="9445752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3A5F"/>
                </a:solidFill>
                <a:latin typeface="Calibri"/>
              </a:rPr>
              <a:t>ל-500,000 הגעות (ירוק) הפיזור בין החזרות קטן משמעותית לעומת ‪2,500‬ (כחול).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19088"/>
            <a:ext cx="112745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B7B"/>
                </a:solidFill>
                <a:latin typeface="Calibri"/>
              </a:rPr>
              <a:t>שיעור 3 ·</a:t>
            </a:r>
            <a:br/>
            <a:r>
              <a:rPr sz="1000" b="0" i="0">
                <a:solidFill>
                  <a:srgbClr val="5A6B7B"/>
                </a:solidFill>
                <a:latin typeface="Calibri"/>
              </a:rPr>
              <a:t>KPIs</a:t>
            </a:r>
            <a:br/>
            <a:r>
              <a:rPr sz="1000" b="0" i="0">
                <a:solidFill>
                  <a:srgbClr val="5A6B7B"/>
                </a:solidFill>
                <a:latin typeface="Calibri"/>
              </a:rPr>
              <a:t>ואומדים  ·  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7455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86AB"/>
                </a:solidFill>
                <a:latin typeface="Calibri"/>
              </a:rPr>
              <a:t>‪Accuracy vs. runtime‬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7455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המחיר: זמן ריצה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72768"/>
            <a:ext cx="11274552" cy="25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11274552" cy="939546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929384"/>
            <a:ext cx="10515600" cy="82981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‪2,500‬ הגעות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2433"/>
                </a:solidFill>
                <a:latin typeface="Calibri"/>
              </a:rPr>
              <a:t>פחות משנייה עבור ‪10‬ סימולציות.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978658"/>
            <a:ext cx="11274552" cy="939546"/>
          </a:xfrm>
          <a:prstGeom prst="roundRect">
            <a:avLst>
              <a:gd name="adj" fmla="val 6000"/>
            </a:avLst>
          </a:prstGeom>
          <a:solidFill>
            <a:srgbClr val="E7EEF4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3033522"/>
            <a:ext cx="10515600" cy="82981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‪50,000‬ הגעות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2433"/>
                </a:solidFill>
                <a:latin typeface="Calibri"/>
              </a:rPr>
              <a:t>כ-13 שניות עבור ‪10‬ סימולציות.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082796"/>
            <a:ext cx="11274552" cy="939546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4137659"/>
            <a:ext cx="10515600" cy="82981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‪500,000‬ הגעות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2433"/>
                </a:solidFill>
                <a:latin typeface="Calibri"/>
              </a:rPr>
              <a:t>כ-2 דקות ו-14 שניות עבור ‪10‬ סימולציות.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186933"/>
            <a:ext cx="11274552" cy="939546"/>
          </a:xfrm>
          <a:prstGeom prst="roundRect">
            <a:avLst>
              <a:gd name="adj" fmla="val 6000"/>
            </a:avLst>
          </a:prstGeom>
          <a:solidFill>
            <a:srgbClr val="E7EEF4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241797"/>
            <a:ext cx="10515600" cy="82981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המסקנה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2433"/>
                </a:solidFill>
                <a:latin typeface="Calibri"/>
              </a:rPr>
              <a:t>דיוק גבוה יותר בא במחיר זמן ריצה — צריך לאזן ביניהם.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19088"/>
            <a:ext cx="112745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B7B"/>
                </a:solidFill>
                <a:latin typeface="Calibri"/>
              </a:rPr>
              <a:t>שיעור 3 ·</a:t>
            </a:r>
            <a:br/>
            <a:r>
              <a:rPr sz="1000" b="0" i="0">
                <a:solidFill>
                  <a:srgbClr val="5A6B7B"/>
                </a:solidFill>
                <a:latin typeface="Calibri"/>
              </a:rPr>
              <a:t>KPIs</a:t>
            </a:r>
            <a:br/>
            <a:r>
              <a:rPr sz="1000" b="0" i="0">
                <a:solidFill>
                  <a:srgbClr val="5A6B7B"/>
                </a:solidFill>
                <a:latin typeface="Calibri"/>
              </a:rPr>
              <a:t>ואומדים  ·  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7455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86AB"/>
                </a:solidFill>
                <a:latin typeface="Calibri"/>
              </a:rPr>
              <a:t>‪Choosing run length‬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7455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אז כמה זמן באמת מריצים?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72768"/>
            <a:ext cx="11274552" cy="25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11274552" cy="1143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929384"/>
            <a:ext cx="10515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אין אמת מוחלטת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2433"/>
                </a:solidFill>
                <a:latin typeface="Calibri"/>
              </a:rPr>
              <a:t>קביעת אורך הסימולציה היא תמיד החלטה, לא נוסחה קבועה.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182111"/>
            <a:ext cx="11274552" cy="1143000"/>
          </a:xfrm>
          <a:prstGeom prst="roundRect">
            <a:avLst>
              <a:gd name="adj" fmla="val 6000"/>
            </a:avLst>
          </a:prstGeom>
          <a:solidFill>
            <a:srgbClr val="E7EEF4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3236975"/>
            <a:ext cx="10515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הדרך המקובלת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2433"/>
                </a:solidFill>
                <a:latin typeface="Calibri"/>
              </a:rPr>
              <a:t>מחשבים רווח סמך</a:t>
            </a:r>
            <a:br/>
            <a:r>
              <a:rPr sz="1500" b="0" i="0">
                <a:solidFill>
                  <a:srgbClr val="1A2433"/>
                </a:solidFill>
                <a:latin typeface="Calibri"/>
              </a:rPr>
              <a:t>(CI)</a:t>
            </a:r>
            <a:br/>
            <a:r>
              <a:rPr sz="1500" b="0" i="0">
                <a:solidFill>
                  <a:srgbClr val="1A2433"/>
                </a:solidFill>
                <a:latin typeface="Calibri"/>
              </a:rPr>
              <a:t>ומחליטים מהו הרוחב המרבי שנהיה מוכנים לקבל.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489704"/>
            <a:ext cx="11274552" cy="1143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4544568"/>
            <a:ext cx="10515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התוצאה שלנו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2433"/>
                </a:solidFill>
                <a:latin typeface="Calibri"/>
              </a:rPr>
              <a:t>ככל שהסימולציה ארוכה יותר — רווח הסמך צר יותר, כמצופה.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19088"/>
            <a:ext cx="112745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B7B"/>
                </a:solidFill>
                <a:latin typeface="Calibri"/>
              </a:rPr>
              <a:t>שיעור 3 ·</a:t>
            </a:r>
            <a:br/>
            <a:r>
              <a:rPr sz="1000" b="0" i="0">
                <a:solidFill>
                  <a:srgbClr val="5A6B7B"/>
                </a:solidFill>
                <a:latin typeface="Calibri"/>
              </a:rPr>
              <a:t>KPIs</a:t>
            </a:r>
            <a:br/>
            <a:r>
              <a:rPr sz="1000" b="0" i="0">
                <a:solidFill>
                  <a:srgbClr val="5A6B7B"/>
                </a:solidFill>
                <a:latin typeface="Calibri"/>
              </a:rPr>
              <a:t>ואומדים  ·  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7455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86AB"/>
                </a:solidFill>
                <a:latin typeface="Calibri"/>
              </a:rPr>
              <a:t>‪Kendall notation‬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7455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שפה משותפת: סימון</a:t>
            </a:r>
            <a:br/>
            <a:r>
              <a:rPr sz="2800" b="1" i="0">
                <a:solidFill>
                  <a:srgbClr val="1F3A5F"/>
                </a:solidFill>
                <a:latin typeface="Calibri"/>
              </a:rPr>
              <a:t>Kendall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72768"/>
            <a:ext cx="11274552" cy="25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11274552" cy="939546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929384"/>
            <a:ext cx="10515600" cy="82981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תור יחיד כללי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2433"/>
                </a:solidFill>
                <a:latin typeface="Calibri"/>
              </a:rPr>
              <a:t>GI/GI/1 —</a:t>
            </a:r>
            <a:br/>
            <a:r>
              <a:rPr sz="1500" b="0" i="0">
                <a:solidFill>
                  <a:srgbClr val="1A2433"/>
                </a:solidFill>
                <a:latin typeface="Calibri"/>
              </a:rPr>
              <a:t>תהליכי הגעה ושירות כלליים, שרת יחיד.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978658"/>
            <a:ext cx="11274552" cy="939546"/>
          </a:xfrm>
          <a:prstGeom prst="roundRect">
            <a:avLst>
              <a:gd name="adj" fmla="val 6000"/>
            </a:avLst>
          </a:prstGeom>
          <a:solidFill>
            <a:srgbClr val="E7EEF4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3033522"/>
            <a:ext cx="10515600" cy="82981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הצורה הכללית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2433"/>
                </a:solidFill>
                <a:latin typeface="Calibri"/>
              </a:rPr>
              <a:t>A/S/c — A</a:t>
            </a:r>
            <a:br/>
            <a:r>
              <a:rPr sz="1500" b="0" i="0">
                <a:solidFill>
                  <a:srgbClr val="1A2433"/>
                </a:solidFill>
                <a:latin typeface="Calibri"/>
              </a:rPr>
              <a:t>תהליך הגעה,</a:t>
            </a:r>
            <a:br/>
            <a:r>
              <a:rPr sz="1500" b="0" i="0">
                <a:solidFill>
                  <a:srgbClr val="1A2433"/>
                </a:solidFill>
                <a:latin typeface="Calibri"/>
              </a:rPr>
              <a:t>S</a:t>
            </a:r>
            <a:br/>
            <a:r>
              <a:rPr sz="1500" b="0" i="0">
                <a:solidFill>
                  <a:srgbClr val="1A2433"/>
                </a:solidFill>
                <a:latin typeface="Calibri"/>
              </a:rPr>
              <a:t>תהליך שירות,</a:t>
            </a:r>
            <a:br/>
            <a:r>
              <a:rPr sz="1500" b="0" i="0">
                <a:solidFill>
                  <a:srgbClr val="1A2433"/>
                </a:solidFill>
                <a:latin typeface="Calibri"/>
              </a:rPr>
              <a:t>c</a:t>
            </a:r>
            <a:br/>
            <a:r>
              <a:rPr sz="1500" b="0" i="0">
                <a:solidFill>
                  <a:srgbClr val="1A2433"/>
                </a:solidFill>
                <a:latin typeface="Calibri"/>
              </a:rPr>
              <a:t>מספר שרתים.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082796"/>
            <a:ext cx="11274552" cy="939546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4137659"/>
            <a:ext cx="10515600" cy="82981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שלוש אותיות נפוצות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2433"/>
                </a:solidFill>
                <a:latin typeface="Calibri"/>
              </a:rPr>
              <a:t>M</a:t>
            </a:r>
            <a:br/>
            <a:r>
              <a:rPr sz="1500" b="0" i="0">
                <a:solidFill>
                  <a:srgbClr val="1A2433"/>
                </a:solidFill>
                <a:latin typeface="Calibri"/>
              </a:rPr>
              <a:t>מרקובי (מעריכי) ·</a:t>
            </a:r>
            <a:br/>
            <a:r>
              <a:rPr sz="1500" b="0" i="0">
                <a:solidFill>
                  <a:srgbClr val="1A2433"/>
                </a:solidFill>
                <a:latin typeface="Calibri"/>
              </a:rPr>
              <a:t>GI</a:t>
            </a:r>
            <a:br/>
            <a:r>
              <a:rPr sz="1500" b="0" i="0">
                <a:solidFill>
                  <a:srgbClr val="1A2433"/>
                </a:solidFill>
                <a:latin typeface="Calibri"/>
              </a:rPr>
              <a:t>כללי ובלתי-תלוי ·</a:t>
            </a:r>
            <a:br/>
            <a:r>
              <a:rPr sz="1500" b="0" i="0">
                <a:solidFill>
                  <a:srgbClr val="1A2433"/>
                </a:solidFill>
                <a:latin typeface="Calibri"/>
              </a:rPr>
              <a:t>G</a:t>
            </a:r>
            <a:br/>
            <a:r>
              <a:rPr sz="1500" b="0" i="0">
                <a:solidFill>
                  <a:srgbClr val="1A2433"/>
                </a:solidFill>
                <a:latin typeface="Calibri"/>
              </a:rPr>
              <a:t>כללי עם קורלציות.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186933"/>
            <a:ext cx="11274552" cy="939546"/>
          </a:xfrm>
          <a:prstGeom prst="roundRect">
            <a:avLst>
              <a:gd name="adj" fmla="val 6000"/>
            </a:avLst>
          </a:prstGeom>
          <a:solidFill>
            <a:srgbClr val="E7EEF4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241797"/>
            <a:ext cx="10515600" cy="82981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שרתים לא הומוגניים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2433"/>
                </a:solidFill>
                <a:latin typeface="Calibri"/>
              </a:rPr>
              <a:t>אם לכל שרת התפלגות שירות שונה:</a:t>
            </a:r>
            <a:br/>
            <a:r>
              <a:rPr sz="1500" b="0" i="0">
                <a:solidFill>
                  <a:srgbClr val="1A2433"/>
                </a:solidFill>
                <a:latin typeface="Calibri"/>
              </a:rPr>
              <a:t>GI/GIᵢ/c.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19088"/>
            <a:ext cx="112745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B7B"/>
                </a:solidFill>
                <a:latin typeface="Calibri"/>
              </a:rPr>
              <a:t>שיעור 3 ·</a:t>
            </a:r>
            <a:br/>
            <a:r>
              <a:rPr sz="1000" b="0" i="0">
                <a:solidFill>
                  <a:srgbClr val="5A6B7B"/>
                </a:solidFill>
                <a:latin typeface="Calibri"/>
              </a:rPr>
              <a:t>KPIs</a:t>
            </a:r>
            <a:br/>
            <a:r>
              <a:rPr sz="1000" b="0" i="0">
                <a:solidFill>
                  <a:srgbClr val="5A6B7B"/>
                </a:solidFill>
                <a:latin typeface="Calibri"/>
              </a:rPr>
              <a:t>ואומדים  ·  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7455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86AB"/>
                </a:solidFill>
                <a:latin typeface="Calibri"/>
              </a:rPr>
              <a:t>‪Takeaways‬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7455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מה לוקחים מהשיעור?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72768"/>
            <a:ext cx="11274552" cy="25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11274552" cy="718718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929384"/>
            <a:ext cx="10515600" cy="60899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KPI</a:t>
            </a:r>
            <a:br/>
            <a:r>
              <a:rPr sz="1800" b="1" i="0">
                <a:solidFill>
                  <a:srgbClr val="1F3A5F"/>
                </a:solidFill>
                <a:latin typeface="Calibri"/>
              </a:rPr>
              <a:t>הוא הגשר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2433"/>
                </a:solidFill>
                <a:latin typeface="Calibri"/>
              </a:rPr>
              <a:t>בין שאלה תפעולית לבין מדד שאפשר לחשב ולייעל.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757830"/>
            <a:ext cx="11274552" cy="718718"/>
          </a:xfrm>
          <a:prstGeom prst="roundRect">
            <a:avLst>
              <a:gd name="adj" fmla="val 6000"/>
            </a:avLst>
          </a:prstGeom>
          <a:solidFill>
            <a:srgbClr val="E7EEF4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2812694"/>
            <a:ext cx="10515600" cy="60899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סימולציה = אומד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2433"/>
                </a:solidFill>
                <a:latin typeface="Calibri"/>
              </a:rPr>
              <a:t>כל פלט של סימולציה הוא שערוך סטטיסטי, לא ערך מדויק.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641140"/>
            <a:ext cx="11274552" cy="718718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3696004"/>
            <a:ext cx="10515600" cy="60899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‪Bias‬ ו-Variance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2433"/>
                </a:solidFill>
                <a:latin typeface="Calibri"/>
              </a:rPr>
              <a:t>שני הצירים שלאורכם שופטים איכות של אומד.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524451"/>
            <a:ext cx="11274552" cy="718718"/>
          </a:xfrm>
          <a:prstGeom prst="roundRect">
            <a:avLst>
              <a:gd name="adj" fmla="val 6000"/>
            </a:avLst>
          </a:prstGeom>
          <a:solidFill>
            <a:srgbClr val="E7EEF4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4579315"/>
            <a:ext cx="10515600" cy="60899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אורך הסימולציה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2433"/>
                </a:solidFill>
                <a:latin typeface="Calibri"/>
              </a:rPr>
              <a:t>בוחרים אותו לפי רווח סמך רצוי, לא לפי תחושת בטן.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407761"/>
            <a:ext cx="11274552" cy="718718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952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5462625"/>
            <a:ext cx="10515600" cy="60899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הצעד הבא  </a:t>
            </a:r>
          </a:p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2433"/>
                </a:solidFill>
                <a:latin typeface="Calibri"/>
              </a:rPr>
              <a:t>נעמיק בהבדל בין מצב</a:t>
            </a:r>
            <a:br/>
            <a:r>
              <a:rPr sz="1500" b="0" i="0">
                <a:solidFill>
                  <a:srgbClr val="1A2433"/>
                </a:solidFill>
                <a:latin typeface="Calibri"/>
              </a:rPr>
              <a:t>Transient</a:t>
            </a:r>
            <a:br/>
            <a:r>
              <a:rPr sz="1500" b="0" i="0">
                <a:solidFill>
                  <a:srgbClr val="1A2433"/>
                </a:solidFill>
                <a:latin typeface="Calibri"/>
              </a:rPr>
              <a:t>למצב</a:t>
            </a:r>
            <a:br/>
            <a:r>
              <a:rPr sz="1500" b="0" i="0">
                <a:solidFill>
                  <a:srgbClr val="1A2433"/>
                </a:solidFill>
                <a:latin typeface="Calibri"/>
              </a:rPr>
              <a:t>Stationary.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19088"/>
            <a:ext cx="112745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B7B"/>
                </a:solidFill>
                <a:latin typeface="Calibri"/>
              </a:rPr>
              <a:t>שיעור 3 ·</a:t>
            </a:r>
            <a:br/>
            <a:r>
              <a:rPr sz="1000" b="0" i="0">
                <a:solidFill>
                  <a:srgbClr val="5A6B7B"/>
                </a:solidFill>
                <a:latin typeface="Calibri"/>
              </a:rPr>
              <a:t>KPIs</a:t>
            </a:r>
            <a:br/>
            <a:r>
              <a:rPr sz="1000" b="0" i="0">
                <a:solidFill>
                  <a:srgbClr val="5A6B7B"/>
                </a:solidFill>
                <a:latin typeface="Calibri"/>
              </a:rPr>
              <a:t>ואומדים  · 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1496</Words>
  <Application>Microsoft Office PowerPoint</Application>
  <PresentationFormat>Widescreen</PresentationFormat>
  <Paragraphs>182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אלירן שרצר/Eliran Sherzer</cp:lastModifiedBy>
  <cp:revision>2</cp:revision>
  <dcterms:created xsi:type="dcterms:W3CDTF">2013-01-27T09:14:16Z</dcterms:created>
  <dcterms:modified xsi:type="dcterms:W3CDTF">2026-09-14T12:33:36Z</dcterms:modified>
  <cp:category/>
</cp:coreProperties>
</file>