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  <p:sldId id="276" r:id="rId21"/>
    <p:sldId id="277" r:id="rId22"/>
    <p:sldId id="274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2886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82296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C0D8"/>
                </a:solidFill>
                <a:latin typeface="Calibri"/>
              </a:rPr>
              <a:t>סימולציה של אירועים בדידים לניתוח מערכות תורים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07A2F"/>
                </a:solidFill>
                <a:latin typeface="Calibri"/>
              </a:rPr>
              <a:t>שיעור ‪3‬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1036015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מדדי ביצוע, אומדים ואורך סימולציה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6015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C7D8E6"/>
                </a:solidFill>
                <a:latin typeface="Calibri"/>
              </a:rPr>
              <a:t>מ-KPI</a:t>
            </a:r>
            <a:br/>
            <a:r>
              <a:rPr sz="2000" b="0" i="0">
                <a:solidFill>
                  <a:srgbClr val="C7D8E6"/>
                </a:solidFill>
                <a:latin typeface="Calibri"/>
              </a:rPr>
              <a:t>ופונקציית עלות, דרך תורת האומדים, ועד קביעת אורך ריצה אמין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‪Lesson 3 · KPIs &amp; estimation‬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מה נעשה היום?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888272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>
                <a:solidFill>
                  <a:srgbClr val="1F3A5F"/>
                </a:solidFill>
                <a:latin typeface="Calibri"/>
              </a:rPr>
              <a:t>KPIs</a:t>
            </a:r>
            <a:r>
              <a:rPr lang="he-IL"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ופונקציית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עלות</a:t>
            </a:r>
            <a:endParaRPr sz="1800" b="1" i="0" dirty="0">
              <a:solidFill>
                <a:srgbClr val="1F3A5F"/>
              </a:solidFill>
              <a:latin typeface="Calibri"/>
            </a:endParaRP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איך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מתרגמים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בעיה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תפעולית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למספר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שאפשר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לייעל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57830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812694"/>
            <a:ext cx="10515600" cy="608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סימולציה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כאומד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מה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זה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אומד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ולמה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סימולציה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בעצם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משערכת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מדדים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41140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654892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>
                <a:solidFill>
                  <a:srgbClr val="1F3A5F"/>
                </a:solidFill>
                <a:latin typeface="Calibri"/>
              </a:rPr>
              <a:t>‪</a:t>
            </a:r>
            <a:r>
              <a:rPr lang="en-US"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Bias‬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וVariance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שני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הקריטריונים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שקובעים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אומד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טוב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524451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579315"/>
            <a:ext cx="10515600" cy="608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אורך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הסימולציה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כמה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זמן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להריץ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ואיך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מודדים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זה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עם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רווח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סמך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07761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5421513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סימון</a:t>
            </a:r>
            <a:r>
              <a:rPr lang="he-IL"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Kendall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שפה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משותפת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לתיאור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מערכות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תורים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‪Why KPIs?‬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בשביל מה אנחנו כאן?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29384"/>
            <a:ext cx="10515600" cy="608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התפקיד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שלנו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כמהנדסי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תעשייה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למצוא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פתרונות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יעילים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למערכות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מסובכות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57830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771582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>
                <a:solidFill>
                  <a:srgbClr val="1F3A5F"/>
                </a:solidFill>
                <a:latin typeface="Calibri"/>
              </a:rPr>
              <a:t>‪Call center‬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כמה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נציגים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אופטימלי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להעסיק</a:t>
            </a:r>
            <a:r>
              <a:rPr lang="he-IL" sz="1500" dirty="0">
                <a:solidFill>
                  <a:srgbClr val="1A2433"/>
                </a:solidFill>
                <a:latin typeface="Calibri"/>
              </a:rPr>
              <a:t> במשמרת?</a:t>
            </a:r>
            <a:endParaRPr sz="1500" b="0" i="0" dirty="0">
              <a:solidFill>
                <a:srgbClr val="1A2433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57200" y="3641140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654892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ניהול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מלאי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כמה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מוצרים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להזמין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למחסן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?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ומתי?</a:t>
            </a:r>
            <a:endParaRPr sz="1500" b="0" i="0" dirty="0">
              <a:solidFill>
                <a:srgbClr val="1A2433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7200" y="4524451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579315"/>
            <a:ext cx="10515600" cy="608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ניתוב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תורים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לאן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להוביל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לקוחות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במערכת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שירות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גדולה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07761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5421512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השאלה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המרכזית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כדי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לענות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—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צריך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קודם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להגדיר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פונקציית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עלות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KPI.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‪Cost function‬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דוגמה: קנס על המתנה ארוכה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888272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הכלל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כל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לקוח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שממתין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יותר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מ-6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דקות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גורר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קנס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‪100‬ 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ש"ח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57830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771582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המשתנה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>
                <a:solidFill>
                  <a:srgbClr val="1A2433"/>
                </a:solidFill>
                <a:latin typeface="Calibri"/>
              </a:rPr>
              <a:t>Wₜ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משך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ההמתנה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לקוח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יחיד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במערכת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41140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654892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שאלת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המפתח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מה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ההסתברות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P(Wₜ &gt; 6)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?</a:t>
            </a:r>
            <a:endParaRPr sz="1500" b="0" i="0" dirty="0">
              <a:solidFill>
                <a:srgbClr val="1A2433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7200" y="4524451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579315"/>
            <a:ext cx="10515600" cy="608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עלות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ללקוח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>
                <a:solidFill>
                  <a:srgbClr val="1A2433"/>
                </a:solidFill>
                <a:latin typeface="Calibri"/>
              </a:rPr>
              <a:t>‪100 · P(Wₜ &gt; 6)‬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07761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8200" y="5421513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עלות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ליחידת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זמן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אם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מגיעים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4 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לקוחות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ביחידת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זמן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100 · 4 ·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 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P(Wₜ &gt; 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‪Why simulate?‬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אז בשביל מה אנחנו צריכים סימולציה?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29384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קצב הגעה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בדרך כלל נתון מראש.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78658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102823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עלות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קנס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בדרך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כלל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נתונה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מראש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מדיניות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עסקית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82796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137659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‪P(Wₜ &gt; 6)‬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תלויה בתהליך סטוכסטי מורכב — בלי פתרון אנליטי.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186933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241797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הרעיון הכללי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מנסחים פונקציית עלות, ואת המדד הסטוכסטי שבתוכה משערכים בסימולציה.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‪A minimal example‬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דוגמה פשוטה: תור יחיד, שרת יחיד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29384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מה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קובע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את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ההמתנה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התפלגות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הזמנים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בין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הגעות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+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התפלגות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זמן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השירות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78658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102823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בין-הגעות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>
                <a:solidFill>
                  <a:srgbClr val="1A2433"/>
                </a:solidFill>
                <a:latin typeface="Calibri"/>
              </a:rPr>
              <a:t>Gamma(2, 2) 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: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סכום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שני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מעריכיים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בקצב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2 </a:t>
            </a:r>
            <a:r>
              <a:rPr lang="he-IL" sz="1500" dirty="0">
                <a:solidFill>
                  <a:srgbClr val="1A2433"/>
                </a:solidFill>
                <a:latin typeface="Calibri"/>
              </a:rPr>
              <a:t>כלומר התוחלת היא 1</a:t>
            </a:r>
            <a:endParaRPr sz="1500" b="0" i="0" dirty="0">
              <a:solidFill>
                <a:srgbClr val="1A2433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57200" y="4082796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822960" y="4150599"/>
                <a:ext cx="10515600" cy="803938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 rtl="1">
                  <a:lnSpc>
                    <a:spcPct val="105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lang="he-IL" sz="1800" b="1" i="0" dirty="0">
                    <a:solidFill>
                      <a:srgbClr val="1F3A5F"/>
                    </a:solidFill>
                    <a:latin typeface="Calibri"/>
                  </a:rPr>
                  <a:t>שירות  </a:t>
                </a:r>
              </a:p>
              <a:p>
                <a:pPr algn="r" rtl="1">
                  <a:lnSpc>
                    <a:spcPct val="105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lang="en-US" sz="1500" b="0" i="0" dirty="0">
                    <a:solidFill>
                      <a:srgbClr val="1A2433"/>
                    </a:solidFill>
                    <a:latin typeface="Calibri"/>
                  </a:rPr>
                  <a:t>Exponential </a:t>
                </a:r>
                <a:r>
                  <a:rPr lang="he-IL" sz="1500" b="0" i="0" dirty="0">
                    <a:solidFill>
                      <a:srgbClr val="1A2433"/>
                    </a:solidFill>
                    <a:latin typeface="Calibri"/>
                  </a:rPr>
                  <a:t>עם קצב 0.8: כלומר תוחלת היא </a:t>
                </a:r>
                <a14:m>
                  <m:oMath xmlns:m="http://schemas.openxmlformats.org/officeDocument/2006/math">
                    <m:r>
                      <a:rPr lang="he-IL" sz="1500" b="0" i="0" smtClean="0">
                        <a:solidFill>
                          <a:srgbClr val="1A2433"/>
                        </a:solidFill>
                        <a:latin typeface="Cambria Math" panose="02040503050406030204" pitchFamily="18" charset="0"/>
                      </a:rPr>
                      <m:t>1.25=</m:t>
                    </m:r>
                    <m:f>
                      <m:fPr>
                        <m:ctrlPr>
                          <a:rPr lang="he-IL" sz="1500" b="0" i="1" smtClean="0">
                            <a:solidFill>
                              <a:srgbClr val="1A243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he-IL" sz="1500" b="0" i="1" smtClean="0">
                            <a:solidFill>
                              <a:srgbClr val="1A24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he-IL" sz="1500" b="0" i="1" smtClean="0">
                            <a:solidFill>
                              <a:srgbClr val="1A2433"/>
                            </a:solidFill>
                            <a:latin typeface="Cambria Math" panose="02040503050406030204" pitchFamily="18" charset="0"/>
                          </a:rPr>
                          <m:t>0.8</m:t>
                        </m:r>
                      </m:den>
                    </m:f>
                  </m:oMath>
                </a14:m>
                <a:endParaRPr sz="1500" b="0" i="0" dirty="0">
                  <a:solidFill>
                    <a:srgbClr val="1A2433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4150599"/>
                <a:ext cx="10515600" cy="803938"/>
              </a:xfrm>
              <a:prstGeom prst="rect">
                <a:avLst/>
              </a:prstGeom>
              <a:blipFill>
                <a:blip r:embed="rId2"/>
                <a:stretch>
                  <a:fillRect t="-4545" r="-464" b="-2273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457200" y="5186933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311098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שימו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לב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np.random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מקבל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(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התוחלת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(1/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ולא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הקצב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עצמו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‪The four core KPIs‬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ארבעת המדדים שמהם נגזר הכל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86400" cy="4114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5486400" cy="5486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920239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זמן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4937760" cy="7214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 dirty="0">
                <a:solidFill>
                  <a:srgbClr val="1A2433"/>
                </a:solidFill>
                <a:latin typeface="Calibri"/>
              </a:rPr>
              <a:t>•  </a:t>
            </a:r>
            <a:r>
              <a:rPr sz="1600" b="0" i="0" dirty="0" err="1">
                <a:solidFill>
                  <a:srgbClr val="1A2433"/>
                </a:solidFill>
                <a:latin typeface="Calibri"/>
              </a:rPr>
              <a:t>Wq</a:t>
            </a:r>
            <a:r>
              <a:rPr sz="1600" b="0" i="0" dirty="0">
                <a:solidFill>
                  <a:srgbClr val="1A2433"/>
                </a:solidFill>
                <a:latin typeface="Calibri"/>
              </a:rPr>
              <a:t> —</a:t>
            </a:r>
            <a:r>
              <a:rPr lang="he-IL" sz="16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1A2433"/>
                </a:solidFill>
                <a:latin typeface="Calibri"/>
              </a:rPr>
              <a:t>זמן</a:t>
            </a:r>
            <a:r>
              <a:rPr sz="16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1A2433"/>
                </a:solidFill>
                <a:latin typeface="Calibri"/>
              </a:rPr>
              <a:t>המתנה</a:t>
            </a:r>
            <a:r>
              <a:rPr sz="16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1A2433"/>
                </a:solidFill>
                <a:latin typeface="Calibri"/>
              </a:rPr>
              <a:t>בתור</a:t>
            </a:r>
            <a:endParaRPr sz="1600" b="0" i="0" dirty="0">
              <a:solidFill>
                <a:srgbClr val="1A2433"/>
              </a:solidFill>
              <a:latin typeface="Calibr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 dirty="0">
                <a:solidFill>
                  <a:srgbClr val="1A2433"/>
                </a:solidFill>
                <a:latin typeface="Calibri"/>
              </a:rPr>
              <a:t>•  W —</a:t>
            </a:r>
            <a:r>
              <a:rPr lang="he-IL" sz="16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1A2433"/>
                </a:solidFill>
                <a:latin typeface="Calibri"/>
              </a:rPr>
              <a:t>זמן</a:t>
            </a:r>
            <a:r>
              <a:rPr sz="16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1A2433"/>
                </a:solidFill>
                <a:latin typeface="Calibri"/>
              </a:rPr>
              <a:t>שהייה</a:t>
            </a:r>
            <a:r>
              <a:rPr sz="1600" b="0" i="0" dirty="0">
                <a:solidFill>
                  <a:srgbClr val="1A2433"/>
                </a:solidFill>
                <a:latin typeface="Calibri"/>
              </a:rPr>
              <a:t> (</a:t>
            </a:r>
            <a:r>
              <a:rPr sz="1600" b="0" i="0" dirty="0" err="1">
                <a:solidFill>
                  <a:srgbClr val="1A2433"/>
                </a:solidFill>
                <a:latin typeface="Calibri"/>
              </a:rPr>
              <a:t>המתנה</a:t>
            </a:r>
            <a:r>
              <a:rPr sz="1600" b="0" i="0" dirty="0">
                <a:solidFill>
                  <a:srgbClr val="1A2433"/>
                </a:solidFill>
                <a:latin typeface="Calibri"/>
              </a:rPr>
              <a:t> + </a:t>
            </a:r>
            <a:r>
              <a:rPr sz="1600" b="0" i="0" dirty="0" err="1">
                <a:solidFill>
                  <a:srgbClr val="1A2433"/>
                </a:solidFill>
                <a:latin typeface="Calibri"/>
              </a:rPr>
              <a:t>שירות</a:t>
            </a:r>
            <a:r>
              <a:rPr sz="1600" b="0" i="0" dirty="0">
                <a:solidFill>
                  <a:srgbClr val="1A2433"/>
                </a:solidFill>
                <a:latin typeface="Calibri"/>
              </a:rPr>
              <a:t>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874519"/>
            <a:ext cx="5486400" cy="4114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45352" y="1874519"/>
            <a:ext cx="5486400" cy="54864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8232" y="1920239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אורך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60320"/>
            <a:ext cx="4937760" cy="7214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 dirty="0">
                <a:solidFill>
                  <a:srgbClr val="1A2433"/>
                </a:solidFill>
                <a:latin typeface="Calibri"/>
              </a:rPr>
              <a:t>•  </a:t>
            </a:r>
            <a:r>
              <a:rPr sz="1600" b="0" i="0" dirty="0" err="1">
                <a:solidFill>
                  <a:srgbClr val="1A2433"/>
                </a:solidFill>
                <a:latin typeface="Calibri"/>
              </a:rPr>
              <a:t>Lq</a:t>
            </a:r>
            <a:r>
              <a:rPr sz="1600" b="0" i="0" dirty="0">
                <a:solidFill>
                  <a:srgbClr val="1A2433"/>
                </a:solidFill>
                <a:latin typeface="Calibri"/>
              </a:rPr>
              <a:t> —</a:t>
            </a:r>
            <a:r>
              <a:rPr lang="he-IL" sz="16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1A2433"/>
                </a:solidFill>
                <a:latin typeface="Calibri"/>
              </a:rPr>
              <a:t>אורך</a:t>
            </a:r>
            <a:r>
              <a:rPr sz="16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1A2433"/>
                </a:solidFill>
                <a:latin typeface="Calibri"/>
              </a:rPr>
              <a:t>התור</a:t>
            </a:r>
            <a:endParaRPr sz="1600" b="0" i="0" dirty="0">
              <a:solidFill>
                <a:srgbClr val="1A2433"/>
              </a:solidFill>
              <a:latin typeface="Calibr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 dirty="0">
                <a:solidFill>
                  <a:srgbClr val="1A2433"/>
                </a:solidFill>
                <a:latin typeface="Calibri"/>
              </a:rPr>
              <a:t>•  L —</a:t>
            </a:r>
            <a:r>
              <a:rPr lang="he-IL" sz="16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1A2433"/>
                </a:solidFill>
                <a:latin typeface="Calibri"/>
              </a:rPr>
              <a:t>מספר</a:t>
            </a:r>
            <a:r>
              <a:rPr sz="16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1A2433"/>
                </a:solidFill>
                <a:latin typeface="Calibri"/>
              </a:rPr>
              <a:t>לקוחות</a:t>
            </a:r>
            <a:r>
              <a:rPr sz="16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1A2433"/>
                </a:solidFill>
                <a:latin typeface="Calibri"/>
              </a:rPr>
              <a:t>במערכת</a:t>
            </a:r>
            <a:r>
              <a:rPr sz="1600" b="0" i="0" dirty="0">
                <a:solidFill>
                  <a:srgbClr val="1A2433"/>
                </a:solidFill>
                <a:latin typeface="Calibri"/>
              </a:rPr>
              <a:t> (</a:t>
            </a:r>
            <a:r>
              <a:rPr sz="1600" b="0" i="0" dirty="0" err="1">
                <a:solidFill>
                  <a:srgbClr val="1A2433"/>
                </a:solidFill>
                <a:latin typeface="Calibri"/>
              </a:rPr>
              <a:t>תור</a:t>
            </a:r>
            <a:r>
              <a:rPr sz="1600" b="0" i="0" dirty="0">
                <a:solidFill>
                  <a:srgbClr val="1A2433"/>
                </a:solidFill>
                <a:latin typeface="Calibri"/>
              </a:rPr>
              <a:t> + </a:t>
            </a:r>
            <a:r>
              <a:rPr sz="1600" b="0" i="0" dirty="0" err="1">
                <a:solidFill>
                  <a:srgbClr val="1A2433"/>
                </a:solidFill>
                <a:latin typeface="Calibri"/>
              </a:rPr>
              <a:t>שירות</a:t>
            </a:r>
            <a:r>
              <a:rPr sz="1600" b="0" i="0" dirty="0">
                <a:solidFill>
                  <a:srgbClr val="1A2433"/>
                </a:solidFill>
                <a:latin typeface="Calibri"/>
              </a:rP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‪Simulation as an estimator‬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סימולציה כאומד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29384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מהו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אומד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?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פונקציה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הנתונים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שמשערכת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ערך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מסוים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—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למשל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ממוצע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משערך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תוחלת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78658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033522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מה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סימולציה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עושה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בפועל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משערכת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מדדים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תהליך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סטוכסטי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מהריצה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שלה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82796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206960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דוגמה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‪1‬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פרופורציית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הפעמים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שההמתנה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עברה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 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6 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—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אומד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ל 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P(Wₜ &gt; 6</a:t>
            </a:r>
            <a:r>
              <a:rPr lang="en-IL" sz="1500" b="0" i="0" dirty="0">
                <a:solidFill>
                  <a:srgbClr val="1A2433"/>
                </a:solidFill>
                <a:latin typeface="Calibri"/>
              </a:rPr>
              <a:t>)</a:t>
            </a:r>
            <a:r>
              <a:rPr lang="he-IL" sz="1500" dirty="0">
                <a:solidFill>
                  <a:srgbClr val="1A2433"/>
                </a:solidFill>
                <a:latin typeface="Calibri"/>
              </a:rPr>
              <a:t> </a:t>
            </a:r>
            <a:endParaRPr sz="1500" b="0" i="0" dirty="0">
              <a:solidFill>
                <a:srgbClr val="1A2433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7200" y="5186933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311098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דוגמה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‪2‬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פרופורציית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הזמן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שבה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יש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3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לקוחות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במערכת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—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אומד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ל-</a:t>
            </a:r>
            <a:r>
              <a:rPr lang="en-US" sz="1500" b="0" i="0" dirty="0">
                <a:solidFill>
                  <a:srgbClr val="1A2433"/>
                </a:solidFill>
                <a:latin typeface="Calibri"/>
              </a:rPr>
              <a:t>P(L=3)</a:t>
            </a:r>
            <a:endParaRPr sz="1500" b="0" i="0" dirty="0">
              <a:solidFill>
                <a:srgbClr val="1A2433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‪A natural question‬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מהו אומד טוב?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97280" y="2194560"/>
            <a:ext cx="9994392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091672" y="2194560"/>
            <a:ext cx="0" cy="3108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2377440"/>
            <a:ext cx="94457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1F3A5F"/>
                </a:solidFill>
                <a:latin typeface="Calibri"/>
              </a:rPr>
              <a:t>למה בוחרים דווקא בממוצע כדי לאמוד תוחלת?</a:t>
            </a:r>
          </a:p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1F3A5F"/>
                </a:solidFill>
                <a:latin typeface="Calibri"/>
              </a:rPr>
              <a:t>ולא, למשל, מקסימום או מינימום המדגם?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440680"/>
            <a:ext cx="94457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5A6B7B"/>
                </a:solidFill>
                <a:latin typeface="Calibri"/>
              </a:rPr>
              <a:t>נרצה שני קריטריונים בערכים נמוכים:</a:t>
            </a:r>
            <a:br/>
            <a:r>
              <a:rPr sz="1600" b="0" i="0">
                <a:solidFill>
                  <a:srgbClr val="5A6B7B"/>
                </a:solidFill>
                <a:latin typeface="Calibri"/>
              </a:rPr>
              <a:t>Bias ו-Variance.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‪Bias‬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 dirty="0" err="1">
                <a:solidFill>
                  <a:srgbClr val="1F3A5F"/>
                </a:solidFill>
                <a:latin typeface="Calibri"/>
              </a:rPr>
              <a:t>קריטריון</a:t>
            </a:r>
            <a:r>
              <a:rPr sz="2800" b="1" i="0" dirty="0">
                <a:solidFill>
                  <a:srgbClr val="1F3A5F"/>
                </a:solidFill>
                <a:latin typeface="Calibri"/>
              </a:rPr>
              <a:t> 1: </a:t>
            </a:r>
            <a:r>
              <a:rPr sz="2800" b="1" i="0" dirty="0" err="1">
                <a:solidFill>
                  <a:srgbClr val="1F3A5F"/>
                </a:solidFill>
                <a:latin typeface="Calibri"/>
              </a:rPr>
              <a:t>הטיה</a:t>
            </a:r>
            <a:r>
              <a:rPr lang="he-IL" sz="2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2800" b="1" i="0" dirty="0">
                <a:solidFill>
                  <a:srgbClr val="1F3A5F"/>
                </a:solidFill>
                <a:latin typeface="Calibri"/>
              </a:rPr>
              <a:t>(Bias)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97280" y="2194560"/>
            <a:ext cx="9994392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091672" y="2194560"/>
            <a:ext cx="0" cy="3108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2377440"/>
            <a:ext cx="94457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E86AB"/>
                </a:solidFill>
                <a:latin typeface="Calibri"/>
              </a:rPr>
              <a:t>‪bias(μ̂, μ) = E[μ̂] − μ‬</a:t>
            </a:r>
          </a:p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E86AB"/>
                </a:solidFill>
                <a:latin typeface="Calibri"/>
              </a:rPr>
              <a:t>אם ההטיה אפס — האומד 'פוגע' בממוצע בערך האמיתי.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440680"/>
            <a:ext cx="9445752" cy="14313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 dirty="0" err="1">
                <a:solidFill>
                  <a:srgbClr val="5A6B7B"/>
                </a:solidFill>
                <a:latin typeface="Calibri"/>
              </a:rPr>
              <a:t>דוגמה</a:t>
            </a:r>
            <a:r>
              <a:rPr sz="1600" b="0" i="0" dirty="0">
                <a:solidFill>
                  <a:srgbClr val="5A6B7B"/>
                </a:solidFill>
                <a:latin typeface="Calibri"/>
              </a:rPr>
              <a:t>: </a:t>
            </a:r>
            <a:r>
              <a:rPr sz="1600" b="0" i="0" dirty="0" err="1">
                <a:solidFill>
                  <a:srgbClr val="5A6B7B"/>
                </a:solidFill>
                <a:latin typeface="Calibri"/>
              </a:rPr>
              <a:t>ממוצע</a:t>
            </a:r>
            <a:r>
              <a:rPr sz="1600" b="0" i="0" dirty="0">
                <a:solidFill>
                  <a:srgbClr val="5A6B7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B7B"/>
                </a:solidFill>
                <a:latin typeface="Calibri"/>
              </a:rPr>
              <a:t>המדגם</a:t>
            </a:r>
            <a:br>
              <a:rPr dirty="0"/>
            </a:br>
            <a:r>
              <a:rPr sz="1600" b="0" i="0" dirty="0">
                <a:solidFill>
                  <a:srgbClr val="5A6B7B"/>
                </a:solidFill>
                <a:latin typeface="Calibri"/>
              </a:rPr>
              <a:t>x̄ = </a:t>
            </a:r>
            <a:r>
              <a:rPr sz="1600" b="0" i="0" dirty="0" err="1">
                <a:solidFill>
                  <a:srgbClr val="5A6B7B"/>
                </a:solidFill>
                <a:latin typeface="Calibri"/>
              </a:rPr>
              <a:t>Σx</a:t>
            </a:r>
            <a:r>
              <a:rPr sz="1600" b="0" i="0" dirty="0">
                <a:solidFill>
                  <a:srgbClr val="5A6B7B"/>
                </a:solidFill>
                <a:latin typeface="Calibri"/>
              </a:rPr>
              <a:t>ᵢ/n</a:t>
            </a:r>
            <a:br>
              <a:rPr dirty="0"/>
            </a:br>
            <a:r>
              <a:rPr sz="1600" b="0" i="0" dirty="0" err="1">
                <a:solidFill>
                  <a:srgbClr val="5A6B7B"/>
                </a:solidFill>
                <a:latin typeface="Calibri"/>
              </a:rPr>
              <a:t>מקיים</a:t>
            </a:r>
            <a:br>
              <a:rPr dirty="0"/>
            </a:br>
            <a:r>
              <a:rPr sz="1600" b="0" i="0" dirty="0">
                <a:solidFill>
                  <a:srgbClr val="5A6B7B"/>
                </a:solidFill>
                <a:latin typeface="Calibri"/>
              </a:rPr>
              <a:t>E[x̄] = μ</a:t>
            </a:r>
            <a:br>
              <a:rPr dirty="0"/>
            </a:br>
            <a:r>
              <a:rPr sz="1600" b="0" i="0" dirty="0" err="1">
                <a:solidFill>
                  <a:srgbClr val="5A6B7B"/>
                </a:solidFill>
                <a:latin typeface="Calibri"/>
              </a:rPr>
              <a:t>הוא</a:t>
            </a:r>
            <a:r>
              <a:rPr sz="1600" b="0" i="0" dirty="0">
                <a:solidFill>
                  <a:srgbClr val="5A6B7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B7B"/>
                </a:solidFill>
                <a:latin typeface="Calibri"/>
              </a:rPr>
              <a:t>חסר-הטיה</a:t>
            </a:r>
            <a:r>
              <a:rPr sz="1600" b="0" i="0" dirty="0">
                <a:solidFill>
                  <a:srgbClr val="5A6B7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‪Zero-bias demo‬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הדגמה: הטיה אפסית של ממוצע המדגם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ell1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4104" y="1828800"/>
            <a:ext cx="5523485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57589" y="2770632"/>
            <a:ext cx="2409698" cy="80817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 dirty="0">
                <a:solidFill>
                  <a:srgbClr val="5A6B7B"/>
                </a:solidFill>
                <a:latin typeface="Calibri"/>
              </a:rPr>
              <a:t>50 </a:t>
            </a:r>
            <a:r>
              <a:rPr sz="1500" b="0" i="1" dirty="0" err="1">
                <a:solidFill>
                  <a:srgbClr val="5A6B7B"/>
                </a:solidFill>
                <a:latin typeface="Calibri"/>
              </a:rPr>
              <a:t>ממוצעי</a:t>
            </a:r>
            <a:r>
              <a:rPr sz="1500" b="0" i="1" dirty="0">
                <a:solidFill>
                  <a:srgbClr val="5A6B7B"/>
                </a:solidFill>
                <a:latin typeface="Calibri"/>
              </a:rPr>
              <a:t> </a:t>
            </a:r>
            <a:r>
              <a:rPr sz="1500" b="0" i="1" dirty="0" err="1">
                <a:solidFill>
                  <a:srgbClr val="5A6B7B"/>
                </a:solidFill>
                <a:latin typeface="Calibri"/>
              </a:rPr>
              <a:t>מדגם</a:t>
            </a:r>
            <a:br>
              <a:rPr dirty="0"/>
            </a:br>
            <a:r>
              <a:rPr sz="1500" b="0" i="1" dirty="0">
                <a:solidFill>
                  <a:srgbClr val="5A6B7B"/>
                </a:solidFill>
                <a:latin typeface="Calibri"/>
              </a:rPr>
              <a:t>(n=10,000)</a:t>
            </a:r>
            <a:br>
              <a:rPr dirty="0"/>
            </a:br>
            <a:r>
              <a:rPr sz="1500" b="0" i="1" dirty="0">
                <a:solidFill>
                  <a:srgbClr val="5A6B7B"/>
                </a:solidFill>
                <a:latin typeface="Calibri"/>
              </a:rPr>
              <a:t>ש</a:t>
            </a:r>
            <a:r>
              <a:rPr lang="he-IL" sz="1500" b="0" i="1" dirty="0">
                <a:solidFill>
                  <a:srgbClr val="5A6B7B"/>
                </a:solidFill>
                <a:latin typeface="Calibri"/>
              </a:rPr>
              <a:t>ל</a:t>
            </a:r>
            <a:r>
              <a:rPr lang="en-US" sz="1500" b="0" i="1" dirty="0">
                <a:solidFill>
                  <a:srgbClr val="5A6B7B"/>
                </a:solidFill>
                <a:latin typeface="Calibri"/>
              </a:rPr>
              <a:t> uni</a:t>
            </a:r>
            <a:r>
              <a:rPr sz="1500" b="0" i="1" dirty="0">
                <a:solidFill>
                  <a:srgbClr val="5A6B7B"/>
                </a:solidFill>
                <a:latin typeface="Calibri"/>
              </a:rPr>
              <a:t>form(0.8, 1.2)</a:t>
            </a:r>
            <a:r>
              <a:rPr lang="en-US" sz="1500" b="0" i="1" dirty="0">
                <a:solidFill>
                  <a:srgbClr val="5A6B7B"/>
                </a:solidFill>
                <a:latin typeface="Calibri"/>
              </a:rPr>
              <a:t> </a:t>
            </a:r>
            <a:endParaRPr sz="1500" b="0" i="1" dirty="0">
              <a:solidFill>
                <a:srgbClr val="5A6B7B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097280" y="5806440"/>
            <a:ext cx="9994392" cy="548640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5833872"/>
            <a:ext cx="9445752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3A5F"/>
                </a:solidFill>
                <a:latin typeface="Calibri"/>
              </a:rPr>
              <a:t>הממוצעים מתפזרים סביב הערך האמיתי בדיוק — זה מה שאומר 'חסר הטיה'.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‪Variance‬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8724" y="749808"/>
            <a:ext cx="11274552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 dirty="0" err="1">
                <a:solidFill>
                  <a:srgbClr val="1F3A5F"/>
                </a:solidFill>
                <a:latin typeface="Calibri"/>
              </a:rPr>
              <a:t>קריטריון</a:t>
            </a:r>
            <a:r>
              <a:rPr sz="2800" b="1" i="0" dirty="0">
                <a:solidFill>
                  <a:srgbClr val="1F3A5F"/>
                </a:solidFill>
                <a:latin typeface="Calibri"/>
              </a:rPr>
              <a:t> 2 </a:t>
            </a:r>
            <a:r>
              <a:rPr lang="he-IL" sz="2800" b="1" i="0" dirty="0">
                <a:solidFill>
                  <a:srgbClr val="1F3A5F"/>
                </a:solidFill>
                <a:latin typeface="Calibri"/>
              </a:rPr>
              <a:t>: </a:t>
            </a:r>
            <a:r>
              <a:rPr sz="2800" b="1" i="0" dirty="0" err="1">
                <a:solidFill>
                  <a:srgbClr val="1F3A5F"/>
                </a:solidFill>
                <a:latin typeface="Calibri"/>
              </a:rPr>
              <a:t>שונות</a:t>
            </a:r>
            <a:r>
              <a:rPr lang="he-IL" sz="2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2800" b="1" i="0" dirty="0">
                <a:solidFill>
                  <a:srgbClr val="1F3A5F"/>
                </a:solidFill>
                <a:latin typeface="Calibri"/>
              </a:rPr>
              <a:t>(Variance)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97280" y="2194560"/>
            <a:ext cx="9994392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091672" y="2194560"/>
            <a:ext cx="0" cy="3108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2377440"/>
            <a:ext cx="94457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E86AB"/>
                </a:solidFill>
                <a:latin typeface="Calibri"/>
              </a:rPr>
              <a:t>‪Var[x̄] = Var[Σ Xᵢ/n] = σ²/n‬</a:t>
            </a:r>
          </a:p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E86AB"/>
                </a:solidFill>
                <a:latin typeface="Calibri"/>
              </a:rPr>
              <a:t>השונות של האומד קטנה ככל שגודל המדגם</a:t>
            </a:r>
            <a:br/>
            <a:r>
              <a:rPr sz="2600" b="1" i="0">
                <a:solidFill>
                  <a:srgbClr val="2E86AB"/>
                </a:solidFill>
                <a:latin typeface="Calibri"/>
              </a:rPr>
              <a:t>n</a:t>
            </a:r>
            <a:br/>
            <a:r>
              <a:rPr sz="2600" b="1" i="0">
                <a:solidFill>
                  <a:srgbClr val="2E86AB"/>
                </a:solidFill>
                <a:latin typeface="Calibri"/>
              </a:rPr>
              <a:t>גדל.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440680"/>
            <a:ext cx="94457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5A6B7B"/>
                </a:solidFill>
                <a:latin typeface="Calibri"/>
              </a:rPr>
              <a:t>שונות קטנה = אומד יציב ומדויק יותר.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‪Variance shrinks with n‬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הדגמה: השונות קטנה עם גודל המדגם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ell15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2253" y="1828800"/>
            <a:ext cx="4967188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745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B7B"/>
                </a:solidFill>
                <a:latin typeface="Calibri"/>
              </a:rPr>
              <a:t>ממוצעי מדגם של אותה התפלגות, עבור גדלי מדגם ‪10, 100‬ ו-1,000.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5806440"/>
            <a:ext cx="9994392" cy="548640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5833872"/>
            <a:ext cx="9445752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3A5F"/>
                </a:solidFill>
                <a:latin typeface="Calibri"/>
              </a:rPr>
              <a:t>ככל שכל ממוצע מבוסס על יותר תצפיות — הפיזור סביב הערך האמיתי מצטמצם.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‪Bias–variance trade-off‬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 dirty="0">
                <a:solidFill>
                  <a:srgbClr val="1F3A5F"/>
                </a:solidFill>
                <a:latin typeface="Calibri"/>
              </a:rPr>
              <a:t>MSE:</a:t>
            </a:r>
            <a:r>
              <a:rPr lang="he-IL" sz="2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2800" b="1" i="0" dirty="0" err="1">
                <a:solidFill>
                  <a:srgbClr val="1F3A5F"/>
                </a:solidFill>
                <a:latin typeface="Calibri"/>
              </a:rPr>
              <a:t>לאחד</a:t>
            </a:r>
            <a:r>
              <a:rPr sz="2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2800" b="1" i="0" dirty="0" err="1">
                <a:solidFill>
                  <a:srgbClr val="1F3A5F"/>
                </a:solidFill>
                <a:latin typeface="Calibri"/>
              </a:rPr>
              <a:t>הטיה</a:t>
            </a:r>
            <a:r>
              <a:rPr sz="2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2800" b="1" i="0" dirty="0" err="1">
                <a:solidFill>
                  <a:srgbClr val="1F3A5F"/>
                </a:solidFill>
                <a:latin typeface="Calibri"/>
              </a:rPr>
              <a:t>ושונות</a:t>
            </a:r>
            <a:r>
              <a:rPr sz="2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2800" b="1" i="0" dirty="0" err="1">
                <a:solidFill>
                  <a:srgbClr val="1F3A5F"/>
                </a:solidFill>
                <a:latin typeface="Calibri"/>
              </a:rPr>
              <a:t>למדד</a:t>
            </a:r>
            <a:r>
              <a:rPr sz="2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2800" b="1" i="0" dirty="0" err="1">
                <a:solidFill>
                  <a:srgbClr val="1F3A5F"/>
                </a:solidFill>
                <a:latin typeface="Calibri"/>
              </a:rPr>
              <a:t>אחד</a:t>
            </a:r>
            <a:endParaRPr sz="2800" b="1" i="0" dirty="0">
              <a:solidFill>
                <a:srgbClr val="1F3A5F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510" y="1929383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ההגדרה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>
                <a:solidFill>
                  <a:srgbClr val="1A2433"/>
                </a:solidFill>
                <a:latin typeface="Calibri"/>
              </a:rPr>
              <a:t>‪MSE(θ̂) = E[(θ − θ̂)²] = Bias(θ̂)² + Var(θ̂)‬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78658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7200" y="4082796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94410" y="4192524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בקורס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הזה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נעבוד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רק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עם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אומדים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חסרי-הטיה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ונקטין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שונות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ע"י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הרצות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ארוכות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יותר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E1FA17-5C5D-BB5D-22F1-906EC94485EA}"/>
              </a:ext>
            </a:extLst>
          </p:cNvPr>
          <p:cNvSpPr txBox="1"/>
          <p:nvPr/>
        </p:nvSpPr>
        <p:spPr>
          <a:xfrm>
            <a:off x="905510" y="3208772"/>
            <a:ext cx="10515600" cy="3695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lang="he-IL" sz="1800" b="1" i="0" dirty="0">
                <a:solidFill>
                  <a:srgbClr val="1F3A5F"/>
                </a:solidFill>
                <a:latin typeface="Calibri"/>
              </a:rPr>
              <a:t>דוגמת אומדים לשונות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  <p:bldP spid="1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‪Method‬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בדיקת שונות האומד באורכי סימולציה שונים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1143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29384"/>
            <a:ext cx="10515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השיטה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מריצים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אותה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סימולציה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כמה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פעמים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ובודקים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כמה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התוצאות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משתנות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82111"/>
            <a:ext cx="11274552" cy="1143000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236975"/>
            <a:ext cx="10515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כאן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>
                <a:solidFill>
                  <a:srgbClr val="1A2433"/>
                </a:solidFill>
                <a:latin typeface="Calibri"/>
              </a:rPr>
              <a:t>‪10‬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חזרות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בכל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אחד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משלושה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אורכי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סימולציה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: ‪2,500 · 50,000 · 500,000‬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הגעות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9704"/>
            <a:ext cx="11274552" cy="1143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544568"/>
            <a:ext cx="10515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המדד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תוחלת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זמן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ההמתנה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המשוערכת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בכל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חזרה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‪Result‬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תוצאת ההשוואה: סימולציה ארוכה יותר = אומד מדויק יותר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ell2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2253" y="1828800"/>
            <a:ext cx="4967188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745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B7B"/>
                </a:solidFill>
                <a:latin typeface="Calibri"/>
              </a:rPr>
              <a:t>תוחלת ההמתנה המשוערכת ב-10 חזרות, עבור כל אחד משלושת אורכי הסימולציה.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‪Accuracy vs. runtime‬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המחיר: זמן ריצה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98685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>
                <a:solidFill>
                  <a:srgbClr val="1F3A5F"/>
                </a:solidFill>
                <a:latin typeface="Calibri"/>
              </a:rPr>
              <a:t>‪</a:t>
            </a:r>
            <a:r>
              <a:rPr lang="en-US"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2,500‬ </a:t>
            </a:r>
            <a:r>
              <a:rPr lang="en-US"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הגעות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פחות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משנייה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עבור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‪</a:t>
            </a:r>
            <a:r>
              <a:rPr lang="en-US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10</a:t>
            </a:r>
            <a:r>
              <a:rPr lang="en-US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‬ </a:t>
            </a:r>
            <a:r>
              <a:rPr lang="en-US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סימולציות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78658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102823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‪50,000‬ </a:t>
            </a:r>
            <a:r>
              <a:rPr lang="en-US"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הגעות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>
                <a:solidFill>
                  <a:srgbClr val="1A2433"/>
                </a:solidFill>
                <a:latin typeface="Calibri"/>
              </a:rPr>
              <a:t>כ-13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שניות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עבור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‪10‬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סימולציות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82796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206960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>
                <a:solidFill>
                  <a:srgbClr val="1F3A5F"/>
                </a:solidFill>
                <a:latin typeface="Calibri"/>
              </a:rPr>
              <a:t>‪</a:t>
            </a:r>
            <a:r>
              <a:rPr lang="en-US"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500,000‬ </a:t>
            </a:r>
            <a:r>
              <a:rPr lang="en-US"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הגעות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>
                <a:solidFill>
                  <a:srgbClr val="1A2433"/>
                </a:solidFill>
                <a:latin typeface="Calibri"/>
              </a:rPr>
              <a:t>כ-2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דקות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ו-14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שניות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עבור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‪</a:t>
            </a:r>
            <a:r>
              <a:rPr lang="en-US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10‬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סימולציות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186933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241797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המסקנה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דיוק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גבוה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יותר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בא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במחיר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זמן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ריצה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—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צריך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לאזן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ביניהם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‪Choosing run length‬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אז כמה זמן באמת מריצים?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1143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29384"/>
            <a:ext cx="10515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אין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אמת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מוחלטת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קביעת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אורך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הסימולציה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היא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תמיד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החלטה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לא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נוסחה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קבועה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82111"/>
            <a:ext cx="11274552" cy="1143000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236975"/>
            <a:ext cx="10515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הדרך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המקובלת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מחשבים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רווח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סמך</a:t>
            </a:r>
            <a:br>
              <a:rPr dirty="0"/>
            </a:br>
            <a:r>
              <a:rPr sz="1500" b="0" i="0" dirty="0">
                <a:solidFill>
                  <a:srgbClr val="1A2433"/>
                </a:solidFill>
                <a:latin typeface="Calibri"/>
              </a:rPr>
              <a:t>(CI)</a:t>
            </a:r>
            <a:br>
              <a:rPr dirty="0"/>
            </a:br>
            <a:r>
              <a:rPr sz="1500" b="0" i="0" dirty="0" err="1">
                <a:solidFill>
                  <a:srgbClr val="1A2433"/>
                </a:solidFill>
                <a:latin typeface="Calibri"/>
              </a:rPr>
              <a:t>ומחליטים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מהו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הרוחב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המרבי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שנהיה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מוכנים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לקבל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9704"/>
            <a:ext cx="11274552" cy="1143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544568"/>
            <a:ext cx="10515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התוצאה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שלנו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ככל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שהסימולציה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ארוכה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יותר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—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רווח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הסמך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צר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יותר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כמצופה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‪Confidence interval · R = 10 replications‬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he-IL" sz="2800" b="1" i="0">
                <a:solidFill>
                  <a:srgbClr val="1F3A5F"/>
                </a:solidFill>
                <a:latin typeface="Calibri"/>
                <a:cs typeface="Calibri"/>
              </a:rPr>
              <a:t>רווח סמך לתוחלת זמן ההמתנה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i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171" y="1783080"/>
            <a:ext cx="5601353" cy="1828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3794760"/>
            <a:ext cx="10543032" cy="71627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3822192"/>
            <a:ext cx="9966960" cy="661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he-IL" sz="1600" b="1" i="0">
                <a:solidFill>
                  <a:srgbClr val="1F3A5F"/>
                </a:solidFill>
                <a:latin typeface="Calibri"/>
                <a:cs typeface="Calibri"/>
              </a:rPr>
              <a:t>החזרות  </a:t>
            </a:r>
            <a:r>
              <a:rPr lang="he-IL" sz="1400" b="0" i="0">
                <a:solidFill>
                  <a:srgbClr val="1A2433"/>
                </a:solidFill>
                <a:latin typeface="Calibri"/>
                <a:cs typeface="Calibri"/>
              </a:rPr>
              <a:t>לכל אורך סימולציה יש 10 חזרות בלתי תלויות, וכל חזרה נותנת ממוצע המתנה אחד.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48200"/>
            <a:ext cx="10543032" cy="716279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4675632"/>
            <a:ext cx="9966960" cy="661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he-IL" sz="1600" b="1" i="0">
                <a:solidFill>
                  <a:srgbClr val="1F3A5F"/>
                </a:solidFill>
                <a:latin typeface="Calibri"/>
                <a:cs typeface="Calibri"/>
              </a:rPr>
              <a:t>רמת ביטחון  </a:t>
            </a:r>
            <a:r>
              <a:rPr lang="he-IL" sz="1400" b="0" i="0">
                <a:solidFill>
                  <a:srgbClr val="1A2433"/>
                </a:solidFill>
                <a:latin typeface="Calibri"/>
                <a:cs typeface="Calibri"/>
              </a:rPr>
              <a:t>95% , עם ערך קריטי מהתפלגות סטודנט עם 9 דרגות חופש.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501640"/>
            <a:ext cx="10543032" cy="71627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5529072"/>
            <a:ext cx="9966960" cy="661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he-IL" sz="1600" b="1" i="0">
                <a:solidFill>
                  <a:srgbClr val="1F3A5F"/>
                </a:solidFill>
                <a:latin typeface="Calibri"/>
                <a:cs typeface="Calibri"/>
              </a:rPr>
              <a:t>מה מודדים  </a:t>
            </a:r>
            <a:r>
              <a:rPr lang="he-IL" sz="1400" b="0" i="0">
                <a:solidFill>
                  <a:srgbClr val="1A2433"/>
                </a:solidFill>
                <a:latin typeface="Calibri"/>
                <a:cs typeface="Calibri"/>
              </a:rPr>
              <a:t>את אורך רווח הסמך: ככל שהוא קצר יותר, האומד מדויק יותר.</a:t>
            </a:r>
          </a:p>
        </p:txBody>
      </p:sp>
    </p:spTree>
    <p:extLst>
      <p:ext uri="{BB962C8B-B14F-4D97-AF65-F5344CB8AC3E}">
        <p14:creationId xmlns:p14="http://schemas.microsoft.com/office/powerpoint/2010/main" val="6377442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‪CI length vs. run length‬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he-IL" sz="2800" b="1" i="0">
                <a:solidFill>
                  <a:srgbClr val="1F3A5F"/>
                </a:solidFill>
                <a:latin typeface="Calibri"/>
                <a:cs typeface="Calibri"/>
              </a:rPr>
              <a:t>אורך רווח הסמך כפונקציה של אורך הסימולציה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i_leng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317" y="1828800"/>
            <a:ext cx="7343059" cy="374903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97280" y="5669279"/>
            <a:ext cx="9994392" cy="548640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5696712"/>
            <a:ext cx="9445752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he-IL" sz="1400" b="0" i="0">
                <a:solidFill>
                  <a:srgbClr val="1F3A5F"/>
                </a:solidFill>
                <a:latin typeface="Calibri"/>
                <a:cs typeface="Calibri"/>
              </a:rPr>
              <a:t>פי 200 יותר הגעות מצמצמים את רווח הסמך פי 13 בערך, קרוב לכלל השורש: פי 14.</a:t>
            </a:r>
          </a:p>
        </p:txBody>
      </p:sp>
    </p:spTree>
    <p:extLst>
      <p:ext uri="{BB962C8B-B14F-4D97-AF65-F5344CB8AC3E}">
        <p14:creationId xmlns:p14="http://schemas.microsoft.com/office/powerpoint/2010/main" val="7767563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A7A42-0A92-F93C-BB05-6D9DFAABD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242595-07BC-1FEE-7943-2311956C8C7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D61E7D-D8F1-877B-C37B-8BDA565A297F}"/>
              </a:ext>
            </a:extLst>
          </p:cNvPr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‪Choosing run length‬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5DE0A2-B11A-9100-D157-3D6AC8EEA3E7}"/>
              </a:ext>
            </a:extLst>
          </p:cNvPr>
          <p:cNvSpPr txBox="1"/>
          <p:nvPr/>
        </p:nvSpPr>
        <p:spPr>
          <a:xfrm>
            <a:off x="457200" y="749808"/>
            <a:ext cx="11274552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he-IL" sz="2800" b="1" dirty="0">
                <a:solidFill>
                  <a:srgbClr val="1F3A5F"/>
                </a:solidFill>
                <a:latin typeface="Calibri"/>
              </a:rPr>
              <a:t>מהו הדיוק הנדרש?</a:t>
            </a:r>
            <a:endParaRPr sz="2800" b="1" i="0" dirty="0">
              <a:solidFill>
                <a:srgbClr val="1F3A5F"/>
              </a:solidFill>
              <a:latin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575A51-3817-E3AB-1D55-59CC2BC145AE}"/>
              </a:ext>
            </a:extLst>
          </p:cNvPr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0ECF679-E624-696B-9618-C6010FF28FFB}"/>
              </a:ext>
            </a:extLst>
          </p:cNvPr>
          <p:cNvSpPr/>
          <p:nvPr/>
        </p:nvSpPr>
        <p:spPr>
          <a:xfrm>
            <a:off x="457200" y="1874519"/>
            <a:ext cx="11274552" cy="1143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B93AA0-3A08-27E2-F7DA-B4A828185E49}"/>
              </a:ext>
            </a:extLst>
          </p:cNvPr>
          <p:cNvSpPr txBox="1"/>
          <p:nvPr/>
        </p:nvSpPr>
        <p:spPr>
          <a:xfrm>
            <a:off x="822960" y="2100412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lang="he-IL" b="1" dirty="0">
                <a:solidFill>
                  <a:srgbClr val="1F3A5F"/>
                </a:solidFill>
                <a:latin typeface="Calibri"/>
              </a:rPr>
              <a:t>אין ערך אחד מקובל על כולם</a:t>
            </a:r>
            <a:endParaRPr sz="1800" b="1" i="0" dirty="0">
              <a:solidFill>
                <a:srgbClr val="1F3A5F"/>
              </a:solidFill>
              <a:latin typeface="Calibri"/>
            </a:endParaRP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lang="he-IL" sz="1500" dirty="0">
                <a:solidFill>
                  <a:srgbClr val="1A2433"/>
                </a:solidFill>
                <a:latin typeface="Calibri"/>
              </a:rPr>
              <a:t>תלוי במטרת הסימולציה</a:t>
            </a:r>
            <a:endParaRPr sz="1500" b="0" i="0" dirty="0">
              <a:solidFill>
                <a:srgbClr val="1A2433"/>
              </a:solidFill>
              <a:latin typeface="Calibri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9F86A39-4CBD-F39E-D093-FCE810D74959}"/>
              </a:ext>
            </a:extLst>
          </p:cNvPr>
          <p:cNvSpPr/>
          <p:nvPr/>
        </p:nvSpPr>
        <p:spPr>
          <a:xfrm>
            <a:off x="457200" y="3182110"/>
            <a:ext cx="11274552" cy="2355089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26286A-C37B-3BAE-4C08-3E350677BBC4}"/>
              </a:ext>
            </a:extLst>
          </p:cNvPr>
          <p:cNvSpPr txBox="1"/>
          <p:nvPr/>
        </p:nvSpPr>
        <p:spPr>
          <a:xfrm>
            <a:off x="1007110" y="3456247"/>
            <a:ext cx="10515600" cy="1331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lang="he-IL" b="1" dirty="0">
                <a:solidFill>
                  <a:srgbClr val="1F3A5F"/>
                </a:solidFill>
                <a:latin typeface="Calibri"/>
              </a:rPr>
              <a:t>מטרות סימולציה שונות:</a:t>
            </a:r>
          </a:p>
          <a:p>
            <a:pPr marL="285750" indent="-285750"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e-IL" sz="1500" b="1" dirty="0">
                <a:solidFill>
                  <a:srgbClr val="1F3A5F"/>
                </a:solidFill>
                <a:latin typeface="Calibri"/>
              </a:rPr>
              <a:t>חישובית</a:t>
            </a:r>
          </a:p>
          <a:p>
            <a:pPr marL="285750" indent="-285750"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e-IL" sz="1500" b="1" i="0" dirty="0">
                <a:solidFill>
                  <a:srgbClr val="1F3A5F"/>
                </a:solidFill>
                <a:latin typeface="Calibri"/>
              </a:rPr>
              <a:t>אופטימיזציה דיסקרטית</a:t>
            </a:r>
          </a:p>
          <a:p>
            <a:pPr marL="285750" indent="-285750"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e-IL" sz="1500" b="1" dirty="0">
                <a:solidFill>
                  <a:srgbClr val="1F3A5F"/>
                </a:solidFill>
                <a:latin typeface="Calibri"/>
              </a:rPr>
              <a:t>אופטימזיציה רציפה</a:t>
            </a:r>
            <a:endParaRPr sz="1500" b="0" i="0" dirty="0">
              <a:solidFill>
                <a:srgbClr val="1A2433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19061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‪Kendall notation‬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 dirty="0" err="1">
                <a:solidFill>
                  <a:srgbClr val="1F3A5F"/>
                </a:solidFill>
                <a:latin typeface="Calibri"/>
              </a:rPr>
              <a:t>שפה</a:t>
            </a:r>
            <a:r>
              <a:rPr sz="2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2800" b="1" i="0" dirty="0" err="1">
                <a:solidFill>
                  <a:srgbClr val="1F3A5F"/>
                </a:solidFill>
                <a:latin typeface="Calibri"/>
              </a:rPr>
              <a:t>משותפת</a:t>
            </a:r>
            <a:r>
              <a:rPr sz="2800" b="1" i="0" dirty="0">
                <a:solidFill>
                  <a:srgbClr val="1F3A5F"/>
                </a:solidFill>
                <a:latin typeface="Calibri"/>
              </a:rPr>
              <a:t>: </a:t>
            </a:r>
            <a:r>
              <a:rPr sz="2800" b="1" i="0" dirty="0" err="1">
                <a:solidFill>
                  <a:srgbClr val="1F3A5F"/>
                </a:solidFill>
                <a:latin typeface="Calibri"/>
              </a:rPr>
              <a:t>סימון</a:t>
            </a:r>
            <a:r>
              <a:rPr lang="en-US" sz="2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2800" b="1" i="0" dirty="0">
                <a:solidFill>
                  <a:srgbClr val="1F3A5F"/>
                </a:solidFill>
                <a:latin typeface="Calibri"/>
              </a:rPr>
              <a:t>Kendall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1230" y="1974954"/>
            <a:ext cx="10515600" cy="614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תור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יחיד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כללי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GI/GI/1 —</a:t>
            </a:r>
            <a:br>
              <a:rPr dirty="0"/>
            </a:br>
            <a:r>
              <a:rPr sz="1500" b="0" i="0" dirty="0" err="1">
                <a:solidFill>
                  <a:srgbClr val="1A2433"/>
                </a:solidFill>
                <a:latin typeface="Calibri"/>
              </a:rPr>
              <a:t>תהליכי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הגעה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ושירות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כלליים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שרת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יחיד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78658"/>
            <a:ext cx="11274552" cy="1381850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9977" y="3049009"/>
            <a:ext cx="10515600" cy="114749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הצורה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הכללית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lang="he-IL"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lang="en-US" sz="1800" b="1" i="0" dirty="0">
                <a:solidFill>
                  <a:srgbClr val="1F3A5F"/>
                </a:solidFill>
                <a:latin typeface="Calibri"/>
              </a:rPr>
              <a:t>A/S/c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br>
              <a:rPr lang="en-IL" dirty="0"/>
            </a:br>
            <a:r>
              <a:rPr lang="en-US" dirty="0"/>
              <a:t>  - </a:t>
            </a:r>
            <a:r>
              <a:rPr lang="en-US" dirty="0" err="1"/>
              <a:t>A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תהליך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הגעה</a:t>
            </a:r>
            <a:br>
              <a:rPr dirty="0"/>
            </a:br>
            <a:r>
              <a:rPr sz="1500" b="0" i="0" dirty="0">
                <a:solidFill>
                  <a:srgbClr val="1A2433"/>
                </a:solidFill>
                <a:latin typeface="Calibri"/>
              </a:rPr>
              <a:t>S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lang="en-US" sz="1500" b="0" i="0" dirty="0">
                <a:solidFill>
                  <a:srgbClr val="1A2433"/>
                </a:solidFill>
                <a:latin typeface="Calibri"/>
              </a:rPr>
              <a:t> -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תהליך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שירות</a:t>
            </a:r>
            <a:br>
              <a:rPr dirty="0"/>
            </a:br>
            <a:r>
              <a:rPr sz="1500" b="0" i="0" dirty="0">
                <a:solidFill>
                  <a:srgbClr val="1A2433"/>
                </a:solidFill>
                <a:latin typeface="Calibri"/>
              </a:rPr>
              <a:t>c</a:t>
            </a:r>
            <a:r>
              <a:rPr lang="en-US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lang="en-US" sz="1500" b="0" i="0" dirty="0">
                <a:solidFill>
                  <a:srgbClr val="1A2433"/>
                </a:solidFill>
                <a:latin typeface="Calibri"/>
              </a:rPr>
              <a:t> -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מספר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שרתים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48036"/>
            <a:ext cx="11274552" cy="1968673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240591" y="4739139"/>
            <a:ext cx="2234985" cy="1272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שלוש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אותיות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נפוצות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>
                <a:solidFill>
                  <a:srgbClr val="1A2433"/>
                </a:solidFill>
                <a:latin typeface="Calibri"/>
              </a:rPr>
              <a:t>M</a:t>
            </a:r>
            <a:r>
              <a:rPr lang="en-US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-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מרקובי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lang="he-IL" sz="1500" dirty="0">
                <a:solidFill>
                  <a:srgbClr val="1A2433"/>
                </a:solidFill>
                <a:latin typeface="Calibri"/>
              </a:rPr>
              <a:t>או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מעריכי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·</a:t>
            </a:r>
            <a:br>
              <a:rPr dirty="0"/>
            </a:br>
            <a:r>
              <a:rPr lang="en-US" dirty="0"/>
              <a:t>  - 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GI</a:t>
            </a:r>
            <a:r>
              <a:rPr lang="en-US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כללי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ובלתי-תלוי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·</a:t>
            </a:r>
            <a:br>
              <a:rPr dirty="0"/>
            </a:br>
            <a:r>
              <a:rPr lang="en-US" dirty="0"/>
              <a:t> - 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G</a:t>
            </a:r>
            <a:r>
              <a:rPr lang="en-US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כללי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עם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קורלציות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0985" y="4817700"/>
            <a:ext cx="2813583" cy="935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שרתים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לא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הומוגניים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אם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לכל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שרת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התפלגות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שירות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שונה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:</a:t>
            </a:r>
            <a:br>
              <a:rPr dirty="0"/>
            </a:br>
            <a:r>
              <a:rPr sz="1500" b="0" i="0" dirty="0">
                <a:solidFill>
                  <a:srgbClr val="1A2433"/>
                </a:solidFill>
                <a:latin typeface="Calibri"/>
              </a:rPr>
              <a:t>GI/GIᵢ/c.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1287</Words>
  <Application>Microsoft Office PowerPoint</Application>
  <PresentationFormat>Widescreen</PresentationFormat>
  <Paragraphs>171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אלירן שרצר/Eliran Sherzer</cp:lastModifiedBy>
  <cp:revision>9</cp:revision>
  <dcterms:created xsi:type="dcterms:W3CDTF">2013-01-27T09:14:16Z</dcterms:created>
  <dcterms:modified xsi:type="dcterms:W3CDTF">2026-10-26T17:15:52Z</dcterms:modified>
  <cp:category/>
</cp:coreProperties>
</file>