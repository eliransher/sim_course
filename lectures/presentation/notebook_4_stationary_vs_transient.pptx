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72" r:id="rId15"/>
    <p:sldId id="273" r:id="rId16"/>
    <p:sldId id="268" r:id="rId17"/>
    <p:sldId id="269" r:id="rId18"/>
    <p:sldId id="27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82296"/>
          </a:xfrm>
          <a:prstGeom prst="rect">
            <a:avLst/>
          </a:prstGeom>
          <a:solidFill>
            <a:srgbClr val="E07A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058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000" b="0" i="0">
                <a:solidFill>
                  <a:srgbClr val="9FC0D8"/>
                </a:solidFill>
                <a:latin typeface="Calibri"/>
                <a:cs typeface="Calibri"/>
              </a:rPr>
              <a:t>סימולציה של אירועים בדידים לניתוח מערכות תורים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1" i="0">
                <a:solidFill>
                  <a:srgbClr val="E07A2F"/>
                </a:solidFill>
                <a:latin typeface="Calibri"/>
                <a:cs typeface="Calibri"/>
              </a:rPr>
              <a:t>שיעור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10360152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4000" b="1" i="0">
                <a:solidFill>
                  <a:srgbClr val="FFFFFF"/>
                </a:solidFill>
                <a:latin typeface="Calibri"/>
                <a:cs typeface="Calibri"/>
              </a:rPr>
              <a:t>שלב טרנזיאנטי ושלב סטציונרי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26280"/>
            <a:ext cx="10360152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000" b="0" i="0">
                <a:solidFill>
                  <a:srgbClr val="C7D8E6"/>
                </a:solidFill>
                <a:latin typeface="Calibri"/>
                <a:cs typeface="Calibri"/>
              </a:rPr>
              <a:t>מתי מדדי התור מתייצבים, ואיך מזהים את תקופת החימום בסימולציה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‪Lesson 4 · Transient vs. stationary‬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 dirty="0">
                <a:solidFill>
                  <a:srgbClr val="1F3A5F"/>
                </a:solidFill>
                <a:latin typeface="Calibri"/>
                <a:cs typeface="Calibri"/>
              </a:rPr>
              <a:t>מה נעשה היום?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האם זמן ההמתנה קבוע בזמן?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מוטיבציה מחיי היומיום.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5783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81269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ארגודיות ונצילות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מתי מערכת תורים מגיעה למצב יציב.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4114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54154"/>
            <a:ext cx="10515600" cy="692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טרנזיאנטי מול סטציונרי  (מה זה בכלל טרנזיאנטי וסטציונרי???)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איך נראית ההתכנסות בפועל, בסימולציה של תור יחיד.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2445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57931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כמות החזרות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איך מספר החזרות משפיע על דיוק התמונה.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776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46262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‪Warm-up period‬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מה עושים עם השלב הטרנזיאנטי, וכללי אצבע פרקטיים.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4 · שלב טרנזיאנטי ושלב סטציונרי  ·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‪Motivation‬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מתי תחכו יותר?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457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>
                <a:solidFill>
                  <a:srgbClr val="1F3A5F"/>
                </a:solidFill>
                <a:latin typeface="Calibri"/>
                <a:cs typeface="Calibri"/>
              </a:rPr>
              <a:t>בתור לקפיטריה — ב-12:00 או ב-16:00?</a:t>
            </a:r>
          </a:p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>
                <a:solidFill>
                  <a:srgbClr val="1F3A5F"/>
                </a:solidFill>
                <a:latin typeface="Calibri"/>
                <a:cs typeface="Calibri"/>
              </a:rPr>
              <a:t>בכביש איילון — ב-08:00 או ב-22:00?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406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0" i="0">
                <a:solidFill>
                  <a:srgbClr val="5A6B7B"/>
                </a:solidFill>
                <a:latin typeface="Calibri"/>
                <a:cs typeface="Calibri"/>
              </a:rPr>
              <a:t>עד עכשיו התייחסנו לזמן ההמתנה כאילו הוא קבוע בזמן. האמנם?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4 · שלב טרנזיאנטי ושלב סטציונרי  ·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‪Ergodicity‬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חזרה לתהליכים סטוכסטיים: ארגודיות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מה זה אומר?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מדדי התור — כמו התפלגות זמני ההמתנה או אורך התור — לא משתנים עם הזמן.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תנאי 1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נצילות המערכת קטנה מ-1.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תנאי 2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התפלגויות ההגעה והשירות קבועות בזמן.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310361"/>
            <a:ext cx="10515600" cy="6926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בדיוק כמו בשרשראות מרקוב  (למעשה זה בדיוק שרשרת מרקוב)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להסתברויות המצב היציב מגיעים רק אחרי מספר צעדים — לא מיד.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4 · שלב טרנזיאנטי ושלב סטציונרי  ·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‪Utilization‬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נצילות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2269" y="4132525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1F3A5F"/>
                </a:solidFill>
                <a:latin typeface="Calibri"/>
              </a:rPr>
              <a:t>‪ρ = λ · E[S]‬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פרופורציית הזמן שבה השרת תפוס.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9432" y="198424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1F3A5F"/>
                </a:solidFill>
                <a:latin typeface="Calibri"/>
              </a:rPr>
              <a:t>‪λ‬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קצב ההגעה.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9432" y="3014091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1F3A5F"/>
                </a:solidFill>
                <a:latin typeface="Calibri"/>
              </a:rPr>
              <a:t>‪E[S]‬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תוחלת זמן השירות.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‪ρ = 0.8 · 1 = 0.8 &lt; 1‬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בדוגמה שלנו — המערכת יציבה.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4 · שלב טרנזיאנטי ושלב סטציונרי  · 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‪Experiment‬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ניסוי: מספר הלקוחות במערכת כפונקציה של הזמן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0" i="1">
                <a:solidFill>
                  <a:srgbClr val="5A6B7B"/>
                </a:solidFill>
                <a:latin typeface="Calibri"/>
                <a:cs typeface="Calibri"/>
              </a:rPr>
              <a:t>בכל נקודת זמן מודדים את מספר הלקוחות במערכת, וממצעים על פני כל החזרות.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97479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752344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המודל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 dirty="0">
                <a:solidFill>
                  <a:srgbClr val="1A2433"/>
                </a:solidFill>
                <a:latin typeface="Calibri"/>
              </a:rPr>
              <a:t>‪M/M/1‬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595878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650742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קצבים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קצב הגעה 0.8, קצב שירות 1 — זמנים מעריכיים.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494276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549140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נקודת התחלה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המערכת מתחילה ריקה בזמן 0, ורצה עד זמן 1,000.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392674"/>
            <a:ext cx="11274552" cy="73380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5447538"/>
            <a:ext cx="10515600" cy="624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החזרות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5,000 ריצות בלתי-תלויות.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4 · שלב טרנזיאנטי ושלב סטציונרי  ·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‪Experiment‬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איך אני יודע לחשב בכלל תוחלת כפונקציה של הזמן?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1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נריץ סימולציה יחידה באורך זמן שמעניין אותי. בדוגמה הזאת: 1,000 יחידות זמן.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033522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2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בכל יחידת זמן שלמה נרשום את מספר הלקוחות במערכת — בתור ובשירות.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137659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3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נחזור על זה 5,000 פעמים, בריצות בלתי-תלויות.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5241797"/>
            <a:ext cx="10515600" cy="82981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4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בכל נקודת זמן נמצע על פני כל החזרות — זה האומד לתוחלת באותה נקודה.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4 · שלב טרנזיאנטי ושלב סטציונרי  ·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‪Transient → stationary‬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ההתכנסות בפועל: 5,000 חזרות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212079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1">
                <a:solidFill>
                  <a:srgbClr val="5A6B7B"/>
                </a:solidFill>
                <a:latin typeface="Calibri"/>
                <a:cs typeface="Calibri"/>
              </a:rPr>
              <a:t>תוחלת מספר הלקוחות במערכת לאורך הזמן, ממוצע על פני 5,000 חזרות.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669279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69671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בתחילה המערכת ריקה; סביב זמן 200 היא מתייצבת סביב 4 לקוחות בממוצע.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4 · שלב טרנזיאנטי ושלב סטציונרי  ·  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A119801-F5B4-6155-C706-D8D073B94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6820" y="1675377"/>
            <a:ext cx="6173734" cy="35092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‪Number of replications‬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השפעת כמות החזרות על הדיוק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הגרף רועש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גם אחרי ההתייצבות הוא לא קו ישר — זה רעש של האומד, לא של המערכת.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עכשיו: 25,000 חזרות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פי 5 חזרות — והגרף נראה פחות רועש.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למה?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יותר חזרות — אומד עם שונות קטנה יותר, ולכן פחות רעש.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4 · שלב טרנזיאנטי ושלב סטציונרי  ·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‪25,000 replications‬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יותר חזרות — תמונה חלקה יותר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5212079"/>
            <a:ext cx="112745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1">
                <a:solidFill>
                  <a:srgbClr val="5A6B7B"/>
                </a:solidFill>
                <a:latin typeface="Calibri"/>
                <a:cs typeface="Calibri"/>
              </a:rPr>
              <a:t>אותו ניסוי, ממוצע על פני 25,000 חזרות.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669279"/>
            <a:ext cx="9994392" cy="54864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0" y="5696712"/>
            <a:ext cx="9445752" cy="4937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400" b="0" i="0">
                <a:solidFill>
                  <a:srgbClr val="1F3A5F"/>
                </a:solidFill>
                <a:latin typeface="Calibri"/>
                <a:cs typeface="Calibri"/>
              </a:rPr>
              <a:t>אחרי זמן 200 הקו כמעט שטוח סביב 4 — סימן מובהק לשלב סטציונרי.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4 · שלב טרנזיאנטי ושלב סטציונרי  ·  9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03EA12B-C9A1-3BB0-22FE-CA68A450A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9914" y="1669240"/>
            <a:ext cx="5852172" cy="395432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‪Food for thought‬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שאלה למחשבה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457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>
                <a:solidFill>
                  <a:srgbClr val="1F3A5F"/>
                </a:solidFill>
                <a:latin typeface="Calibri"/>
                <a:cs typeface="Calibri"/>
              </a:rPr>
              <a:t>מה יקרה אם נריץ 1,000,000,000 חזרות?</a:t>
            </a:r>
          </a:p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>
                <a:solidFill>
                  <a:srgbClr val="1F3A5F"/>
                </a:solidFill>
                <a:latin typeface="Calibri"/>
                <a:cs typeface="Calibri"/>
              </a:rPr>
              <a:t>איך הגרף ייראה?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4 · שלב טרנזיאנטי ושלב סטציונרי  ·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‪Warm-up period‬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תקופת החימום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מה מצאנו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את הנקודה שבה המערכת עוברת מהשלב הטרנזיאנטי לסטציונרי.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מה עושים איתה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כשמנתחים את השלב הסטציונרי — זורקים את כל הערכים שלפניה.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1F3A5F"/>
                </a:solidFill>
                <a:latin typeface="Calibri"/>
              </a:rPr>
              <a:t>‪Warm-up period‬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כך נקראת התקופה הזאת בספרות.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4 · שלב טרנזיאנטי ושלב סטציונרי  ·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738BD-B2C8-FF7E-7F84-B7AA726C76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B74D2DE-2C43-A19B-8544-9246516A8E2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080645-178C-B91B-9022-186A6862575A}"/>
              </a:ext>
            </a:extLst>
          </p:cNvPr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‪Experiment‬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68456A-A62C-126D-7071-DC4CA01E4ED2}"/>
              </a:ext>
            </a:extLst>
          </p:cNvPr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 dirty="0">
                <a:solidFill>
                  <a:srgbClr val="1F3A5F"/>
                </a:solidFill>
                <a:latin typeface="Calibri"/>
                <a:cs typeface="Calibri"/>
              </a:rPr>
              <a:t>האם המערכת תמיד תתכנס למצב יציב?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10EF84-7998-0E87-FF46-A97350F3752F}"/>
              </a:ext>
            </a:extLst>
          </p:cNvPr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50B3323-E280-1303-2488-3B1311845C7F}"/>
              </a:ext>
            </a:extLst>
          </p:cNvPr>
          <p:cNvSpPr/>
          <p:nvPr/>
        </p:nvSpPr>
        <p:spPr>
          <a:xfrm>
            <a:off x="457200" y="1874519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63B6B1-FEAB-282E-8755-4394FAD91C1B}"/>
              </a:ext>
            </a:extLst>
          </p:cNvPr>
          <p:cNvSpPr txBox="1"/>
          <p:nvPr/>
        </p:nvSpPr>
        <p:spPr>
          <a:xfrm>
            <a:off x="822960" y="1974705"/>
            <a:ext cx="10515600" cy="7391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</a:rPr>
              <a:t>תנאי יציבות: הזכרנו שצריך שהנצילות צריכה להיות קטנה מ-1 וגם שהתפלגות הגעה ושירות יהיו קבועות בזמן.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b="1" dirty="0">
                <a:solidFill>
                  <a:srgbClr val="1F3A5F"/>
                </a:solidFill>
                <a:latin typeface="Calibri"/>
              </a:rPr>
              <a:t>ואם לא? כיצד זה ייראה.</a:t>
            </a:r>
            <a:endParaRPr sz="1800" b="1" i="0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63898AF-740C-98ED-22E2-092D8009BC52}"/>
              </a:ext>
            </a:extLst>
          </p:cNvPr>
          <p:cNvSpPr/>
          <p:nvPr/>
        </p:nvSpPr>
        <p:spPr>
          <a:xfrm>
            <a:off x="457200" y="2978658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98DB49-6D29-C517-838F-C458C8A0093A}"/>
              </a:ext>
            </a:extLst>
          </p:cNvPr>
          <p:cNvSpPr txBox="1"/>
          <p:nvPr/>
        </p:nvSpPr>
        <p:spPr>
          <a:xfrm>
            <a:off x="822960" y="3266907"/>
            <a:ext cx="10515600" cy="363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</a:rPr>
              <a:t>נראה כיצד מ</a:t>
            </a:r>
            <a:r>
              <a:rPr lang="he-IL" b="1" dirty="0">
                <a:solidFill>
                  <a:srgbClr val="1F3A5F"/>
                </a:solidFill>
                <a:latin typeface="Calibri"/>
              </a:rPr>
              <a:t>ערכת נראית בכפונקציה הזמן בכל אחד מהמקרים.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A79A3945-E7F2-7A98-830F-A6C090747D2D}"/>
              </a:ext>
            </a:extLst>
          </p:cNvPr>
          <p:cNvSpPr/>
          <p:nvPr/>
        </p:nvSpPr>
        <p:spPr>
          <a:xfrm>
            <a:off x="457200" y="4082796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59A958-4619-73ED-619C-F9F93DA2E031}"/>
              </a:ext>
            </a:extLst>
          </p:cNvPr>
          <p:cNvSpPr txBox="1"/>
          <p:nvPr/>
        </p:nvSpPr>
        <p:spPr>
          <a:xfrm>
            <a:off x="822960" y="4366876"/>
            <a:ext cx="10515600" cy="371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b="1" dirty="0">
                <a:solidFill>
                  <a:srgbClr val="1F3A5F"/>
                </a:solidFill>
                <a:latin typeface="Calibri"/>
              </a:rPr>
              <a:t>תחילה נראה כיצד הכל קבוע בזמן אך הנצילות גדולה מ-1.</a:t>
            </a:r>
            <a:endParaRPr sz="1800" b="1" i="0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8266A07-94D9-03AB-D37D-92B7E16598FE}"/>
              </a:ext>
            </a:extLst>
          </p:cNvPr>
          <p:cNvSpPr/>
          <p:nvPr/>
        </p:nvSpPr>
        <p:spPr>
          <a:xfrm>
            <a:off x="457200" y="5186933"/>
            <a:ext cx="11274552" cy="939546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49796E-ED71-3FE5-25EC-EEC63143BAFB}"/>
              </a:ext>
            </a:extLst>
          </p:cNvPr>
          <p:cNvSpPr txBox="1"/>
          <p:nvPr/>
        </p:nvSpPr>
        <p:spPr>
          <a:xfrm>
            <a:off x="822960" y="5471014"/>
            <a:ext cx="10515600" cy="371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b="1" dirty="0">
                <a:solidFill>
                  <a:srgbClr val="1F3A5F"/>
                </a:solidFill>
                <a:latin typeface="Calibri"/>
              </a:rPr>
              <a:t>לאחר מכן: מערכת אמנם עם נצילות קטנה מ-1 אך משתנה עם הזמן.</a:t>
            </a:r>
            <a:endParaRPr sz="1800" b="1" i="0" dirty="0">
              <a:solidFill>
                <a:srgbClr val="1F3A5F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E7791C-7060-B472-DF7E-9C7F281F595C}"/>
              </a:ext>
            </a:extLst>
          </p:cNvPr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4 · שלב טרנזיאנטי ושלב סטציונרי  ·  6</a:t>
            </a:r>
          </a:p>
        </p:txBody>
      </p:sp>
    </p:spTree>
    <p:extLst>
      <p:ext uri="{BB962C8B-B14F-4D97-AF65-F5344CB8AC3E}">
        <p14:creationId xmlns:p14="http://schemas.microsoft.com/office/powerpoint/2010/main" val="261163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62D1B-7C9B-42C5-6EA7-E15B280AC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FBA29E-AB41-89A8-2B99-02A0129730F5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09C1E3-D19D-C9D5-BEB0-4F4B25B6DD64}"/>
              </a:ext>
            </a:extLst>
          </p:cNvPr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 dirty="0">
                <a:solidFill>
                  <a:srgbClr val="1F3A5F"/>
                </a:solidFill>
                <a:latin typeface="Calibri"/>
                <a:cs typeface="Calibri"/>
              </a:rPr>
              <a:t>נצילות גדולה מ-1.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627FF6-8E15-EFDC-DB23-6C04422E6908}"/>
              </a:ext>
            </a:extLst>
          </p:cNvPr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451C4-ABC1-8F02-5D13-7A28268ACD9A}"/>
              </a:ext>
            </a:extLst>
          </p:cNvPr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4 · שלב טרנזיאנטי ושלב סטציונרי  ·  9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46AD93A-61E4-022D-5865-4F57C23BC4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9691" y="2057391"/>
            <a:ext cx="5852172" cy="43891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6FB741E-9754-0474-16BA-8D3D40D86EC9}"/>
              </a:ext>
            </a:extLst>
          </p:cNvPr>
          <p:cNvSpPr txBox="1"/>
          <p:nvPr/>
        </p:nvSpPr>
        <p:spPr>
          <a:xfrm>
            <a:off x="1749019" y="3896663"/>
            <a:ext cx="2522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/>
              <a:t>תוחלת מספר הצרכנים מונוטוני עולה עם הזמן.</a:t>
            </a:r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3212991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E627A-2D20-A9DB-0DB6-D4E35C0B2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2F943C-D46F-88D8-5C42-D77630F5CA3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2A643-35FE-066B-837D-917B088CD193}"/>
              </a:ext>
            </a:extLst>
          </p:cNvPr>
          <p:cNvSpPr txBox="1"/>
          <p:nvPr/>
        </p:nvSpPr>
        <p:spPr>
          <a:xfrm>
            <a:off x="457200" y="749808"/>
            <a:ext cx="11274552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 dirty="0">
                <a:solidFill>
                  <a:srgbClr val="1F3A5F"/>
                </a:solidFill>
                <a:latin typeface="Calibri"/>
                <a:cs typeface="Calibri"/>
              </a:rPr>
              <a:t>תהליך הגעה משתנה בזמן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D6AF14-38AA-9189-F5F4-0A9266C787A6}"/>
              </a:ext>
            </a:extLst>
          </p:cNvPr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C9CD12-905F-E9BC-59B0-AF25E9C0E7D3}"/>
              </a:ext>
            </a:extLst>
          </p:cNvPr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4 · שלב טרנזיאנטי ושלב סטציונרי  ·  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34C5CC-ED26-AD57-E089-20A72CA0F302}"/>
              </a:ext>
            </a:extLst>
          </p:cNvPr>
          <p:cNvSpPr txBox="1"/>
          <p:nvPr/>
        </p:nvSpPr>
        <p:spPr>
          <a:xfrm>
            <a:off x="206609" y="3085298"/>
            <a:ext cx="2522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/>
              <a:t>פה, התור לא מתפוצץ אבל תוחלת התור לא קבועה בזמן.</a:t>
            </a:r>
            <a:endParaRPr lang="en-IL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FD3C05-C8DE-DF1D-C174-29DD75A9A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791" y="2216945"/>
            <a:ext cx="4258600" cy="319395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0F5B8A-AE87-2F78-6218-39423B330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5033" y="2184442"/>
            <a:ext cx="4909948" cy="325895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CB604D0-027B-080E-EDB4-017FB509A029}"/>
              </a:ext>
            </a:extLst>
          </p:cNvPr>
          <p:cNvSpPr txBox="1"/>
          <p:nvPr/>
        </p:nvSpPr>
        <p:spPr>
          <a:xfrm>
            <a:off x="8394272" y="5646527"/>
            <a:ext cx="25222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/>
              <a:t>תוחלת מספר הצרכנים מונוטוני כפונקציה של הזמן.</a:t>
            </a:r>
            <a:endParaRPr lang="en-IL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F3204F-3FEB-2181-E4F9-1D8101CE4497}"/>
              </a:ext>
            </a:extLst>
          </p:cNvPr>
          <p:cNvSpPr txBox="1"/>
          <p:nvPr/>
        </p:nvSpPr>
        <p:spPr>
          <a:xfrm>
            <a:off x="3694421" y="5442942"/>
            <a:ext cx="37353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b="1" dirty="0"/>
              <a:t>קצב הגעה כפונקציה של הזמן.</a:t>
            </a:r>
            <a:endParaRPr lang="en-IL" b="1" dirty="0"/>
          </a:p>
        </p:txBody>
      </p:sp>
    </p:spTree>
    <p:extLst>
      <p:ext uri="{BB962C8B-B14F-4D97-AF65-F5344CB8AC3E}">
        <p14:creationId xmlns:p14="http://schemas.microsoft.com/office/powerpoint/2010/main" val="29336397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‪In practice‬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הערה פרקטית: הדיוק בנקודה לא קריטי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נקודה מאוחרת מדי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זרקנו קצת נקודות סימולציה — זניח במחשבים של היום.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82111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36975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>
                <a:solidFill>
                  <a:srgbClr val="1F3A5F"/>
                </a:solidFill>
                <a:latin typeface="Calibri"/>
                <a:cs typeface="Calibri"/>
              </a:rPr>
              <a:t>נקודה מוקדמת מדי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>
                <a:solidFill>
                  <a:srgbClr val="1A2433"/>
                </a:solidFill>
                <a:latin typeface="Calibri"/>
                <a:cs typeface="Calibri"/>
              </a:rPr>
              <a:t>נכללים כמה ערכים לא-סטציונריים, אבל הם מתערבבים עם מיליוני ערכים תקינים.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9704"/>
            <a:ext cx="11274552" cy="1143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544568"/>
            <a:ext cx="10515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דוגמה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5,000 ערכים טרנזיאנטיים לצד 3,000,000 סטציונריים משפיעים על הממוצע מעט מאוד.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4 · שלב טרנזיאנטי ושלב סטציונרי  ·  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‪Rule of thumb‬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כלל אצבע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194560"/>
            <a:ext cx="9994392" cy="31089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1091672" y="2194560"/>
            <a:ext cx="0" cy="31089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71600" y="2377440"/>
            <a:ext cx="94457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>
                <a:solidFill>
                  <a:srgbClr val="2E86AB"/>
                </a:solidFill>
                <a:latin typeface="Calibri"/>
                <a:cs typeface="Calibri"/>
              </a:rPr>
              <a:t>תור יחיד: זורקים את 5,000 הערכים הראשונים</a:t>
            </a:r>
          </a:p>
          <a:p>
            <a:pPr algn="ctr" rtl="1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600" b="1" i="0">
                <a:solidFill>
                  <a:srgbClr val="2E86AB"/>
                </a:solidFill>
                <a:latin typeface="Calibri"/>
                <a:cs typeface="Calibri"/>
              </a:rPr>
              <a:t>רשת עם יותר מ-5 תחנות: 20,000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40680"/>
            <a:ext cx="94457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600" b="0" i="0">
                <a:solidFill>
                  <a:srgbClr val="5A6B7B"/>
                </a:solidFill>
                <a:latin typeface="Calibri"/>
                <a:cs typeface="Calibri"/>
              </a:rPr>
              <a:t>פשוט, בטוח, וחוסך ניתוח התכנסות ברוב המקרים.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4 · שלב טרנזיאנטי ושלב סטציונרי  ·  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745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E86AB"/>
                </a:solidFill>
                <a:latin typeface="Calibri"/>
              </a:rPr>
              <a:t>‪Takeaways‬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49808"/>
            <a:ext cx="1127455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2800" b="1" i="0">
                <a:solidFill>
                  <a:srgbClr val="1F3A5F"/>
                </a:solidFill>
                <a:latin typeface="Calibri"/>
                <a:cs typeface="Calibri"/>
              </a:rPr>
              <a:t>מה לוקחים מהשיעור?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72768"/>
            <a:ext cx="11274552" cy="25400"/>
          </a:xfrm>
          <a:prstGeom prst="rect">
            <a:avLst/>
          </a:prstGeom>
          <a:solidFill>
            <a:srgbClr val="2E86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92938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מדדי תור תלויים בזמן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מערכת שמתחילה ריקה עוברת שלב טרנזיאנטי לפני שהיא מתייצבת.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5783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81269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תנאי להתייצבות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נצילות קטנה מ-1, והתפלגויות קבועות בזמן.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641140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696004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כמות החזרות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יותר חזרות — אומד עם שונות קטנה יותר ותמונת התכנסות ברורה יותר.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52445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E7EEF4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457931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 dirty="0">
                <a:solidFill>
                  <a:srgbClr val="1F3A5F"/>
                </a:solidFill>
                <a:latin typeface="Calibri"/>
              </a:rPr>
              <a:t>‪Warm-up period‬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את מה שלפני נקודת ההתייצבות זורקים מהניתוח.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07761"/>
            <a:ext cx="11274552" cy="71871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D3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5462625"/>
            <a:ext cx="10515600" cy="6089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800" b="1" i="0" dirty="0">
                <a:solidFill>
                  <a:srgbClr val="1F3A5F"/>
                </a:solidFill>
                <a:latin typeface="Calibri"/>
                <a:cs typeface="Calibri"/>
              </a:rPr>
              <a:t>בפועל  </a:t>
            </a:r>
          </a:p>
          <a:p>
            <a:pPr algn="r" rt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500" b="0" i="0" dirty="0">
                <a:solidFill>
                  <a:srgbClr val="1A2433"/>
                </a:solidFill>
                <a:latin typeface="Calibri"/>
                <a:cs typeface="Calibri"/>
              </a:rPr>
              <a:t>כלל אצבע: 5,000 ערכים ראשונים (20,000 ברשתות גדולות).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19088"/>
            <a:ext cx="112745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he-IL" sz="1000" b="0" i="0">
                <a:solidFill>
                  <a:srgbClr val="5A6B7B"/>
                </a:solidFill>
                <a:latin typeface="Calibri"/>
                <a:cs typeface="Calibri"/>
              </a:rPr>
              <a:t>שיעור 4 · שלב טרנזיאנטי ושלב סטציונרי  · 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681</TotalTime>
  <Words>991</Words>
  <Application>Microsoft Office PowerPoint</Application>
  <PresentationFormat>Widescreen</PresentationFormat>
  <Paragraphs>145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אלירן שרצר/Eliran Sherzer</cp:lastModifiedBy>
  <cp:revision>2</cp:revision>
  <dcterms:created xsi:type="dcterms:W3CDTF">2013-01-27T09:14:16Z</dcterms:created>
  <dcterms:modified xsi:type="dcterms:W3CDTF">2026-10-08T04:28:32Z</dcterms:modified>
  <cp:category/>
</cp:coreProperties>
</file>