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72" r:id="rId12"/>
    <p:sldId id="265" r:id="rId13"/>
    <p:sldId id="266" r:id="rId14"/>
    <p:sldId id="267" r:id="rId15"/>
    <p:sldId id="268" r:id="rId16"/>
    <p:sldId id="269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6FB916-C425-42E1-9E55-81ED45944E6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606A5C-D1F7-4F28-8E6A-9C1D56DECA6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91371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06A5C-D1F7-4F28-8E6A-9C1D56DECA6C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46207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82296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9FC0D8"/>
                </a:solidFill>
                <a:latin typeface="Calibri"/>
              </a:rPr>
              <a:t>סימולציה של אירועים בדידים לניתוח מערכות תורים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07A2F"/>
                </a:solidFill>
                <a:latin typeface="Calibri"/>
              </a:rPr>
              <a:t>שיעור ‪2‬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01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מהסתברות למערכות תורים אמיתיות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C7D8E6"/>
                </a:solidFill>
                <a:latin typeface="Calibri"/>
              </a:rPr>
              <a:t>שימוש בסימולציה כדי לקבל החלטות תפעוליות במערכות שאין להן פתרון אנליטי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‪Lesson 2 · Queueing application‬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מה נעשה היום?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למה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בכלל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סימולציה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מערכות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אמיתיות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מורכבות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מכדי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לפתור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אותן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בנוסחה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סגורה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דוגמה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‪1‬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בחירת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קצב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שירות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שרת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יחיד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תחת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דרישת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זמן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שהייה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דוגמה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‪2‬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כמה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שרתים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לפתוח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תחת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אילוץ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על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זמן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המתנה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בתור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המסר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סימולציה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היא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לא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רק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כלי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לימודי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—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היא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כלי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להחלטה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תפעולית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‪2 ·‬ יישום בתורים  ‪·  1‬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‪Part A · From theory to practice‬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ממודלים פשוטים למערכות מורכבות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3DE"/>
                </a:solidFill>
                <a:latin typeface="Calibri"/>
              </a:rPr>
              <a:t>שיעור ‪2 ·‬ יישום בתורים  ‪·  2‬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‪Beyond coin flips‬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מערכות מורכבות מהחיים האמיתיים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86400" cy="271503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5486400" cy="5486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20239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מערכות תורים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10948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 dirty="0">
                <a:solidFill>
                  <a:srgbClr val="1A2433"/>
                </a:solidFill>
                <a:latin typeface="Calibri"/>
              </a:rPr>
              <a:t>•  </a:t>
            </a:r>
            <a:r>
              <a:rPr lang="he-IL"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משרד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הפנים</a:t>
            </a:r>
            <a:endParaRPr lang="he-IL" sz="1600" b="0" i="0" dirty="0">
              <a:solidFill>
                <a:srgbClr val="1A2433"/>
              </a:solidFill>
              <a:latin typeface="Calibri"/>
            </a:endParaRP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endParaRPr sz="1600" b="0" i="0" dirty="0">
              <a:solidFill>
                <a:srgbClr val="1A2433"/>
              </a:solidFill>
              <a:latin typeface="Calibri"/>
            </a:endParaRP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 dirty="0">
                <a:solidFill>
                  <a:srgbClr val="1A2433"/>
                </a:solidFill>
                <a:latin typeface="Calibri"/>
              </a:rPr>
              <a:t>•  </a:t>
            </a:r>
            <a:r>
              <a:rPr lang="he-IL"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חדר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מיון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בבית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חולים</a:t>
            </a:r>
            <a:endParaRPr sz="1600" b="0" i="0" dirty="0">
              <a:solidFill>
                <a:srgbClr val="1A2433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5352" y="1874519"/>
            <a:ext cx="5486400" cy="271503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1874519"/>
            <a:ext cx="5486400" cy="54864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920239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לוגיסטיקה וייצור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560320"/>
            <a:ext cx="4937760" cy="1469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he-IL" sz="1600" b="0" i="0" dirty="0">
                <a:solidFill>
                  <a:srgbClr val="1A2433"/>
                </a:solidFill>
                <a:latin typeface="Calibri"/>
              </a:rPr>
              <a:t>מערכות ייצור: מפעל שבבים של </a:t>
            </a:r>
            <a:r>
              <a:rPr lang="en-US" sz="1600" b="0" i="0" dirty="0">
                <a:solidFill>
                  <a:srgbClr val="1A2433"/>
                </a:solidFill>
                <a:latin typeface="Calibri"/>
              </a:rPr>
              <a:t>Nvidia</a:t>
            </a:r>
            <a:endParaRPr lang="he-IL" sz="1600" b="0" i="0" dirty="0">
              <a:solidFill>
                <a:srgbClr val="1A2433"/>
              </a:solidFill>
              <a:latin typeface="Calibri"/>
            </a:endParaRPr>
          </a:p>
          <a:p>
            <a:pPr marL="285750" indent="-285750"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he-IL" sz="1600" dirty="0">
              <a:solidFill>
                <a:srgbClr val="1A2433"/>
              </a:solidFill>
              <a:latin typeface="Calibri"/>
            </a:endParaRPr>
          </a:p>
          <a:p>
            <a:pPr marL="285750" indent="-285750"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he-IL" sz="1600" dirty="0">
                <a:solidFill>
                  <a:srgbClr val="1A2433"/>
                </a:solidFill>
                <a:latin typeface="Calibri"/>
              </a:rPr>
              <a:t>מערכות לוגיסטיות: </a:t>
            </a:r>
            <a:r>
              <a:rPr lang="en-US" sz="1600" dirty="0">
                <a:solidFill>
                  <a:srgbClr val="1A2433"/>
                </a:solidFill>
                <a:latin typeface="Calibri"/>
              </a:rPr>
              <a:t>Amazon</a:t>
            </a:r>
            <a:r>
              <a:rPr lang="he-IL" sz="1600" dirty="0">
                <a:solidFill>
                  <a:srgbClr val="1A2433"/>
                </a:solidFill>
                <a:latin typeface="Calibri"/>
              </a:rPr>
              <a:t>, אסם.</a:t>
            </a:r>
            <a:endParaRPr sz="1600" b="0" i="0" dirty="0">
              <a:solidFill>
                <a:srgbClr val="1A2433"/>
              </a:solidFill>
              <a:latin typeface="Calibri"/>
            </a:endParaRP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endParaRPr sz="1600" b="0" i="0" dirty="0">
              <a:solidFill>
                <a:srgbClr val="1A2433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‪2 ·‬ יישום בתורים  ‪·  3‬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‪The uncomfortable truth‬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לא נעים להגיד, אבל...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9994392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91672" y="2194560"/>
            <a:ext cx="0" cy="3108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94457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E86AB"/>
                </a:solidFill>
                <a:latin typeface="Calibri"/>
              </a:rPr>
              <a:t>התוצאות המתמטיות שיש באקדמיה</a:t>
            </a:r>
          </a:p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E86AB"/>
                </a:solidFill>
                <a:latin typeface="Calibri"/>
              </a:rPr>
              <a:t>לא מסוגלות לנתח מערכות מורכבות כאלה בצורה אנליטית.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40680"/>
            <a:ext cx="9445752" cy="347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 err="1">
                <a:latin typeface="Calibri"/>
              </a:rPr>
              <a:t>אז</a:t>
            </a:r>
            <a:r>
              <a:rPr sz="1600" b="1" i="0" dirty="0">
                <a:latin typeface="Calibri"/>
              </a:rPr>
              <a:t> </a:t>
            </a:r>
            <a:r>
              <a:rPr sz="1600" b="1" i="0" dirty="0" err="1">
                <a:latin typeface="Calibri"/>
              </a:rPr>
              <a:t>מה</a:t>
            </a:r>
            <a:r>
              <a:rPr sz="1600" b="1" i="0" dirty="0">
                <a:latin typeface="Calibri"/>
              </a:rPr>
              <a:t> </a:t>
            </a:r>
            <a:r>
              <a:rPr sz="1600" b="1" i="0" dirty="0" err="1">
                <a:latin typeface="Calibri"/>
              </a:rPr>
              <a:t>עושים</a:t>
            </a:r>
            <a:r>
              <a:rPr sz="1600" b="1" i="0" dirty="0">
                <a:latin typeface="Calibri"/>
              </a:rPr>
              <a:t>? </a:t>
            </a:r>
            <a:r>
              <a:rPr lang="he-IL" sz="1600" b="1" i="0" dirty="0">
                <a:latin typeface="Calibri"/>
              </a:rPr>
              <a:t> </a:t>
            </a:r>
            <a:r>
              <a:rPr sz="1600" b="1" i="0" dirty="0" err="1">
                <a:latin typeface="Calibri"/>
              </a:rPr>
              <a:t>ניחשתם</a:t>
            </a:r>
            <a:r>
              <a:rPr sz="1600" b="1" i="0" dirty="0">
                <a:latin typeface="Calibri"/>
              </a:rPr>
              <a:t> </a:t>
            </a:r>
            <a:r>
              <a:rPr sz="1600" b="1" i="0" dirty="0" err="1">
                <a:latin typeface="Calibri"/>
              </a:rPr>
              <a:t>נכון</a:t>
            </a:r>
            <a:r>
              <a:rPr sz="1600" b="1" i="0" dirty="0">
                <a:latin typeface="Calibri"/>
              </a:rPr>
              <a:t> </a:t>
            </a:r>
            <a:r>
              <a:rPr lang="he-IL" sz="1600" b="1" i="0" dirty="0">
                <a:latin typeface="Calibri"/>
              </a:rPr>
              <a:t>-</a:t>
            </a:r>
            <a:r>
              <a:rPr sz="1600" b="1" i="0" dirty="0">
                <a:latin typeface="Calibri"/>
              </a:rPr>
              <a:t> </a:t>
            </a:r>
            <a:r>
              <a:rPr sz="1600" b="1" i="0" dirty="0" err="1">
                <a:latin typeface="Calibri"/>
              </a:rPr>
              <a:t>סימולציה</a:t>
            </a:r>
            <a:r>
              <a:rPr sz="1600" b="1" i="0" dirty="0"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‪2 ·‬ יישום בתורים  ‪·  4‬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‪Exact vs. simulated‬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פתרון מתמטי מול סימולציה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5486400" cy="5486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20239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פתרון מתמטי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10948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 dirty="0">
                <a:solidFill>
                  <a:srgbClr val="1A2433"/>
                </a:solidFill>
                <a:latin typeface="Calibri"/>
              </a:rPr>
              <a:t>•  </a:t>
            </a:r>
            <a:r>
              <a:rPr lang="he-IL"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מדויק</a:t>
            </a:r>
            <a:endParaRPr sz="1600" b="0" i="0" dirty="0">
              <a:solidFill>
                <a:srgbClr val="1A2433"/>
              </a:solidFill>
              <a:latin typeface="Calibri"/>
            </a:endParaRP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he-IL"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• </a:t>
            </a:r>
            <a:r>
              <a:rPr lang="he-IL" sz="1600" b="0" i="0" dirty="0">
                <a:solidFill>
                  <a:srgbClr val="1A2433"/>
                </a:solidFill>
                <a:latin typeface="Calibri"/>
              </a:rPr>
              <a:t> 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מהיר</a:t>
            </a:r>
            <a:endParaRPr sz="1600" b="0" i="0" dirty="0">
              <a:solidFill>
                <a:srgbClr val="1A2433"/>
              </a:solidFill>
              <a:latin typeface="Calibri"/>
            </a:endParaRP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 dirty="0">
                <a:solidFill>
                  <a:srgbClr val="1A2433"/>
                </a:solidFill>
                <a:latin typeface="Calibri"/>
              </a:rPr>
              <a:t>•  </a:t>
            </a:r>
            <a:r>
              <a:rPr lang="he-IL"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אך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: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דורש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מערכת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פשוטה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מספיק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כדי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לפתור</a:t>
            </a:r>
            <a:endParaRPr sz="1600" b="0" i="0" dirty="0">
              <a:solidFill>
                <a:srgbClr val="1A2433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5352" y="1874519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1874519"/>
            <a:ext cx="5486400" cy="54864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920239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סימולציה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560320"/>
            <a:ext cx="4937760" cy="10948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he-IL"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•</a:t>
            </a:r>
            <a:r>
              <a:rPr lang="he-IL"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איטית</a:t>
            </a:r>
            <a:endParaRPr sz="1600" b="0" i="0" dirty="0">
              <a:solidFill>
                <a:srgbClr val="1A2433"/>
              </a:solidFill>
              <a:latin typeface="Calibri"/>
            </a:endParaRP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 dirty="0">
                <a:solidFill>
                  <a:srgbClr val="1A2433"/>
                </a:solidFill>
                <a:latin typeface="Calibri"/>
              </a:rPr>
              <a:t>•  </a:t>
            </a:r>
            <a:r>
              <a:rPr lang="he-IL"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לא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מדויקת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אומדן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סטטיסטי</a:t>
            </a:r>
            <a:endParaRPr lang="he-IL" sz="1600" b="0" i="0" dirty="0">
              <a:solidFill>
                <a:srgbClr val="1A2433"/>
              </a:solidFill>
              <a:latin typeface="Calibri"/>
            </a:endParaRP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 dirty="0">
                <a:solidFill>
                  <a:srgbClr val="1A2433"/>
                </a:solidFill>
                <a:latin typeface="Calibri"/>
              </a:rPr>
              <a:t>•  </a:t>
            </a:r>
            <a:r>
              <a:rPr lang="he-IL"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אך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: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הדרך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היחידה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לפתור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בעיות</a:t>
            </a:r>
            <a:r>
              <a:rPr sz="16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A2433"/>
                </a:solidFill>
                <a:latin typeface="Calibri"/>
              </a:rPr>
              <a:t>מורכבות</a:t>
            </a:r>
            <a:endParaRPr sz="1600" b="0" i="0" dirty="0">
              <a:solidFill>
                <a:srgbClr val="1A2433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‪2 ·‬ יישום בתורים  ‪·  5‬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‪Example 1 · Single-server queue‬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בחירת שרת במערכת תורים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3DE"/>
                </a:solidFill>
                <a:latin typeface="Calibri"/>
              </a:rPr>
              <a:t>שיעור ‪2 ·‬ יישום בתורים  ‪·  6‬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‪Setup‬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המצב: שרת יחיד, כמה שרת חזק כדאי לקנות?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המערכת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שרת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יחיד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;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שרת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מהיר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יותר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יקר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יותר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102823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המטרה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לבחור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השרת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הזול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ביותר</a:t>
            </a:r>
            <a:r>
              <a:rPr lang="en-US" sz="1500" dirty="0">
                <a:solidFill>
                  <a:srgbClr val="1A2433"/>
                </a:solidFill>
                <a:latin typeface="Calibri"/>
              </a:rPr>
              <a:t> </a:t>
            </a:r>
            <a:r>
              <a:rPr lang="he-IL" sz="1500" dirty="0">
                <a:solidFill>
                  <a:srgbClr val="1A2433"/>
                </a:solidFill>
                <a:latin typeface="Calibri"/>
              </a:rPr>
              <a:t>תחת אילוץ שהמערכת לא תבוא עם זמני המתנה ארוכים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206960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האילוץ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תוחלת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זמן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השהייה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במערכת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(כלומר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המתנה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+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שירות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)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קטנה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מ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-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 3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יחידות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זמן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המשתנה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הנשלט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קצב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ההגעה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נשאר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קבוע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;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בכל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הרצה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משנים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קצב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השירות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‪2 ·‬ יישום בתורים  ‪·  7‬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7A68C-4228-0727-6D1B-116B415C6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DDE619-D90B-97D3-F773-EDFCFB15F33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F9BA88-26AC-4D77-3917-F8E19C1971D7}"/>
              </a:ext>
            </a:extLst>
          </p:cNvPr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‪Setup‬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630AD5-2899-2BB9-FDDF-2E20F7D2BD5E}"/>
              </a:ext>
            </a:extLst>
          </p:cNvPr>
          <p:cNvSpPr txBox="1"/>
          <p:nvPr/>
        </p:nvSpPr>
        <p:spPr>
          <a:xfrm>
            <a:off x="457200" y="725856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 dirty="0">
                <a:solidFill>
                  <a:srgbClr val="1F3A5F"/>
                </a:solidFill>
                <a:latin typeface="Calibri"/>
              </a:rPr>
              <a:t>תנאי יציבות:</a:t>
            </a:r>
            <a:endParaRPr sz="2800" b="1" i="0" dirty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C82464-FB74-6AD8-34CE-4D85684BABA1}"/>
              </a:ext>
            </a:extLst>
          </p:cNvPr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9051A64-291E-257D-7FF4-1F40844ADC94}"/>
              </a:ext>
            </a:extLst>
          </p:cNvPr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EAC320-0AAC-03F7-FE34-D13C3627C4A5}"/>
              </a:ext>
            </a:extLst>
          </p:cNvPr>
          <p:cNvSpPr txBox="1"/>
          <p:nvPr/>
        </p:nvSpPr>
        <p:spPr>
          <a:xfrm>
            <a:off x="822960" y="2014075"/>
            <a:ext cx="10515600" cy="6604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b="1" dirty="0">
                <a:solidFill>
                  <a:srgbClr val="1F3A5F"/>
                </a:solidFill>
                <a:latin typeface="Calibri"/>
              </a:rPr>
              <a:t>הגדרה:</a:t>
            </a:r>
            <a:br>
              <a:rPr lang="en-US" b="1" dirty="0">
                <a:solidFill>
                  <a:srgbClr val="1F3A5F"/>
                </a:solidFill>
                <a:latin typeface="Calibri"/>
              </a:rPr>
            </a:br>
            <a:r>
              <a:rPr lang="he-IL" b="1" dirty="0">
                <a:solidFill>
                  <a:srgbClr val="1F3A5F"/>
                </a:solidFill>
                <a:latin typeface="Calibri"/>
              </a:rPr>
              <a:t>קצה הגעה &lt; קצב שירות</a:t>
            </a:r>
            <a:endParaRPr sz="1500" b="0" i="0" dirty="0">
              <a:solidFill>
                <a:srgbClr val="1A2433"/>
              </a:solidFill>
              <a:latin typeface="Calibri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F12D492-BE98-E042-A893-039CE745675B}"/>
              </a:ext>
            </a:extLst>
          </p:cNvPr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5DE4C6-D878-D7E7-CE34-46A04204781B}"/>
              </a:ext>
            </a:extLst>
          </p:cNvPr>
          <p:cNvSpPr txBox="1"/>
          <p:nvPr/>
        </p:nvSpPr>
        <p:spPr>
          <a:xfrm>
            <a:off x="822960" y="3102823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</a:rPr>
              <a:t>ואם לא עומדים בתנאי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ככל שעובר הזמן מצטבר תור עד שהתור "מתפוצץ". כלומר נעשה אינסופי.</a:t>
            </a:r>
            <a:endParaRPr sz="1500" b="0" i="0" dirty="0">
              <a:solidFill>
                <a:srgbClr val="1A2433"/>
              </a:solidFill>
              <a:latin typeface="Calibri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307EAAD-11D4-EDC6-CCF7-61564F6261C8}"/>
              </a:ext>
            </a:extLst>
          </p:cNvPr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D78B03-6B1A-A3A7-5E39-7DA89961C2A2}"/>
              </a:ext>
            </a:extLst>
          </p:cNvPr>
          <p:cNvSpPr txBox="1"/>
          <p:nvPr/>
        </p:nvSpPr>
        <p:spPr>
          <a:xfrm>
            <a:off x="822960" y="4206960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b="1" dirty="0">
                <a:solidFill>
                  <a:srgbClr val="1F3A5F"/>
                </a:solidFill>
                <a:latin typeface="Calibri"/>
              </a:rPr>
              <a:t>כלומר: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לא ניתן לעשות ניתוח סטציונרי. </a:t>
            </a:r>
            <a:endParaRPr sz="1500" b="0" i="0" dirty="0">
              <a:solidFill>
                <a:srgbClr val="1A2433"/>
              </a:solidFill>
              <a:latin typeface="Calibri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1B3E707-1371-BB8A-AB6D-88AD43A15313}"/>
              </a:ext>
            </a:extLst>
          </p:cNvPr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878D06-990D-5946-CE91-CEC5881585D2}"/>
              </a:ext>
            </a:extLst>
          </p:cNvPr>
          <p:cNvSpPr txBox="1"/>
          <p:nvPr/>
        </p:nvSpPr>
        <p:spPr>
          <a:xfrm>
            <a:off x="822960" y="5311098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b="1" dirty="0">
                <a:solidFill>
                  <a:srgbClr val="1F3A5F"/>
                </a:solidFill>
                <a:latin typeface="Calibri"/>
              </a:rPr>
              <a:t>טווח אפשרי של קצבי שירות:</a:t>
            </a:r>
            <a:endParaRPr sz="1800" b="1" i="0" dirty="0">
              <a:solidFill>
                <a:srgbClr val="1F3A5F"/>
              </a:solidFill>
              <a:latin typeface="Calibri"/>
            </a:endParaRP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dirty="0">
                <a:solidFill>
                  <a:srgbClr val="1A2433"/>
                </a:solidFill>
                <a:latin typeface="Calibri"/>
              </a:rPr>
              <a:t>רק ערכים שגדולים מקצב ההגעה. בדוגמא הנוכחית  קצב הגעה הוא 0.8 צרכנים ליחידת זמן.</a:t>
            </a:r>
            <a:endParaRPr sz="1500" b="0" i="0" dirty="0">
              <a:solidFill>
                <a:srgbClr val="1A2433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A17C21-3F99-47DB-6331-01183C8ECF66}"/>
              </a:ext>
            </a:extLst>
          </p:cNvPr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‪2 ·‬ יישום בתורים  ‪·  7‬</a:t>
            </a:r>
          </a:p>
        </p:txBody>
      </p:sp>
    </p:spTree>
    <p:extLst>
      <p:ext uri="{BB962C8B-B14F-4D97-AF65-F5344CB8AC3E}">
        <p14:creationId xmlns:p14="http://schemas.microsoft.com/office/powerpoint/2010/main" val="1091053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‪Interarrival &amp; service times‬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ההתפלגויות שמניעות את הסימולציה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ell0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828800"/>
            <a:ext cx="10972800" cy="37426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057400" y="6211966"/>
            <a:ext cx="9258300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28470" y="623265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dirty="0" err="1">
                <a:solidFill>
                  <a:srgbClr val="1F3A5F"/>
                </a:solidFill>
                <a:latin typeface="Calibri"/>
              </a:rPr>
              <a:t>ככל</a:t>
            </a:r>
            <a:r>
              <a:rPr sz="1400" b="0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F3A5F"/>
                </a:solidFill>
                <a:latin typeface="Calibri"/>
              </a:rPr>
              <a:t>שקצב</a:t>
            </a:r>
            <a:r>
              <a:rPr sz="1400" b="0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F3A5F"/>
                </a:solidFill>
                <a:latin typeface="Calibri"/>
              </a:rPr>
              <a:t>השירות</a:t>
            </a:r>
            <a:r>
              <a:rPr sz="1400" b="0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F3A5F"/>
                </a:solidFill>
                <a:latin typeface="Calibri"/>
              </a:rPr>
              <a:t>עולה</a:t>
            </a:r>
            <a:r>
              <a:rPr sz="1400" b="0" i="0" dirty="0">
                <a:solidFill>
                  <a:srgbClr val="1F3A5F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1F3A5F"/>
                </a:solidFill>
                <a:latin typeface="Calibri"/>
              </a:rPr>
              <a:t>זמן</a:t>
            </a:r>
            <a:r>
              <a:rPr sz="1400" b="0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F3A5F"/>
                </a:solidFill>
                <a:latin typeface="Calibri"/>
              </a:rPr>
              <a:t>השירות</a:t>
            </a:r>
            <a:r>
              <a:rPr sz="1400" b="0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F3A5F"/>
                </a:solidFill>
                <a:latin typeface="Calibri"/>
              </a:rPr>
              <a:t>מתקצר</a:t>
            </a:r>
            <a:r>
              <a:rPr sz="1400" b="0" i="0" dirty="0">
                <a:solidFill>
                  <a:srgbClr val="1F3A5F"/>
                </a:solidFill>
                <a:latin typeface="Calibri"/>
              </a:rPr>
              <a:t> — </a:t>
            </a:r>
            <a:r>
              <a:rPr sz="1400" b="0" i="0" dirty="0" err="1">
                <a:solidFill>
                  <a:srgbClr val="1F3A5F"/>
                </a:solidFill>
                <a:latin typeface="Calibri"/>
              </a:rPr>
              <a:t>אך</a:t>
            </a:r>
            <a:r>
              <a:rPr sz="1400" b="0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F3A5F"/>
                </a:solidFill>
                <a:latin typeface="Calibri"/>
              </a:rPr>
              <a:t>העלות</a:t>
            </a:r>
            <a:r>
              <a:rPr sz="1400" b="0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F3A5F"/>
                </a:solidFill>
                <a:latin typeface="Calibri"/>
              </a:rPr>
              <a:t>עולה</a:t>
            </a:r>
            <a:r>
              <a:rPr sz="1400" b="0" i="0" dirty="0">
                <a:solidFill>
                  <a:srgbClr val="1F3A5F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dirty="0" err="1">
                <a:solidFill>
                  <a:srgbClr val="5A6B7B"/>
                </a:solidFill>
                <a:latin typeface="Calibri"/>
              </a:rPr>
              <a:t>שיעור</a:t>
            </a:r>
            <a:r>
              <a:rPr sz="1000" b="0" i="0" dirty="0">
                <a:solidFill>
                  <a:srgbClr val="5A6B7B"/>
                </a:solidFill>
                <a:latin typeface="Calibri"/>
              </a:rPr>
              <a:t> ‪2 ·‬ </a:t>
            </a:r>
            <a:r>
              <a:rPr sz="1000" b="0" i="0" dirty="0" err="1">
                <a:solidFill>
                  <a:srgbClr val="5A6B7B"/>
                </a:solidFill>
                <a:latin typeface="Calibri"/>
              </a:rPr>
              <a:t>יישום</a:t>
            </a:r>
            <a:r>
              <a:rPr sz="1000" b="0" i="0" dirty="0">
                <a:solidFill>
                  <a:srgbClr val="5A6B7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5A6B7B"/>
                </a:solidFill>
                <a:latin typeface="Calibri"/>
              </a:rPr>
              <a:t>בתורים</a:t>
            </a:r>
            <a:r>
              <a:rPr sz="1000" b="0" i="0" dirty="0">
                <a:solidFill>
                  <a:srgbClr val="5A6B7B"/>
                </a:solidFill>
                <a:latin typeface="Calibri"/>
              </a:rPr>
              <a:t>  ‪·  8‬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059284-5521-CB55-E3AD-F46489AE3BF3}"/>
              </a:ext>
            </a:extLst>
          </p:cNvPr>
          <p:cNvSpPr txBox="1"/>
          <p:nvPr/>
        </p:nvSpPr>
        <p:spPr>
          <a:xfrm>
            <a:off x="1820523" y="5593916"/>
            <a:ext cx="3739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b="1" dirty="0"/>
              <a:t>קצב הגעה: 0.8 צרכנים ליחידת זמן</a:t>
            </a:r>
            <a:endParaRPr lang="en-IL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54CF8-E834-BCDC-2C40-C286C53DC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D40EA3-05C6-C316-EE4F-1B66CBD86F6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ABD81C-7A03-8D87-C20A-A9BFE911720F}"/>
              </a:ext>
            </a:extLst>
          </p:cNvPr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‪Setup‬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51BCC7-DEFE-0AD4-DE0B-18E6DDAD1847}"/>
              </a:ext>
            </a:extLst>
          </p:cNvPr>
          <p:cNvSpPr txBox="1"/>
          <p:nvPr/>
        </p:nvSpPr>
        <p:spPr>
          <a:xfrm>
            <a:off x="457200" y="725856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 dirty="0">
                <a:solidFill>
                  <a:srgbClr val="1F3A5F"/>
                </a:solidFill>
                <a:latin typeface="Calibri"/>
              </a:rPr>
              <a:t>מציאת קצב שירות אופטימאלי:</a:t>
            </a:r>
            <a:endParaRPr sz="2800" b="1" i="0" dirty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4671CA-C60E-7781-8DDA-B3F47AAF1FA4}"/>
              </a:ext>
            </a:extLst>
          </p:cNvPr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E32BF84-A714-CD6A-C6A7-0768B317F321}"/>
              </a:ext>
            </a:extLst>
          </p:cNvPr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A5C51-D640-DC6D-FA75-1FDEE1CABEDD}"/>
              </a:ext>
            </a:extLst>
          </p:cNvPr>
          <p:cNvSpPr txBox="1"/>
          <p:nvPr/>
        </p:nvSpPr>
        <p:spPr>
          <a:xfrm>
            <a:off x="822960" y="1997948"/>
            <a:ext cx="10515600" cy="692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b="1" dirty="0">
                <a:solidFill>
                  <a:srgbClr val="1F3A5F"/>
                </a:solidFill>
                <a:latin typeface="Calibri"/>
              </a:rPr>
              <a:t>סריקת המרחב: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1" dirty="0">
                <a:solidFill>
                  <a:srgbClr val="1F3A5F"/>
                </a:solidFill>
                <a:latin typeface="Calibri"/>
              </a:rPr>
              <a:t>בגלל שאנחנו עושיםפ אופטימזיציה על ידי "קופסה שחורה" נרצה לסרוק את המרחב.</a:t>
            </a:r>
            <a:endParaRPr sz="1500" b="0" i="0" dirty="0">
              <a:solidFill>
                <a:srgbClr val="1A2433"/>
              </a:solidFill>
              <a:latin typeface="Calibri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8A6A1A0-60B9-7F0C-54AC-8E5418207DB4}"/>
              </a:ext>
            </a:extLst>
          </p:cNvPr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C1065-5417-9817-A564-14A51DB0993A}"/>
              </a:ext>
            </a:extLst>
          </p:cNvPr>
          <p:cNvSpPr txBox="1"/>
          <p:nvPr/>
        </p:nvSpPr>
        <p:spPr>
          <a:xfrm>
            <a:off x="822960" y="3102823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</a:rPr>
              <a:t>פתרון אפשרי:</a:t>
            </a:r>
            <a:endParaRPr sz="1800" b="1" i="0" dirty="0">
              <a:solidFill>
                <a:srgbClr val="1F3A5F"/>
              </a:solidFill>
              <a:latin typeface="Calibri"/>
            </a:endParaRP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dirty="0">
                <a:solidFill>
                  <a:srgbClr val="1A2433"/>
                </a:solidFill>
                <a:latin typeface="Calibri"/>
              </a:rPr>
              <a:t>נתחיל עם קצב שירות שהוא מעט גדול מ0.8 כך שתנאי יציבות יתקיים. נגיד: 0.9. נבדוק אם אנחנו עומדים באילוץ.</a:t>
            </a:r>
            <a:endParaRPr sz="1500" b="0" i="0" dirty="0">
              <a:solidFill>
                <a:srgbClr val="1A2433"/>
              </a:solidFill>
              <a:latin typeface="Calibri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C3ED8A6-919E-D371-1EAC-F4E8332AA834}"/>
              </a:ext>
            </a:extLst>
          </p:cNvPr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EDD5B6-B618-935D-72D5-72B16BA0AF7B}"/>
              </a:ext>
            </a:extLst>
          </p:cNvPr>
          <p:cNvSpPr txBox="1"/>
          <p:nvPr/>
        </p:nvSpPr>
        <p:spPr>
          <a:xfrm>
            <a:off x="822960" y="4206960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b="1" dirty="0">
                <a:solidFill>
                  <a:srgbClr val="1F3A5F"/>
                </a:solidFill>
                <a:latin typeface="Calibri"/>
              </a:rPr>
              <a:t>אם כן:</a:t>
            </a:r>
            <a:endParaRPr sz="1800" b="1" i="0" dirty="0">
              <a:solidFill>
                <a:srgbClr val="1F3A5F"/>
              </a:solidFill>
              <a:latin typeface="Calibri"/>
            </a:endParaRP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מצוין, זהו הקצב האופטימאלי.</a:t>
            </a:r>
            <a:endParaRPr sz="1500" b="0" i="0" dirty="0">
              <a:solidFill>
                <a:srgbClr val="1A2433"/>
              </a:solidFill>
              <a:latin typeface="Calibri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E8268B4-2862-9122-5A21-75CC0AA028F4}"/>
              </a:ext>
            </a:extLst>
          </p:cNvPr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FEA2BB-FEC5-E9DD-01E5-92CD86302228}"/>
              </a:ext>
            </a:extLst>
          </p:cNvPr>
          <p:cNvSpPr txBox="1"/>
          <p:nvPr/>
        </p:nvSpPr>
        <p:spPr>
          <a:xfrm>
            <a:off x="822960" y="5311098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b="1" dirty="0">
                <a:solidFill>
                  <a:srgbClr val="1F3A5F"/>
                </a:solidFill>
                <a:latin typeface="Calibri"/>
              </a:rPr>
              <a:t>אם לאו:</a:t>
            </a:r>
            <a:endParaRPr sz="1800" b="1" i="0" dirty="0">
              <a:solidFill>
                <a:srgbClr val="1F3A5F"/>
              </a:solidFill>
              <a:latin typeface="Calibri"/>
            </a:endParaRP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>
                <a:solidFill>
                  <a:srgbClr val="1A2433"/>
                </a:solidFill>
                <a:latin typeface="Calibri"/>
              </a:rPr>
              <a:t>מגבירים את הקצב בקפיצות קטנות עד שעומדים באילוץ.</a:t>
            </a:r>
            <a:endParaRPr sz="1500" b="0" i="0" dirty="0">
              <a:solidFill>
                <a:srgbClr val="1A2433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0262E2-9E86-DD6A-9342-F7B8FD8DB6A8}"/>
              </a:ext>
            </a:extLst>
          </p:cNvPr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‪2 ·‬ יישום בתורים  ‪·  7‬</a:t>
            </a:r>
          </a:p>
        </p:txBody>
      </p:sp>
    </p:spTree>
    <p:extLst>
      <p:ext uri="{BB962C8B-B14F-4D97-AF65-F5344CB8AC3E}">
        <p14:creationId xmlns:p14="http://schemas.microsoft.com/office/powerpoint/2010/main" val="330135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‪Result‬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תוצאת הסימולציה: הקצב הזול ביותר שעומד ביעד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ell09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376" y="1828800"/>
            <a:ext cx="6858942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06440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A6B7B"/>
                </a:solidFill>
                <a:latin typeface="Calibri"/>
              </a:rPr>
              <a:t>תוחלת זמן השהייה במערכת כפונקציה של קצב השירות, מול היעד ‪E[T] &lt; 3.‬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5926871"/>
            <a:ext cx="944575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dirty="0" err="1">
                <a:solidFill>
                  <a:srgbClr val="1F3A5F"/>
                </a:solidFill>
                <a:latin typeface="Calibri"/>
              </a:rPr>
              <a:t>קצב</a:t>
            </a:r>
            <a:r>
              <a:rPr sz="1400" b="0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F3A5F"/>
                </a:solidFill>
                <a:latin typeface="Calibri"/>
              </a:rPr>
              <a:t>השירות</a:t>
            </a:r>
            <a:r>
              <a:rPr sz="1400" b="0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F3A5F"/>
                </a:solidFill>
                <a:latin typeface="Calibri"/>
              </a:rPr>
              <a:t>הזול</a:t>
            </a:r>
            <a:r>
              <a:rPr sz="1400" b="0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F3A5F"/>
                </a:solidFill>
                <a:latin typeface="Calibri"/>
              </a:rPr>
              <a:t>ביותר</a:t>
            </a:r>
            <a:r>
              <a:rPr sz="1400" b="0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F3A5F"/>
                </a:solidFill>
                <a:latin typeface="Calibri"/>
              </a:rPr>
              <a:t>שעומד</a:t>
            </a:r>
            <a:r>
              <a:rPr sz="1400" b="0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F3A5F"/>
                </a:solidFill>
                <a:latin typeface="Calibri"/>
              </a:rPr>
              <a:t>ביעד</a:t>
            </a:r>
            <a:r>
              <a:rPr sz="1400" b="0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F3A5F"/>
                </a:solidFill>
                <a:latin typeface="Calibri"/>
              </a:rPr>
              <a:t>הוא</a:t>
            </a:r>
            <a:r>
              <a:rPr sz="1400" b="0" i="0" dirty="0">
                <a:solidFill>
                  <a:srgbClr val="1F3A5F"/>
                </a:solidFill>
                <a:latin typeface="Calibri"/>
              </a:rPr>
              <a:t> כ0.95.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‪2 ·‬ יישום בתורים  ‪·  9‬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‪Example 2 · Multi-server queue‬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אופטימיזציה תחת אילוץ: כמה שרתים?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3DE"/>
                </a:solidFill>
                <a:latin typeface="Calibri"/>
              </a:rPr>
              <a:t>שיעור ‪2 ·‬ יישום בתורים  ‪·  10‬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‪Constrained optimization‬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הבעיה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9994392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91672" y="2194560"/>
            <a:ext cx="0" cy="3108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0475" y="2337878"/>
            <a:ext cx="9445752" cy="11204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600" b="1" i="0" dirty="0">
                <a:solidFill>
                  <a:srgbClr val="1F3A5F"/>
                </a:solidFill>
                <a:latin typeface="Calibri"/>
              </a:rPr>
              <a:t>הפעם </a:t>
            </a:r>
            <a:r>
              <a:rPr lang="he-IL" sz="2600" b="1" i="0" dirty="0" err="1">
                <a:solidFill>
                  <a:srgbClr val="1F3A5F"/>
                </a:solidFill>
                <a:latin typeface="Calibri"/>
              </a:rPr>
              <a:t>לא</a:t>
            </a:r>
            <a:r>
              <a:rPr lang="he-IL" sz="26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lang="he-IL" sz="2600" b="1" i="0" dirty="0" err="1">
                <a:solidFill>
                  <a:srgbClr val="1F3A5F"/>
                </a:solidFill>
                <a:latin typeface="Calibri"/>
              </a:rPr>
              <a:t>בוחרים</a:t>
            </a:r>
            <a:r>
              <a:rPr lang="he-IL" sz="26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lang="he-IL" sz="2600" b="1" i="0" dirty="0" err="1">
                <a:solidFill>
                  <a:srgbClr val="1F3A5F"/>
                </a:solidFill>
                <a:latin typeface="Calibri"/>
              </a:rPr>
              <a:t>את</a:t>
            </a:r>
            <a:r>
              <a:rPr lang="he-IL" sz="26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lang="he-IL" sz="2600" b="1" i="0" dirty="0" err="1">
                <a:solidFill>
                  <a:srgbClr val="1F3A5F"/>
                </a:solidFill>
                <a:latin typeface="Calibri"/>
              </a:rPr>
              <a:t>מהירות</a:t>
            </a:r>
            <a:r>
              <a:rPr lang="he-IL" sz="26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lang="he-IL" sz="2600" b="1" i="0" dirty="0" err="1">
                <a:solidFill>
                  <a:srgbClr val="1F3A5F"/>
                </a:solidFill>
                <a:latin typeface="Calibri"/>
              </a:rPr>
              <a:t>השרת</a:t>
            </a:r>
            <a:r>
              <a:rPr lang="he-IL" sz="2600" b="1" i="0" dirty="0">
                <a:solidFill>
                  <a:srgbClr val="1F3A5F"/>
                </a:solidFill>
                <a:latin typeface="Calibri"/>
              </a:rPr>
              <a:t> — </a:t>
            </a:r>
            <a:r>
              <a:rPr lang="he-IL" sz="2600" b="1" i="0" dirty="0" err="1">
                <a:solidFill>
                  <a:srgbClr val="1F3A5F"/>
                </a:solidFill>
                <a:latin typeface="Calibri"/>
              </a:rPr>
              <a:t>בוחרים</a:t>
            </a:r>
            <a:r>
              <a:rPr lang="he-IL" sz="26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lang="he-IL" sz="2600" b="1" i="0" dirty="0" err="1">
                <a:solidFill>
                  <a:srgbClr val="1F3A5F"/>
                </a:solidFill>
                <a:latin typeface="Calibri"/>
              </a:rPr>
              <a:t>כמה</a:t>
            </a:r>
            <a:r>
              <a:rPr lang="he-IL" sz="26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lang="he-IL" sz="2600" b="1" i="0" dirty="0" err="1">
                <a:solidFill>
                  <a:srgbClr val="1F3A5F"/>
                </a:solidFill>
                <a:latin typeface="Calibri"/>
              </a:rPr>
              <a:t>שרתים</a:t>
            </a:r>
            <a:r>
              <a:rPr lang="he-IL" sz="26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lang="he-IL" sz="2600" b="1" i="0" dirty="0" err="1">
                <a:solidFill>
                  <a:srgbClr val="1F3A5F"/>
                </a:solidFill>
                <a:latin typeface="Calibri"/>
              </a:rPr>
              <a:t>לפתוח</a:t>
            </a:r>
            <a:r>
              <a:rPr lang="he-IL" sz="2600" b="1" i="0" dirty="0">
                <a:solidFill>
                  <a:srgbClr val="1F3A5F"/>
                </a:solidFill>
                <a:latin typeface="Calibri"/>
              </a:rPr>
              <a:t>.</a:t>
            </a:r>
          </a:p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600" b="1" i="0" dirty="0">
                <a:solidFill>
                  <a:srgbClr val="1F3A5F"/>
                </a:solidFill>
                <a:latin typeface="Calibri"/>
              </a:rPr>
              <a:t>כל שרת עולה כסף, ולכן רוצים לפתוח כמה שפחות שרתים.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4068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5A6B7B"/>
                </a:solidFill>
                <a:latin typeface="Calibri"/>
              </a:rPr>
              <a:t>אילוץ שירות: זמן ההמתנה הממוצע בתור חייב להיות קטן מ-2 יחידות זמן.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‪2 ·‬ יישום בתורים  ‪·  11‬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58CECF-AB4E-5F46-A956-116C9634AEDD}"/>
                  </a:ext>
                </a:extLst>
              </p:cNvPr>
              <p:cNvSpPr txBox="1"/>
              <p:nvPr/>
            </p:nvSpPr>
            <p:spPr>
              <a:xfrm>
                <a:off x="1638556" y="3853981"/>
                <a:ext cx="8708279" cy="1572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1">
                  <a:lnSpc>
                    <a:spcPct val="125000"/>
                  </a:lnSpc>
                  <a:spcAft>
                    <a:spcPts val="600"/>
                  </a:spcAft>
                </a:pPr>
                <a:r>
                  <a:rPr lang="he-IL" sz="2600" b="1" dirty="0">
                    <a:solidFill>
                      <a:srgbClr val="1F3A5F"/>
                    </a:solidFill>
                    <a:latin typeface="Calibri"/>
                  </a:rPr>
                  <a:t>מצאו </a:t>
                </a:r>
                <a:r>
                  <a:rPr lang="he-IL" sz="2600" b="1" dirty="0" err="1">
                    <a:solidFill>
                      <a:srgbClr val="1F3A5F"/>
                    </a:solidFill>
                    <a:latin typeface="Calibri"/>
                  </a:rPr>
                  <a:t>את</a:t>
                </a:r>
                <a:r>
                  <a:rPr lang="he-IL" sz="2600" b="1" dirty="0">
                    <a:solidFill>
                      <a:srgbClr val="1F3A5F"/>
                    </a:solidFill>
                    <a:latin typeface="Calibri"/>
                  </a:rPr>
                  <a:t> </a:t>
                </a:r>
                <a:r>
                  <a:rPr lang="he-IL" sz="2600" b="1" dirty="0" err="1">
                    <a:solidFill>
                      <a:srgbClr val="1F3A5F"/>
                    </a:solidFill>
                    <a:latin typeface="Calibri"/>
                  </a:rPr>
                  <a:t>מספר</a:t>
                </a:r>
                <a:r>
                  <a:rPr lang="he-IL" sz="2600" b="1" dirty="0">
                    <a:solidFill>
                      <a:srgbClr val="1F3A5F"/>
                    </a:solidFill>
                    <a:latin typeface="Calibri"/>
                  </a:rPr>
                  <a:t> </a:t>
                </a:r>
                <a:r>
                  <a:rPr lang="he-IL" sz="2600" b="1" dirty="0" err="1">
                    <a:solidFill>
                      <a:srgbClr val="1F3A5F"/>
                    </a:solidFill>
                    <a:latin typeface="Calibri"/>
                  </a:rPr>
                  <a:t>השרתים</a:t>
                </a:r>
                <a:r>
                  <a:rPr lang="he-IL" sz="2600" b="1" dirty="0">
                    <a:solidFill>
                      <a:srgbClr val="1F3A5F"/>
                    </a:solidFill>
                    <a:latin typeface="Calibri"/>
                  </a:rPr>
                  <a:t> </a:t>
                </a:r>
                <a:r>
                  <a:rPr lang="he-IL" sz="2600" b="1" dirty="0" err="1">
                    <a:solidFill>
                      <a:srgbClr val="1F3A5F"/>
                    </a:solidFill>
                    <a:latin typeface="Calibri"/>
                  </a:rPr>
                  <a:t>הקטן</a:t>
                </a:r>
                <a:r>
                  <a:rPr lang="he-IL" sz="2600" b="1" dirty="0">
                    <a:solidFill>
                      <a:srgbClr val="1F3A5F"/>
                    </a:solidFill>
                    <a:latin typeface="Calibri"/>
                  </a:rPr>
                  <a:t> </a:t>
                </a:r>
                <a:r>
                  <a:rPr lang="he-IL" sz="2600" b="1" dirty="0" err="1">
                    <a:solidFill>
                      <a:srgbClr val="1F3A5F"/>
                    </a:solidFill>
                    <a:latin typeface="Calibri"/>
                  </a:rPr>
                  <a:t>ביותר</a:t>
                </a:r>
                <a:r>
                  <a:rPr lang="he-IL" sz="2600" b="1" dirty="0">
                    <a:solidFill>
                      <a:srgbClr val="1F3A5F"/>
                    </a:solidFill>
                    <a:latin typeface="Calibri"/>
                  </a:rPr>
                  <a:t> </a:t>
                </a:r>
                <a:r>
                  <a:rPr lang="he-IL" sz="2600" b="1" dirty="0" err="1">
                    <a:solidFill>
                      <a:srgbClr val="1F3A5F"/>
                    </a:solidFill>
                    <a:latin typeface="Calibri"/>
                  </a:rPr>
                  <a:t>כך</a:t>
                </a:r>
                <a:r>
                  <a:rPr lang="he-IL" sz="2600" b="1" dirty="0">
                    <a:solidFill>
                      <a:srgbClr val="1F3A5F"/>
                    </a:solidFill>
                    <a:latin typeface="Calibri"/>
                  </a:rPr>
                  <a:t> ש  ‪</a:t>
                </a:r>
                <a14:m>
                  <m:oMath xmlns:m="http://schemas.openxmlformats.org/officeDocument/2006/math">
                    <m:r>
                      <a:rPr lang="he-IL" sz="2600" b="1" dirty="0">
                        <a:solidFill>
                          <a:srgbClr val="1F3A5F"/>
                        </a:solidFill>
                        <a:latin typeface="Calibri"/>
                      </a:rPr>
                      <m:t>𝑬</m:t>
                    </m:r>
                    <m:r>
                      <a:rPr lang="he-IL" sz="2600" b="1" dirty="0">
                        <a:solidFill>
                          <a:srgbClr val="1F3A5F"/>
                        </a:solidFill>
                        <a:latin typeface="Calibri"/>
                      </a:rPr>
                      <m:t>[</m:t>
                    </m:r>
                    <m:sSub>
                      <m:sSubPr>
                        <m:ctrlPr>
                          <a:rPr lang="ar-AE" sz="2600" b="1" dirty="0" err="1">
                            <a:solidFill>
                              <a:srgbClr val="1F3A5F"/>
                            </a:solidFill>
                            <a:latin typeface="Calibri"/>
                          </a:rPr>
                        </m:ctrlPr>
                      </m:sSubPr>
                      <m:e>
                        <m:r>
                          <a:rPr lang="ar-AE" sz="2600" b="1" dirty="0" err="1">
                            <a:solidFill>
                              <a:srgbClr val="1F3A5F"/>
                            </a:solidFill>
                            <a:latin typeface="Calibri"/>
                          </a:rPr>
                          <m:t>𝑾</m:t>
                        </m:r>
                      </m:e>
                      <m:sub>
                        <m:r>
                          <a:rPr lang="ar-AE" sz="2600" b="1" dirty="0" err="1">
                            <a:solidFill>
                              <a:srgbClr val="1F3A5F"/>
                            </a:solidFill>
                            <a:latin typeface="Calibri"/>
                          </a:rPr>
                          <m:t>𝒒</m:t>
                        </m:r>
                      </m:sub>
                    </m:sSub>
                    <m:r>
                      <a:rPr lang="ar-AE" sz="2600" b="1" dirty="0">
                        <a:solidFill>
                          <a:srgbClr val="1F3A5F"/>
                        </a:solidFill>
                        <a:latin typeface="Calibri"/>
                      </a:rPr>
                      <m:t>] &lt; </m:t>
                    </m:r>
                    <m:r>
                      <a:rPr lang="ar-AE" sz="2600" b="1" dirty="0">
                        <a:solidFill>
                          <a:srgbClr val="1F3A5F"/>
                        </a:solidFill>
                        <a:latin typeface="Calibri"/>
                      </a:rPr>
                      <m:t>𝟐</m:t>
                    </m:r>
                  </m:oMath>
                </a14:m>
                <a:r>
                  <a:rPr lang="ar-AE" sz="2600" b="1" dirty="0">
                    <a:solidFill>
                      <a:srgbClr val="1F3A5F"/>
                    </a:solidFill>
                    <a:latin typeface="Calibri"/>
                  </a:rPr>
                  <a:t>‬</a:t>
                </a:r>
                <a:br>
                  <a:rPr lang="ar-AE" sz="2600" b="1" dirty="0">
                    <a:solidFill>
                      <a:srgbClr val="1F3A5F"/>
                    </a:solidFill>
                    <a:latin typeface="Calibri"/>
                  </a:rPr>
                </a:br>
                <a:r>
                  <a:rPr lang="he-IL" sz="2600" b="1" dirty="0">
                    <a:solidFill>
                      <a:srgbClr val="1F3A5F"/>
                    </a:solidFill>
                    <a:latin typeface="Calibri"/>
                  </a:rPr>
                  <a:t>כאשר: </a:t>
                </a:r>
                <a14:m>
                  <m:oMath xmlns:m="http://schemas.openxmlformats.org/officeDocument/2006/math">
                    <m:r>
                      <a:rPr lang="ar-AE" sz="2600" b="1" dirty="0">
                        <a:solidFill>
                          <a:srgbClr val="1F3A5F"/>
                        </a:solidFill>
                        <a:latin typeface="Calibri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ar-AE" sz="2600" b="1" dirty="0" err="1">
                            <a:solidFill>
                              <a:srgbClr val="1F3A5F"/>
                            </a:solidFill>
                            <a:latin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600" b="1" dirty="0" err="1">
                                <a:solidFill>
                                  <a:srgbClr val="1F3A5F"/>
                                </a:solidFill>
                                <a:latin typeface="Calibri"/>
                              </a:rPr>
                            </m:ctrlPr>
                          </m:sSubPr>
                          <m:e>
                            <m:r>
                              <a:rPr lang="ar-AE" sz="2600" b="1" dirty="0" err="1">
                                <a:solidFill>
                                  <a:srgbClr val="1F3A5F"/>
                                </a:solidFill>
                                <a:latin typeface="Calibri"/>
                              </a:rPr>
                              <m:t>𝑾</m:t>
                            </m:r>
                          </m:e>
                          <m:sub>
                            <m:r>
                              <a:rPr lang="ar-AE" sz="2600" b="1" dirty="0" err="1">
                                <a:solidFill>
                                  <a:srgbClr val="1F3A5F"/>
                                </a:solidFill>
                                <a:latin typeface="Calibri"/>
                              </a:rPr>
                              <m:t>𝒒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sz="2600" b="1" dirty="0">
                    <a:solidFill>
                      <a:srgbClr val="1F3A5F"/>
                    </a:solidFill>
                    <a:latin typeface="Calibri"/>
                  </a:rPr>
                  <a:t>  - </a:t>
                </a:r>
                <a:r>
                  <a:rPr lang="he-IL" sz="2600" b="1" dirty="0">
                    <a:solidFill>
                      <a:srgbClr val="1F3A5F"/>
                    </a:solidFill>
                    <a:latin typeface="Calibri"/>
                  </a:rPr>
                  <a:t>תוחלת זמן המתנה.</a:t>
                </a:r>
              </a:p>
              <a:p>
                <a:pPr algn="r" rtl="1"/>
                <a:endParaRPr lang="en-IL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58CECF-AB4E-5F46-A956-116C9634A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556" y="3853981"/>
                <a:ext cx="8708279" cy="15722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‪Result‬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תוצאת הסימולציה: כמה שרתים מספיקים?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ell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293" y="1828800"/>
            <a:ext cx="6963108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06440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A6B7B"/>
                </a:solidFill>
                <a:latin typeface="Calibri"/>
              </a:rPr>
              <a:t>תוחלת זמן ההמתנה בתור כפונקציה של מספר השרתים, מול היעד ‪E[Wq] &lt; 2.‬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3A5F"/>
                </a:solidFill>
                <a:latin typeface="Calibri"/>
              </a:rPr>
              <a:t>שרת אחד או שניים — המערכת לא יציבה וזמן ההמתנה מתפוצץ; מ-4 שרתים ואילך האילוץ מתקיים.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‪2 ·‬ יישום בתורים  ‪·  12‬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‪Takeaways‬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dirty="0">
                <a:solidFill>
                  <a:srgbClr val="1F3A5F"/>
                </a:solidFill>
                <a:latin typeface="Calibri"/>
              </a:rPr>
              <a:t>ניתוח הגרף:</a:t>
            </a:r>
            <a:endParaRPr sz="2800" b="1" i="0" dirty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98685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</a:rPr>
              <a:t>פונקציה מונוטונית יורדת</a:t>
            </a:r>
            <a:endParaRPr sz="1800" b="1" i="0" dirty="0">
              <a:solidFill>
                <a:srgbClr val="1F3A5F"/>
              </a:solidFill>
              <a:latin typeface="Calibri"/>
            </a:endParaRP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ככל שקצב השירות גדל – תוחלת זמן השהייה גם קטנה. </a:t>
            </a:r>
            <a:endParaRPr sz="1500" b="0" i="0" dirty="0">
              <a:solidFill>
                <a:srgbClr val="1A2433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102823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</a:rPr>
              <a:t>נקודת התכנסות</a:t>
            </a:r>
            <a:endParaRPr sz="1800" b="1" i="0" dirty="0">
              <a:solidFill>
                <a:srgbClr val="1F3A5F"/>
              </a:solidFill>
              <a:latin typeface="Calibri"/>
            </a:endParaRP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dirty="0">
                <a:solidFill>
                  <a:srgbClr val="1A2433"/>
                </a:solidFill>
                <a:latin typeface="Calibri"/>
              </a:rPr>
              <a:t>ממספר שרתים מסוים תוחלת זמן השהייה לא משתנה. למה לדעתכם זה קורה?</a:t>
            </a:r>
            <a:endParaRPr sz="1500" b="0" i="0" dirty="0">
              <a:solidFill>
                <a:srgbClr val="1A2433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‪2 ·‬ יישום בתורים  ‪·  13‬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5D29D-961F-123A-E6F7-2FA1CB9BE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6F6B08-F313-0655-8A98-C086A440CB8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692D1F-B4F7-0925-E66C-42FEF586860E}"/>
              </a:ext>
            </a:extLst>
          </p:cNvPr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‪Takeaways‬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30E151-8265-6B47-5DD7-8415E566E1EB}"/>
              </a:ext>
            </a:extLst>
          </p:cNvPr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מה לוקחים מהשיעור?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03FA6F-7455-1081-6788-BC54E7E718D3}"/>
              </a:ext>
            </a:extLst>
          </p:cNvPr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6214414-FBCD-0380-18FC-01E2267C1BF8}"/>
              </a:ext>
            </a:extLst>
          </p:cNvPr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482096-00C2-6BB6-7DB5-35E74F68F8AA}"/>
              </a:ext>
            </a:extLst>
          </p:cNvPr>
          <p:cNvSpPr txBox="1"/>
          <p:nvPr/>
        </p:nvSpPr>
        <p:spPr>
          <a:xfrm>
            <a:off x="822960" y="1998685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סימולציה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כמכשיר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החלטה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לא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רק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להבין</a:t>
            </a:r>
            <a:r>
              <a:rPr lang="he-IL" sz="150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קורה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—</a:t>
            </a:r>
            <a:r>
              <a:rPr lang="en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אלא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לבחור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פרמטר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תפעולי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בפועל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9F487E-9B39-8E1D-5720-C59D62D726D2}"/>
              </a:ext>
            </a:extLst>
          </p:cNvPr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2262BE-DFDB-A86D-5DCA-D03CA64D3D49}"/>
              </a:ext>
            </a:extLst>
          </p:cNvPr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שני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סוגי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אופטימיזציה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בחירת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קצב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שירות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רציף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לעומת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בחירת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מספר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שרתים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בדיד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6FF3BDC-AA96-02B8-77C8-A93632EC63E7}"/>
              </a:ext>
            </a:extLst>
          </p:cNvPr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886295-C464-4224-FCD2-FFFCCD4DAD96}"/>
              </a:ext>
            </a:extLst>
          </p:cNvPr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יציבות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היא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תנאי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סף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לפני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שבודקים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האילוץ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עצמו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המערכת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חייבת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להיות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יציבה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2F6A634-5121-8010-F401-FEBC3D9B2928}"/>
              </a:ext>
            </a:extLst>
          </p:cNvPr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28CD2B-9605-5CD5-CA3B-D8202C47E3F4}"/>
              </a:ext>
            </a:extLst>
          </p:cNvPr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הצעד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הבא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נגדיר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מדדי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ביצוע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‪(KPIs)‬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מדויקים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יותר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ונלמד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למדוד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אותם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נכון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DDC66C-A3CC-BF46-D681-D47D4C55F0C1}"/>
              </a:ext>
            </a:extLst>
          </p:cNvPr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‪2 ·‬ יישום בתורים  ‪·  13‬</a:t>
            </a:r>
          </a:p>
        </p:txBody>
      </p:sp>
    </p:spTree>
    <p:extLst>
      <p:ext uri="{BB962C8B-B14F-4D97-AF65-F5344CB8AC3E}">
        <p14:creationId xmlns:p14="http://schemas.microsoft.com/office/powerpoint/2010/main" val="3376188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916</Words>
  <Application>Microsoft Office PowerPoint</Application>
  <PresentationFormat>Widescreen</PresentationFormat>
  <Paragraphs>125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אלירן שרצר/Eliran Sherzer</cp:lastModifiedBy>
  <cp:revision>3</cp:revision>
  <dcterms:created xsi:type="dcterms:W3CDTF">2013-01-27T09:14:16Z</dcterms:created>
  <dcterms:modified xsi:type="dcterms:W3CDTF">2026-10-04T00:27:32Z</dcterms:modified>
  <cp:category/>
</cp:coreProperties>
</file>