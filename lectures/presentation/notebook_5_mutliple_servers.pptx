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6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E07A2F"/>
                </a:solidFill>
                <a:latin typeface="Calibri"/>
                <a:cs typeface="Calibri"/>
              </a:rPr>
              <a:t>שיעור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4000" b="1" i="0">
                <a:solidFill>
                  <a:srgbClr val="FFFFFF"/>
                </a:solidFill>
                <a:latin typeface="Calibri"/>
                <a:cs typeface="Calibri"/>
              </a:rPr>
              <a:t>אופטימיזציה בתורים בעזרת סימולציה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C7D8E6"/>
                </a:solidFill>
                <a:latin typeface="Calibri"/>
                <a:cs typeface="Calibri"/>
              </a:rPr>
              <a:t>כמה שרתים מהירים וכמה שרתים איטיים כדאי להפעיל?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5 · Simulation-based optimization‬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בעיית האיוש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שני סוגי שרתים, לקוחות שנוטשים, ועלויות.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מודל העלות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פונקציית מטרה שמשלבת איוש ונטישות.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חיפוש על פני תמהילים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מריצים סימולציה לכל תמהיל ובוחרים את הזול ביותר.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חזרות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האם ההמלצה יציבה?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ניתוח רגישות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מתי צריך להריץ את הסימולציה מחדש, ומתי לא.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 staffing decision‬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שני סוגי שרתים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FFFFFF"/>
                </a:solidFill>
                <a:latin typeface="Calibri"/>
                <a:cs typeface="Calibri"/>
              </a:rPr>
              <a:t>שרתים איטיים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זולים יותר — 30 לשעה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זמן שירות ממוצע: 40 דקות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כל לקוח תופס אותם יותר זמן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874519"/>
            <a:ext cx="5486400" cy="54864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20239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FFFFFF"/>
                </a:solidFill>
                <a:latin typeface="Calibri"/>
                <a:cs typeface="Calibri"/>
              </a:rPr>
              <a:t>שרתים מהירים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6032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יקרים יותר — 55 לשעה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זמן שירות ממוצע: כ-17 דקות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lang="he-IL" sz="1600" b="0" i="0">
                <a:solidFill>
                  <a:srgbClr val="1A2433"/>
                </a:solidFill>
                <a:latin typeface="Calibri"/>
                <a:cs typeface="Calibri"/>
              </a:rPr>
              <a:t>•  מסיימים שירות מהר יותר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 question‬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השאלה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1F3A5F"/>
                </a:solidFill>
                <a:latin typeface="Calibri"/>
                <a:cs typeface="Calibri"/>
              </a:rPr>
              <a:t>לא רק כמה שרתים להפעיל —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1F3A5F"/>
                </a:solidFill>
                <a:latin typeface="Calibri"/>
                <a:cs typeface="Calibri"/>
              </a:rPr>
              <a:t>אלא כמה מהירים וכמה איטיים?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לקוח שממתין יותר מזמן הסבלנות האקראי שלו נוטש — וכל נטישה עולה כסף.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‪Model inputs‬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המודל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0" i="1">
                <a:solidFill>
                  <a:srgbClr val="5A6B7B"/>
                </a:solidFill>
                <a:latin typeface="Calibri"/>
                <a:cs typeface="Calibri"/>
              </a:rPr>
              <a:t>סימולציה של 800,000 לקוחות לכל תמהיל שרתים.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97479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הגעות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תהליך פואסון, 8 לקוחות לשעה.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95878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50742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שירות אצל שרת איטי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מעריכי, ממוצע 40 דקות.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4276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49140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שירות אצל שרת מהיר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מעריכי, ממוצע כ-17 דקות.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92674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447538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סבלנות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התפלגות גמא, ממוצע 9.6 דקות.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‪Throughput &amp; abandonment‬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שני מדדים שהסימולציה משערכת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414108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33027" y="4258599"/>
                <a:ext cx="10515600" cy="7281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ar-AE"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ar-AE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ar-AE" sz="1800" b="1" i="1" dirty="0" err="1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1" i="1" dirty="0" err="1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ar-AE" b="1" i="1" dirty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𝒔𝒆𝒓𝒗𝒆𝒅</m:t>
                        </m:r>
                      </m:sub>
                    </m:sSub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/ </m:t>
                    </m:r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</m:oMath>
                </a14:m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קצב תפוקה — לקוחות שקיבלו שירות ליחידת זמן.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27" y="4258599"/>
                <a:ext cx="10515600" cy="728148"/>
              </a:xfrm>
              <a:prstGeom prst="rect">
                <a:avLst/>
              </a:prstGeom>
              <a:blipFill>
                <a:blip r:embed="rId2"/>
                <a:stretch>
                  <a:fillRect t="-840" r="-232" b="-92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443484" y="5360670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33027" y="5466369"/>
                <a:ext cx="10515600" cy="7281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ar-AE"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ar-AE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ar-AE" sz="1800" b="1" i="1" dirty="0" err="1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1" i="1" dirty="0" err="1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ar-AE" b="1" i="1" dirty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𝒂𝒃𝒂𝒏𝒅𝒐𝒏𝒆𝒅</m:t>
                        </m:r>
                      </m:sub>
                    </m:sSub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/ </m:t>
                    </m:r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ar-AE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</m:oMath>
                </a14:m>
                <a:endParaRPr lang="ar-AE" sz="1800" b="1" i="0" dirty="0">
                  <a:solidFill>
                    <a:srgbClr val="1F3A5F"/>
                  </a:solidFill>
                  <a:latin typeface="Calibri"/>
                </a:endParaRPr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קצב נטישה — לקוחות שנטשו ליחידת זמן.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27" y="5466369"/>
                <a:ext cx="10515600" cy="728148"/>
              </a:xfrm>
              <a:prstGeom prst="rect">
                <a:avLst/>
              </a:prstGeom>
              <a:blipFill>
                <a:blip r:embed="rId3"/>
                <a:stretch>
                  <a:fillRect t="-840" r="-232" b="-92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458724" y="2940441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24484" y="3063868"/>
                <a:ext cx="10515600" cy="6926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sz="1800" b="1" i="0" dirty="0">
                    <a:solidFill>
                      <a:srgbClr val="1F3A5F"/>
                    </a:solidFill>
                    <a:latin typeface="Calibri"/>
                  </a:rPr>
                  <a:t>‬  </a:t>
                </a:r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אופק הזמן של הסימולציה.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84" y="3063868"/>
                <a:ext cx="10515600" cy="692690"/>
              </a:xfrm>
              <a:prstGeom prst="rect">
                <a:avLst/>
              </a:prstGeom>
              <a:blipFill>
                <a:blip r:embed="rId4"/>
                <a:stretch>
                  <a:fillRect t="-5310" r="-232" b="-973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457200" y="1775312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822960" y="1898740"/>
                <a:ext cx="10515600" cy="6926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</m:oMath>
                </a14:m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מספר השרתים המהירים והאיטיים בתמהיל.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898740"/>
                <a:ext cx="10515600" cy="692690"/>
              </a:xfrm>
              <a:prstGeom prst="rect">
                <a:avLst/>
              </a:prstGeom>
              <a:blipFill>
                <a:blip r:embed="rId5"/>
                <a:stretch>
                  <a:fillRect t="-5263" r="-232" b="-964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‪Cost model‬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פונקציית המטרה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156037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273410" y="2463975"/>
                <a:ext cx="9445752" cy="11324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rtl="1">
                  <a:lnSpc>
                    <a:spcPct val="12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IL" sz="2600" b="1" i="1" dirty="0" smtClean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‪</m:t>
                    </m:r>
                    <m:r>
                      <a:rPr lang="en-IL" sz="2600" b="1" i="1" dirty="0" smtClean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IL" sz="2600" b="1" i="1" dirty="0" smtClean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sz="2600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L" sz="2600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L" sz="2600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IL" sz="2600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sz="2600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L" sz="2600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L" sz="2600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L" sz="2600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)‬</m:t>
                    </m:r>
                  </m:oMath>
                </a14:m>
              </a:p>
              <a:p>
                <a:pPr algn="ctr" rtl="1">
                  <a:lnSpc>
                    <a:spcPct val="12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2600" b="1" i="0" dirty="0">
                    <a:solidFill>
                      <a:srgbClr val="2E86AB"/>
                    </a:solidFill>
                    <a:latin typeface="Calibri"/>
                    <a:cs typeface="Calibri"/>
                  </a:rPr>
                  <a:t>עלות איוש + עלות נטישות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410" y="2463975"/>
                <a:ext cx="9445752" cy="1132490"/>
              </a:xfrm>
              <a:prstGeom prst="rect">
                <a:avLst/>
              </a:prstGeom>
              <a:blipFill>
                <a:blip r:embed="rId2"/>
                <a:stretch>
                  <a:fillRect b="-1397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רק איטיים — זול, אבל מאבד לקוחות. רק מהירים — שירות טוב, אבל יקר. מחפשים איזון באמצע.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E8D3C5-2BD1-1813-266E-D50DE423F6A0}"/>
                  </a:ext>
                </a:extLst>
              </p:cNvPr>
              <p:cNvSpPr txBox="1"/>
              <p:nvPr/>
            </p:nvSpPr>
            <p:spPr>
              <a:xfrm>
                <a:off x="7030878" y="3856056"/>
                <a:ext cx="36882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b="1" dirty="0">
                    <a:solidFill>
                      <a:srgbClr val="2E86AB"/>
                    </a:solidFill>
                  </a:rPr>
                  <a:t>    עלות שרת מהיר: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IL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E8D3C5-2BD1-1813-266E-D50DE423F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878" y="3856056"/>
                <a:ext cx="3688284" cy="369332"/>
              </a:xfrm>
              <a:prstGeom prst="rect">
                <a:avLst/>
              </a:prstGeom>
              <a:blipFill>
                <a:blip r:embed="rId3"/>
                <a:stretch>
                  <a:fillRect t="-11667" r="-1488" b="-25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378554-407E-5089-6A78-4E7B38590323}"/>
                  </a:ext>
                </a:extLst>
              </p:cNvPr>
              <p:cNvSpPr txBox="1"/>
              <p:nvPr/>
            </p:nvSpPr>
            <p:spPr>
              <a:xfrm>
                <a:off x="7030878" y="4209082"/>
                <a:ext cx="36882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b="1" dirty="0">
                    <a:solidFill>
                      <a:srgbClr val="2E86AB"/>
                    </a:solidFill>
                  </a:rPr>
                  <a:t>    עלות שרת איטי: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378554-407E-5089-6A78-4E7B38590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878" y="4209082"/>
                <a:ext cx="3688284" cy="369332"/>
              </a:xfrm>
              <a:prstGeom prst="rect">
                <a:avLst/>
              </a:prstGeom>
              <a:blipFill>
                <a:blip r:embed="rId4"/>
                <a:stretch>
                  <a:fillRect t="-9836" r="-1488" b="-229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B8A18E-31E0-DED5-C5D0-251D5367C9DC}"/>
                  </a:ext>
                </a:extLst>
              </p:cNvPr>
              <p:cNvSpPr txBox="1"/>
              <p:nvPr/>
            </p:nvSpPr>
            <p:spPr>
              <a:xfrm>
                <a:off x="7030878" y="4915851"/>
                <a:ext cx="36882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b="1" dirty="0">
                    <a:solidFill>
                      <a:srgbClr val="2E86AB"/>
                    </a:solidFill>
                  </a:rPr>
                  <a:t>    עלות כוללת למערכת:</a:t>
                </a:r>
                <a14:m>
                  <m:oMath xmlns:m="http://schemas.openxmlformats.org/officeDocument/2006/math">
                    <m:r>
                      <a:rPr lang="en-IL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IL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L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L" b="1" i="1" dirty="0" err="1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L" b="1" i="1" dirty="0">
                        <a:solidFill>
                          <a:srgbClr val="2E86A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B8A18E-31E0-DED5-C5D0-251D5367C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878" y="4915851"/>
                <a:ext cx="3688284" cy="369332"/>
              </a:xfrm>
              <a:prstGeom prst="rect">
                <a:avLst/>
              </a:prstGeom>
              <a:blipFill>
                <a:blip r:embed="rId5"/>
                <a:stretch>
                  <a:fillRect t="-9836" r="-1488" b="-229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03549D-ABA6-1A29-CF6A-BFB48B8883B9}"/>
                  </a:ext>
                </a:extLst>
              </p:cNvPr>
              <p:cNvSpPr txBox="1"/>
              <p:nvPr/>
            </p:nvSpPr>
            <p:spPr>
              <a:xfrm>
                <a:off x="7030878" y="4543362"/>
                <a:ext cx="36882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b="1" dirty="0">
                    <a:solidFill>
                      <a:srgbClr val="2E86AB"/>
                    </a:solidFill>
                  </a:rPr>
                  <a:t>    עלות שרת מהיר: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b="1" i="1" dirty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2E86AB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IL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03549D-ABA6-1A29-CF6A-BFB48B888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878" y="4543362"/>
                <a:ext cx="3688284" cy="369332"/>
              </a:xfrm>
              <a:prstGeom prst="rect">
                <a:avLst/>
              </a:prstGeom>
              <a:blipFill>
                <a:blip r:embed="rId6"/>
                <a:stretch>
                  <a:fillRect t="-9836" r="-1488" b="-229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‪Cost parameters‬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הפרמטרים בפונקציית המטרה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38200" y="2099674"/>
                <a:ext cx="10515600" cy="6926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‪</m:t>
                    </m:r>
                    <m:sSub>
                      <m:sSubPr>
                        <m:ctrlPr>
                          <a:rPr lang="en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  <m:r>
                      <a:rPr lang="en-US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עלות שרת מהיר ליחידת זמן — </a:t>
                </a:r>
                <a:r>
                  <a:rPr lang="he-IL" sz="1500" b="1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55</a:t>
                </a: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99674"/>
                <a:ext cx="10515600" cy="692690"/>
              </a:xfrm>
              <a:prstGeom prst="rect">
                <a:avLst/>
              </a:prstGeom>
              <a:blipFill>
                <a:blip r:embed="rId2"/>
                <a:stretch>
                  <a:fillRect r="-174" b="-877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22960" y="3407265"/>
                <a:ext cx="10515600" cy="6926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‪</m:t>
                    </m:r>
                    <m:sSub>
                      <m:sSubPr>
                        <m:ctrlPr>
                          <a:rPr lang="en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</m:oMath>
                </a14:m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עלות שרת איטי ליחידת זמן — </a:t>
                </a:r>
                <a:r>
                  <a:rPr lang="he-IL" sz="1500" b="1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30</a:t>
                </a: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407265"/>
                <a:ext cx="10515600" cy="692690"/>
              </a:xfrm>
              <a:prstGeom prst="rect">
                <a:avLst/>
              </a:prstGeom>
              <a:blipFill>
                <a:blip r:embed="rId3"/>
                <a:stretch>
                  <a:fillRect r="-232" b="-877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22960" y="4697129"/>
                <a:ext cx="10515600" cy="7281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he-IL" sz="1800" b="1" i="0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he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he-IL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he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</m:t>
                    </m:r>
                  </m:oMath>
                </a14:m>
                <a:r>
                  <a:rPr lang="he-IL" sz="1800" b="1" i="0" dirty="0">
                    <a:solidFill>
                      <a:srgbClr val="1F3A5F"/>
                    </a:solidFill>
                    <a:latin typeface="Calibri"/>
                  </a:rPr>
                  <a:t>  </a:t>
                </a:r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עלות נטישה של לקוח — </a:t>
                </a:r>
                <a:r>
                  <a:rPr lang="he-IL" sz="1500" b="1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200</a:t>
                </a: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697129"/>
                <a:ext cx="10515600" cy="728148"/>
              </a:xfrm>
              <a:prstGeom prst="rect">
                <a:avLst/>
              </a:prstGeom>
              <a:blipFill>
                <a:blip r:embed="rId4"/>
                <a:stretch>
                  <a:fillRect t="-840" r="-232" b="-92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‪Common random numbers‬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קלטים אקראיים משותפים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0" i="1">
                <a:solidFill>
                  <a:srgbClr val="5A6B7B"/>
                </a:solidFill>
                <a:latin typeface="Calibri"/>
                <a:cs typeface="Calibri"/>
              </a:rPr>
              <a:t>מגרילים פעם אחת את כל האקראיות — לפני שמסמלצים תמהיל כלשהו.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97479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זמנים בין הגעות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לכל לקוח — הזמן מאז ההגעה הקודמת.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95878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50742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זמני שירות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לכל לקוח ולכל שרת — כמה זמן ייקח השירות אם הלקוח יטופל אצל אותו שרת.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4276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49140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זמני סבלנות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לכל לקוח — כמה זמן הוא מוכן לחכות.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92674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447538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הרעיון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אותם מימושים לכל התמהילים — כל חלופה מתמודדת עם אותו זרם לקוחות, וההשוואה נקייה.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‪One mix first‬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קודם: תמהיל אחד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התמהיל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2 שרתים מהירים ו-4 שרתים איטיים.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כלל ההשמה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אם פנויים גם שרת מהיר וגם שרת איטי — הלקוח מופנה קודם למהיר.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תוצאה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מתוך 800,000 לקוחות: 762,418 קיבלו שירות ו-37,582 נטשו — כ-4.7%.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תפוקה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כ-7.64 לקוחות לשעה מקבלים שירות, מתוך 8 שמגיעים.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‪Grid search‬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חיפוש על פני כל התמהילים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המרחב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עד 5 מהירים ועד 7 איטיים — ולכל היותר 7 שרתים בסך הכל.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לכל תמהיל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סימולציה על אותם קלטים, וחישוב עלות איוש, עלות נטישות ועלות כוללת.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המנצח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3 מהירים ו-3 איטיים — עלות כוללת של כ-295 לשעה.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‪Cost surface‬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משטח העלות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014" y="1828800"/>
            <a:ext cx="4771667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עלות כוללת לשעה לכל תמהיל. הכוכב מסמן את התמהיל הזול ביותר.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מעט שרתים — עלות נטישה עצומה. באזור המאוזן המשטח נמוך ושטוח יחסית.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‪Cost breakdown‬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פירוק העלות: איוש מול נטישות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22" y="1828800"/>
            <a:ext cx="8579651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12 התמהילים הזולים ביותר, מסודרים לפי עלות כוללת. כחול: איוש; אדום: נטישות.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התמהילים הטובים מאזנים: עלות איוש בינונית, ומעט נטישות.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‪Interpretation‬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פירוש התוצאה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יותר שרתים איטיים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זולים, אבל לא בהכרח מפחיתים נטישות מספיק.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יותר שרתים מהירים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מפחיתים נטישות, אבל עלות האיוש עולה מהר.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פתרון מעורב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מאזן בין שני האפקטים.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למה סימולציה?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העלות תלויה בדינמיקת התור, בסבלנות האקראית ובשונות בזמני השירות — אין נוסחה פשוטה.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‪Replications‬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חזרות: האם ההמלצה יציבה?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ריצה אחת = ניסוי אקראי אחד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האם עם מימושים אחרים היינו מקבלים את אותה המלצה?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הניסוי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חוזרים על כל החיפוש 4 פעמים, עם מימושים אקראיים חדשים.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משווים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את העלות הממוצעת של כל תמהיל, ואת הפיזור בין החזרות.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‪Replication results‬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תוצאות החזרות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75" y="1828800"/>
            <a:ext cx="7712143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עלות ממוצעת לשעה ופיזור, על פני 4 חזרות בלתי-תלויות.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76072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78815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3 מהירים ו-3 איטיים נשאר הזול ביותר — כ-294 לשעה. אחריו: 2 ו-5 — כ-296.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‪Conclusion‬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המסקנה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תמהיל מעורב עדיף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על פני רק מהירים או רק איטיים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שני התמהילים המובילים קרובים זה לזה — המבנה חשוב יותר מהמספר המדויק.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‪Sensitivity analysis‬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3400" b="1" i="0">
                <a:solidFill>
                  <a:srgbClr val="FFFFFF"/>
                </a:solidFill>
                <a:latin typeface="Calibri"/>
                <a:cs typeface="Calibri"/>
              </a:rPr>
              <a:t>ניתוח רגישות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C7D3DE"/>
                </a:solidFill>
                <a:latin typeface="Calibri"/>
                <a:cs typeface="Calibri"/>
              </a:rPr>
              <a:t>שיעור 5 · אופטימיזציה בעזרת סימולציה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‪What if?‬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עלות שרת איטי עולה מ-30 ל-35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1F3A5F"/>
                </a:solidFill>
                <a:latin typeface="Calibri"/>
                <a:cs typeface="Calibri"/>
              </a:rPr>
              <a:t>האם צריך להריץ את הסימולציה מחדש?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תשובה: לא. נסתכל שוב על פונקציית המטרה.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‪Decomposing the objective‬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מה בפונקציית המטרה תלוי בסימולציה?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-1046343" y="1699128"/>
                <a:ext cx="12778095" cy="55778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 rtl="1">
                  <a:lnSpc>
                    <a:spcPct val="12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IL" b="1" i="1" dirty="0" smtClean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‪</m:t>
                      </m:r>
                      <m:r>
                        <a:rPr lang="en-IL" b="1" i="1" dirty="0" smtClean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IL" b="1" i="1" dirty="0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ctrlP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L" b="1" i="1" dirty="0" err="1">
                              <a:solidFill>
                                <a:srgbClr val="2E86AB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he-IL" b="1" i="1" dirty="0" smtClean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b="0" i="1" dirty="0" smtClean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he-IL" b="0" i="1" dirty="0" smtClean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פונקצייתהמטרה</m:t>
                      </m:r>
                      <m:r>
                        <a:rPr lang="he-IL" b="1" i="1" dirty="0" smtClean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IL" b="1" i="1" dirty="0">
                          <a:solidFill>
                            <a:srgbClr val="2E86AB"/>
                          </a:solidFill>
                          <a:latin typeface="Cambria Math" panose="02040503050406030204" pitchFamily="18" charset="0"/>
                        </a:rPr>
                        <m:t>‬</m:t>
                      </m:r>
                    </m:oMath>
                  </m:oMathPara>
                </a14:m>
                <a:endParaRPr lang="en-IL" b="1" dirty="0">
                  <a:solidFill>
                    <a:srgbClr val="2E86AB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46343" y="1699128"/>
                <a:ext cx="12778095" cy="5577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264424" y="2186720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36655" y="2212936"/>
                <a:ext cx="10515600" cy="7281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ar-AE"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</m:oMath>
                </a14:m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לא תלוי בתוצאות הסימולציה.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55" y="2212936"/>
                <a:ext cx="10515600" cy="728148"/>
              </a:xfrm>
              <a:prstGeom prst="rect">
                <a:avLst/>
              </a:prstGeom>
              <a:blipFill>
                <a:blip r:embed="rId3"/>
                <a:stretch>
                  <a:fillRect t="-840" r="-232" b="-92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264424" y="3085119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30184" y="3087948"/>
                <a:ext cx="10515600" cy="7281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ar-AE"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· </m:t>
                    </m:r>
                    <m:sSub>
                      <m:sSubPr>
                        <m:ctrlP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</m:oMath>
                </a14:m>
                <a:endParaRPr lang="ar-AE" sz="1800" b="1" i="0" dirty="0">
                  <a:solidFill>
                    <a:srgbClr val="1F3A5F"/>
                  </a:solidFill>
                  <a:latin typeface="Calibri"/>
                </a:endParaRPr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לא תלוי בתוצאות הסימולציה.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4" y="3087948"/>
                <a:ext cx="10515600" cy="728148"/>
              </a:xfrm>
              <a:prstGeom prst="rect">
                <a:avLst/>
              </a:prstGeom>
              <a:blipFill>
                <a:blip r:embed="rId4"/>
                <a:stretch>
                  <a:fillRect t="-840" r="-232" b="-92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264424" y="3983517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30184" y="3986346"/>
                <a:ext cx="10515600" cy="72814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ar-AE"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ar-AE" sz="1800" b="1" i="1" dirty="0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ar-AE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‬  </m:t>
                    </m:r>
                  </m:oMath>
                </a14:m>
                <a:endParaRPr lang="ar-AE" sz="1800" b="1" i="0" dirty="0">
                  <a:solidFill>
                    <a:srgbClr val="1F3A5F"/>
                  </a:solidFill>
                  <a:latin typeface="Calibri"/>
                </a:endParaRPr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לא תלוי בתוצאות הסימולציה.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4" y="3986346"/>
                <a:ext cx="10515600" cy="728148"/>
              </a:xfrm>
              <a:prstGeom prst="rect">
                <a:avLst/>
              </a:prstGeom>
              <a:blipFill>
                <a:blip r:embed="rId5"/>
                <a:stretch>
                  <a:fillRect t="-840" r="-232" b="-92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264424" y="4881915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30184" y="4902473"/>
                <a:ext cx="10515600" cy="6926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sz="1800" b="1" i="0" dirty="0">
                    <a:solidFill>
                      <a:srgbClr val="1F3A5F"/>
                    </a:solidFill>
                    <a:latin typeface="Calibri"/>
                  </a:rPr>
                  <a:t>‪</a:t>
                </a:r>
                <a14:m>
                  <m:oMath xmlns:m="http://schemas.openxmlformats.org/officeDocument/2006/math"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L" sz="18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L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IL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L" sz="1800" b="1" i="1" dirty="0" err="1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IL" sz="1800" b="1" i="1" dirty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)‬</m:t>
                    </m:r>
                  </m:oMath>
                </a14:m>
                <a:r>
                  <a:rPr sz="1800" b="1" i="0" dirty="0">
                    <a:solidFill>
                      <a:srgbClr val="1F3A5F"/>
                    </a:solidFill>
                    <a:latin typeface="Calibri"/>
                  </a:rPr>
                  <a:t>  </a:t>
                </a:r>
              </a:p>
              <a:p>
                <a:pPr algn="r" rtl="1">
                  <a:lnSpc>
                    <a:spcPct val="10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1500" b="0" i="0" dirty="0">
                    <a:solidFill>
                      <a:srgbClr val="1A2433"/>
                    </a:solidFill>
                    <a:latin typeface="Calibri"/>
                    <a:cs typeface="Calibri"/>
                  </a:rPr>
                  <a:t>קצב הנטישות הממוצע — רק הוא תלוי בסימולציה.</a:t>
                </a: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4" y="4902473"/>
                <a:ext cx="10515600" cy="692690"/>
              </a:xfrm>
              <a:prstGeom prst="rect">
                <a:avLst/>
              </a:prstGeom>
              <a:blipFill>
                <a:blip r:embed="rId6"/>
                <a:stretch>
                  <a:fillRect t="-5263" r="-232" b="-877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19</a:t>
            </a:r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28CE6FD5-24E2-72CD-B628-CBDD87AFCEBB}"/>
              </a:ext>
            </a:extLst>
          </p:cNvPr>
          <p:cNvSpPr/>
          <p:nvPr/>
        </p:nvSpPr>
        <p:spPr>
          <a:xfrm>
            <a:off x="264424" y="5682453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1E246A-BCE1-1BCB-2753-69796865A914}"/>
              </a:ext>
            </a:extLst>
          </p:cNvPr>
          <p:cNvSpPr txBox="1"/>
          <p:nvPr/>
        </p:nvSpPr>
        <p:spPr>
          <a:xfrm>
            <a:off x="630184" y="5703011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מסקנה: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ניתן להשתמש בתוצאות הסימולציה שכבר הרצנו מקודם ורק לחשב מחדש את הפונקציה המטרה על העלות החדשה.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‪Re-pricing‬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התוצאה החדשה  אחרי העלאת עלות רשת איטי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0" i="1">
                <a:solidFill>
                  <a:srgbClr val="5A6B7B"/>
                </a:solidFill>
                <a:latin typeface="Calibri"/>
                <a:cs typeface="Calibri"/>
              </a:rPr>
              <a:t>לא מפתיע: כששרת איטי מתייקר, שרתים איטיים פחות אטרקטיביים.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97479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בלי להריץ כלום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מחשבים את העלות החדשה מאותן תוצאות סימולציה.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95878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50742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המנצח החדש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4 מהירים ו-1 איטי — כ-303 לשעה.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4276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49140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אחריו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5 מהירים בלבד — כ-307 לשעה.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92674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447538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המנצח הקודם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3 מהירים ו-3 איטיים — עלה לכ-310 לשעה.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 lesson‬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מתי צריך סימולציה חדשה?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פרמטר חיצוני לסימולציה — רק מחשבים מחדש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פרמטר שהסימולציה תלויה בו — מריצים מחדש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למשל: שינוי בקצב ההגעה, בזמני השירות או בסבלנות מחייב סימולציה חדשה.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אופטימיזציה בעזרת 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מנסחים פונקציית מטרה, ומשערכים בסימולציה את מה שתלוי בדינמיקה.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קלטים משותפים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אותם מימושים לכל החלופות — השוואה הוגנת ונקייה.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תמהיל מעורב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3 מהירים ו-3 איטיים — עדיף על פתרונות קיצוניים.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חזרות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בודקות שההמלצה לא נובעת ממזל של ריצה אחת.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ניתוח רגישות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שינוי בעלויות — חישוב מחדש בלבד, בלי סימולציה חדשה.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5 · אופטימיזציה בעזרת סימולציה  ·  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1302</Words>
  <Application>Microsoft Office PowerPoint</Application>
  <PresentationFormat>Widescreen</PresentationFormat>
  <Paragraphs>202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2</cp:revision>
  <dcterms:created xsi:type="dcterms:W3CDTF">2013-01-27T09:14:16Z</dcterms:created>
  <dcterms:modified xsi:type="dcterms:W3CDTF">2026-10-08T10:35:34Z</dcterms:modified>
  <cp:category/>
</cp:coreProperties>
</file>