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26" y="10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82296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000" b="0" i="0">
                <a:solidFill>
                  <a:srgbClr val="9FC0D8"/>
                </a:solidFill>
                <a:latin typeface="Calibri"/>
                <a:cs typeface="Calibri"/>
              </a:rPr>
              <a:t>סימולציה של אירועים בדידים לניתוח מערכות תורים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>
                <a:solidFill>
                  <a:srgbClr val="E07A2F"/>
                </a:solidFill>
                <a:latin typeface="Calibri"/>
                <a:cs typeface="Calibri"/>
              </a:rPr>
              <a:t>שיעור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6015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4000" b="1" i="0">
                <a:solidFill>
                  <a:srgbClr val="FFFFFF"/>
                </a:solidFill>
                <a:latin typeface="Calibri"/>
                <a:cs typeface="Calibri"/>
              </a:rPr>
              <a:t>הקצאת משאבים ותפוקה לאורך זמן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000" b="0" i="0">
                <a:solidFill>
                  <a:srgbClr val="C7D8E6"/>
                </a:solidFill>
                <a:latin typeface="Calibri"/>
                <a:cs typeface="Calibri"/>
              </a:rPr>
              <a:t>קו של שלוש תחנות: איך לחלק שרתים, כמה נייצר ביום, ואילו מכונות לקנות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10784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‪Lesson 14 · Resource allocation &amp; throughput‬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מה נעשה היום?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הקצאת שרתים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שישה שרתים, שלוש תחנות — האם חלוקה שווה היא הטובה ביותר?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82111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287267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1F3A5F"/>
                </a:solidFill>
                <a:latin typeface="Calibri"/>
                <a:cs typeface="Calibri"/>
              </a:rPr>
              <a:t>תפוקה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כמה מוצרים קו ייצור עמוס יספיק להשלים ביום עבודה?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89704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544568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מהירות מול איכות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מכונות זולות שפוסלות יותר, מול מכונות יקרות ואמינות.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14 · הקצאת משאבים ותפוקה  · 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21031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07A2F"/>
                </a:solidFill>
                <a:latin typeface="Calibri"/>
              </a:rPr>
              <a:t>‪Resource allocation‬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3400" b="1" i="0">
                <a:solidFill>
                  <a:srgbClr val="FFFFFF"/>
                </a:solidFill>
                <a:latin typeface="Calibri"/>
                <a:cs typeface="Calibri"/>
              </a:rPr>
              <a:t>איך לחלק שישה שרתים בין שלוש תחנות?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C7D3DE"/>
                </a:solidFill>
                <a:latin typeface="Calibri"/>
                <a:cs typeface="Calibri"/>
              </a:rPr>
              <a:t>שיעור 14 · הקצאת משאבים ותפוקה  · 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‪Three stations in series · exponential times‬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המערכת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ine_pois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828800"/>
            <a:ext cx="10972800" cy="174970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3669941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3697373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400" b="0" i="0">
                <a:solidFill>
                  <a:srgbClr val="1F3A5F"/>
                </a:solidFill>
                <a:latin typeface="Calibri"/>
                <a:cs typeface="Calibri"/>
              </a:rPr>
              <a:t>לקוח עובר את שלוש התחנות לפי הסדר. המערכת נפתחת ריקה, ובודקים את ארבע השעות הראשונות.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14 · הקצאת משאבים ותפוקה  · 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‪Load per server = arrival rate × mean service / servers‬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חלוקה שווה נשמעת הגיונית — אבל?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8047" y="210312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/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‪Mean service‬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‪Work per arrival‬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‪Load · (2,2,2)‬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‪Load · (1,2,3)‬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‪Station 1‬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‪10 min‬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‪Station 2‬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‪15 min‬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0.38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0.38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‪Station 3‬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‪60 min‬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3.00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1.50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97280" y="5074920"/>
            <a:ext cx="9994392" cy="64008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5120640"/>
            <a:ext cx="94457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F3A5F"/>
                </a:solidFill>
                <a:latin typeface="Calibri"/>
                <a:cs typeface="Calibri"/>
              </a:rPr>
              <a:t>התחנה השלישית צריכה לפחות שלושה שרתים. עם שניים בלבד היא בעומס של 150% — והתור שלה יגדל בלי גבול.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14 · הקצאת משאבים ותפוקה  · 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‪E[N(t)] per station · 20,000 runs‬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תוחלת מספר הלקוחות בכל תחנה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tandem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728" y="1828800"/>
            <a:ext cx="7836239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80644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583387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400" b="0" i="0">
                <a:solidFill>
                  <a:srgbClr val="1F3A5F"/>
                </a:solidFill>
                <a:latin typeface="Calibri"/>
                <a:cs typeface="Calibri"/>
              </a:rPr>
              <a:t>תחנות 1 ו-2 מתייצבות מהר. בתחנה 3 התור ממשיך לגדול — ובחלוקה השווה הוא גדל הרבה יותר מהר.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14 · הקצאת משאבים ותפוקה  · 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‪Average of E[N(t)] over t = 0 … 240 minutes‬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הממוצע על פני ארבע השעות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66647" y="2103120"/>
          <a:ext cx="10058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‪Servers‬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‪Station 1‬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‪Station 2‬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‪Station 3‬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‪Average‬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‪(1, 2, 3)‬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0.84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0.71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2.07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1.21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‪(2, 2, 2)‬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2.63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1.30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97280" y="4434840"/>
            <a:ext cx="9994392" cy="64008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4480559"/>
            <a:ext cx="94457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F3A5F"/>
                </a:solidFill>
                <a:latin typeface="Calibri"/>
                <a:cs typeface="Calibri"/>
              </a:rPr>
              <a:t>להעביר שרת מהתחנה הראשונה לשלישית — מוריד את הממוצע מ-1.30 ל-1.21.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14 · הקצאת משאבים ותפוקה  ·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‪P(more than 5 customers at a station)‬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לא רק ממוצעים: הסיכוי לתור ארוך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tandem_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489" y="1828800"/>
            <a:ext cx="8296716" cy="374903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669279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569671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400" b="0" i="0">
                <a:solidFill>
                  <a:srgbClr val="1F3A5F"/>
                </a:solidFill>
                <a:latin typeface="Calibri"/>
                <a:cs typeface="Calibri"/>
              </a:rPr>
              <a:t>אחרי ארבע שעות: 22% בחלוקה הלא שווה, מול 42% בחלוקה השווה. בתחנות 1 ו-2 הסיכון זניח.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14 · הקצאת משאבים ותפוקה  · 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21031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07A2F"/>
                </a:solidFill>
                <a:latin typeface="Calibri"/>
              </a:rPr>
              <a:t>‪Throughput‬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3400" b="1" i="0">
                <a:solidFill>
                  <a:srgbClr val="FFFFFF"/>
                </a:solidFill>
                <a:latin typeface="Calibri"/>
                <a:cs typeface="Calibri"/>
              </a:rPr>
              <a:t>תפוקה של קו ייצור עמוס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C7D3DE"/>
                </a:solidFill>
                <a:latin typeface="Calibri"/>
                <a:cs typeface="Calibri"/>
              </a:rPr>
              <a:t>שיעור 14 · הקצאת משאבים ותפוקה  · 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‪Steady-state throughput‬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תפוקה במצב יציב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th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647" y="1783080"/>
            <a:ext cx="5486400" cy="1097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3063240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090672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>
                <a:solidFill>
                  <a:srgbClr val="1F3A5F"/>
                </a:solidFill>
                <a:latin typeface="Calibri"/>
                <a:cs typeface="Calibri"/>
              </a:rPr>
              <a:t>התפוקה  </a:t>
            </a:r>
            <a:r>
              <a:rPr lang="he-IL" sz="1400" b="0" i="0">
                <a:solidFill>
                  <a:srgbClr val="1A2433"/>
                </a:solidFill>
                <a:latin typeface="Calibri"/>
                <a:cs typeface="Calibri"/>
              </a:rPr>
              <a:t>קצב הפריטים שמסיימים שירות ליחידת זמן.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114800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4142232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>
                <a:solidFill>
                  <a:srgbClr val="1F3A5F"/>
                </a:solidFill>
                <a:latin typeface="Calibri"/>
                <a:cs typeface="Calibri"/>
              </a:rPr>
              <a:t>במצב יציב  </a:t>
            </a:r>
            <a:r>
              <a:rPr lang="he-IL" sz="1400" b="0" i="0">
                <a:solidFill>
                  <a:srgbClr val="1A2433"/>
                </a:solidFill>
                <a:latin typeface="Calibri"/>
                <a:cs typeface="Calibri"/>
              </a:rPr>
              <a:t>שווה בדיוק לקצב ההגעה — ולא תלויה בכלל בקצב השירות.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166360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5193792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>
                <a:solidFill>
                  <a:srgbClr val="1F3A5F"/>
                </a:solidFill>
                <a:latin typeface="Calibri"/>
                <a:cs typeface="Calibri"/>
              </a:rPr>
              <a:t>אבל  </a:t>
            </a:r>
            <a:r>
              <a:rPr lang="he-IL" sz="1400" b="0" i="0">
                <a:solidFill>
                  <a:srgbClr val="1A2433"/>
                </a:solidFill>
                <a:latin typeface="Calibri"/>
                <a:cs typeface="Calibri"/>
              </a:rPr>
              <a:t>זה נכון רק במצב יציב. בקו עמוס, או כשבודקים יום אחד — צריך סימולציה.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14 · הקצאת משאבים ותפוקה  · 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‪8 servers · 8-hour day · products in process at closing time are lost‬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קו ייצור עם מלאי אינסופי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ine_satu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828800"/>
            <a:ext cx="10972800" cy="174970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3669941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3697373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400" b="0" i="0">
                <a:solidFill>
                  <a:srgbClr val="1F3A5F"/>
                </a:solidFill>
                <a:latin typeface="Calibri"/>
                <a:cs typeface="Calibri"/>
              </a:rPr>
              <a:t>אין הגעות — תמיד יש חומר גלם. משווים חלוקה של (2,3,3) מול (3,3,2) שרתים.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14 · הקצאת משאבים ותפוקה  ·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‪Distribution of daily output · 20,000 runs‬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כמה מוצרים יושלמו ביום?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throughput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578" y="1828800"/>
            <a:ext cx="8342537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76072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578815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400" b="0" i="0">
                <a:solidFill>
                  <a:srgbClr val="1F3A5F"/>
                </a:solidFill>
                <a:latin typeface="Calibri"/>
                <a:cs typeface="Calibri"/>
              </a:rPr>
              <a:t>בממוצע 21.5 מול 15.7. מעל 30 מוצרים: כ-2% מהימים בחלוקה הראשונה — כמעט אף פעם בשנייה.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14 · הקצאת משאבים ותפוקה  ·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‪Bottleneck‬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למה ההבדל כל כך גדול?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צוואר הבקבוק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התחנה השלישית האיטית ביותר — 55 דקות למוצר בממוצע.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1F3A5F"/>
                </a:solidFill>
                <a:latin typeface="Calibri"/>
                <a:cs typeface="Calibri"/>
              </a:rPr>
              <a:t>שלושה שרתים בה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קיבולת של כ-26 מוצרים ביום.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שניים בלבד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קיבולת של כ-17 מוצרים ביום — והשרת השלישי בתחנה הראשונה רק מייצר מלאי.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1F3A5F"/>
                </a:solidFill>
                <a:latin typeface="Calibri"/>
                <a:cs typeface="Calibri"/>
              </a:rPr>
              <a:t>ולמה לא מגיעים לקיבולת?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הקו מתחיל ריק, ומה שבתהליך בסוף היום הולך לפח.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14 · הקצאת משאבים ותפוקה  · 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21031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07A2F"/>
                </a:solidFill>
                <a:latin typeface="Calibri"/>
              </a:rPr>
              <a:t>‪Speed vs. quality‬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3400" b="1" i="0">
                <a:solidFill>
                  <a:srgbClr val="FFFFFF"/>
                </a:solidFill>
                <a:latin typeface="Calibri"/>
                <a:cs typeface="Calibri"/>
              </a:rPr>
              <a:t>בעיית אופטימיזציה: אילו מכונות לקנות?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C7D3DE"/>
                </a:solidFill>
                <a:latin typeface="Calibri"/>
                <a:cs typeface="Calibri"/>
              </a:rPr>
              <a:t>שיעור 14 · הקצאת משאבים ותפוקה  ·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‪Saturated line · 8-hour day · one to three machines per station‬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קו הייצור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ine_mach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828800"/>
            <a:ext cx="10972800" cy="174970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3669941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3697373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400" b="0" i="0">
                <a:solidFill>
                  <a:srgbClr val="1F3A5F"/>
                </a:solidFill>
                <a:latin typeface="Calibri"/>
                <a:cs typeface="Calibri"/>
              </a:rPr>
              <a:t>בכל תחנה בוחרים כמה מכונות, ומאיזה סוג. מוצר שנפסל באחת התחנות — הולך לפח.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14 · הקצאת משאבים ותפוקה  · 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‪Revenue: 12 per good product‬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שני סוגי מכונות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40967" y="2103120"/>
          <a:ext cx="95097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‪Machine‬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‪Daily cost‬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‪Defect probability‬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‪Speed‬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‪A‬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0.05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‪same‬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‪B‬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0.07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‪same‬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97280" y="4434840"/>
            <a:ext cx="9994392" cy="64008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4480559"/>
            <a:ext cx="94457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F3A5F"/>
                </a:solidFill>
                <a:latin typeface="Calibri"/>
                <a:cs typeface="Calibri"/>
              </a:rPr>
              <a:t>המכונה היקרה פוסלת פחות. הסוג לא משנה את המהירות — רק את האיכות.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14 · הקצאת משאבים ותפוקה  · 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‪Objective‬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פונקציית המטרה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843" y="1783080"/>
            <a:ext cx="6308008" cy="1645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3611880"/>
            <a:ext cx="10543032" cy="7772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639312"/>
            <a:ext cx="9966960" cy="722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 dirty="0">
                <a:solidFill>
                  <a:srgbClr val="1F3A5F"/>
                </a:solidFill>
                <a:latin typeface="Calibri"/>
                <a:cs typeface="Calibri"/>
              </a:rPr>
              <a:t>הכנסה  </a:t>
            </a:r>
            <a:r>
              <a:rPr lang="he-IL" sz="1400" b="0" i="0" dirty="0">
                <a:solidFill>
                  <a:srgbClr val="1A2433"/>
                </a:solidFill>
                <a:latin typeface="Calibri"/>
                <a:cs typeface="Calibri"/>
              </a:rPr>
              <a:t>12 על כל מוצר תקין שהושלם עד סוף היום.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526280"/>
            <a:ext cx="10543032" cy="7772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4553712"/>
            <a:ext cx="9966960" cy="722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 dirty="0">
                <a:solidFill>
                  <a:srgbClr val="1F3A5F"/>
                </a:solidFill>
                <a:latin typeface="Calibri"/>
                <a:cs typeface="Calibri"/>
              </a:rPr>
              <a:t>עלות  </a:t>
            </a:r>
            <a:r>
              <a:rPr lang="he-IL" sz="1400" b="0" i="0" dirty="0">
                <a:solidFill>
                  <a:srgbClr val="1A2433"/>
                </a:solidFill>
                <a:latin typeface="Calibri"/>
                <a:cs typeface="Calibri"/>
              </a:rPr>
              <a:t>עלות יומית לכל מכונה, לפי הסוג שלה.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440680"/>
            <a:ext cx="10543032" cy="7772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5468112"/>
            <a:ext cx="9966960" cy="722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>
                <a:solidFill>
                  <a:srgbClr val="1F3A5F"/>
                </a:solidFill>
                <a:latin typeface="Calibri"/>
                <a:cs typeface="Calibri"/>
              </a:rPr>
              <a:t>המוצרים התקינים  </a:t>
            </a:r>
            <a:r>
              <a:rPr lang="he-IL" sz="1400" b="0" i="0">
                <a:solidFill>
                  <a:srgbClr val="1A2433"/>
                </a:solidFill>
                <a:latin typeface="Calibri"/>
                <a:cs typeface="Calibri"/>
              </a:rPr>
              <a:t>המוצרים שהושלמו, כפול ההסתברות שאף תחנה לא פסלה אותם.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14 · הקצאת משאבים ותפוקה  ·  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‪Notation‬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מה אומר כל סימון?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45352" y="1874519"/>
            <a:ext cx="5486400" cy="1005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ym_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726" y="2125979"/>
            <a:ext cx="699425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82512" y="1911095"/>
            <a:ext cx="4238334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he-IL" sz="1600" b="1" i="0">
                <a:solidFill>
                  <a:srgbClr val="1F3A5F"/>
                </a:solidFill>
                <a:latin typeface="Calibri"/>
                <a:cs typeface="Calibri"/>
              </a:rPr>
              <a:t>המכונות היקרות בתחנה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he-IL" sz="1400" b="0" i="0">
                <a:solidFill>
                  <a:srgbClr val="1A2433"/>
                </a:solidFill>
                <a:latin typeface="Calibri"/>
                <a:cs typeface="Calibri"/>
              </a:rPr>
              <a:t>כמה מכונות יקרות ואמינות יש בתחנה.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3017520"/>
            <a:ext cx="5486400" cy="10058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ym_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3726" y="3268979"/>
            <a:ext cx="699425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82512" y="3054096"/>
            <a:ext cx="4238334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he-IL" sz="1600" b="1" i="0">
                <a:solidFill>
                  <a:srgbClr val="1F3A5F"/>
                </a:solidFill>
                <a:latin typeface="Calibri"/>
                <a:cs typeface="Calibri"/>
              </a:rPr>
              <a:t>המכונות הזולות בתחנה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he-IL" sz="1400" b="0" i="0">
                <a:solidFill>
                  <a:srgbClr val="1A2433"/>
                </a:solidFill>
                <a:latin typeface="Calibri"/>
                <a:cs typeface="Calibri"/>
              </a:rPr>
              <a:t>כמה מכונות זולות יש בתחנה.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4160520"/>
            <a:ext cx="5486400" cy="1005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sym_pj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7267" y="4411980"/>
            <a:ext cx="455884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82512" y="4197096"/>
            <a:ext cx="4481875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he-IL" sz="1600" b="1" i="0">
                <a:solidFill>
                  <a:srgbClr val="1F3A5F"/>
                </a:solidFill>
                <a:latin typeface="Calibri"/>
                <a:cs typeface="Calibri"/>
              </a:rPr>
              <a:t>הסתברות הפסילה בתחנה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he-IL" sz="1400" b="0" i="0">
                <a:solidFill>
                  <a:srgbClr val="1A2433"/>
                </a:solidFill>
                <a:latin typeface="Calibri"/>
                <a:cs typeface="Calibri"/>
              </a:rPr>
              <a:t>0.05 למכונה היקרה, ו-0.07 למכונה הזולה.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74519"/>
            <a:ext cx="5486400" cy="1005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sym_com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6969" y="2125979"/>
            <a:ext cx="2708030" cy="5029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" y="1911095"/>
            <a:ext cx="2229729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he-IL" sz="1600" b="1" i="0">
                <a:solidFill>
                  <a:srgbClr val="1F3A5F"/>
                </a:solidFill>
                <a:latin typeface="Calibri"/>
                <a:cs typeface="Calibri"/>
              </a:rPr>
              <a:t>המוצרים שהושלמו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he-IL" sz="1400" b="0" i="0">
                <a:solidFill>
                  <a:srgbClr val="1A2433"/>
                </a:solidFill>
                <a:latin typeface="Calibri"/>
                <a:cs typeface="Calibri"/>
              </a:rPr>
              <a:t>תוחלת מספר המוצרים שעברו את כל הקו ביום.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017520"/>
            <a:ext cx="5486400" cy="10058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sym_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2533" y="3268979"/>
            <a:ext cx="412466" cy="502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94360" y="3054096"/>
            <a:ext cx="4525293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he-IL" sz="1600" b="1" i="0">
                <a:solidFill>
                  <a:srgbClr val="1F3A5F"/>
                </a:solidFill>
                <a:latin typeface="Calibri"/>
                <a:cs typeface="Calibri"/>
              </a:rPr>
              <a:t>המוצרים התקינים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he-IL" sz="1400" b="0" i="0">
                <a:solidFill>
                  <a:srgbClr val="1A2433"/>
                </a:solidFill>
                <a:latin typeface="Calibri"/>
                <a:cs typeface="Calibri"/>
              </a:rPr>
              <a:t>רק מוצרים שאף תחנה לא פסלה.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160520"/>
            <a:ext cx="5486400" cy="1005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sym_pro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5969" y="4411980"/>
            <a:ext cx="929030" cy="5029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4360" y="4197096"/>
            <a:ext cx="4008729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he-IL" sz="1600" b="1" i="0">
                <a:solidFill>
                  <a:srgbClr val="1F3A5F"/>
                </a:solidFill>
                <a:latin typeface="Calibri"/>
                <a:cs typeface="Calibri"/>
              </a:rPr>
              <a:t>הסתברות למוצר תקין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he-IL" sz="1400" b="0" i="0">
                <a:solidFill>
                  <a:srgbClr val="1A2433"/>
                </a:solidFill>
                <a:latin typeface="Calibri"/>
                <a:cs typeface="Calibri"/>
              </a:rPr>
              <a:t>ההסתברות לעבור את שלוש התחנות בלי פסילה.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14 · הקצאת משאבים ותפוקה  · 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‪20,000 runs per machine count · sorted by profit‬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תשע חלופות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15187" y="2103120"/>
          <a:ext cx="1056131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87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87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‪Machines‬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‪Types‬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‪Completed‬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‪P(good)‬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‪Good‬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‪Cost‬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‪Profit‬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‪(2, 2, 3)‬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‪A A A‬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31.67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0.857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27.15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255.8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‪(2, 2, 2)‬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‪A A A‬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30.41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0.857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26.07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252.9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‪(2, 2, 2)‬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‪A A B‬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30.41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0.839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25.52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250.3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‪(2, 2, 3)‬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‪B B B‬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31.67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0.804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25.47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249.7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‪(2, 2, 2)‬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‪A B B‬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30.41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0.822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24.98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247.8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‪(2, 2, 2)‬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‪B B B‬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30.41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0.804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24.46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245.5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‪(2, 2, 1)‬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‪A A A‬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20.97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0.857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17.98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165.7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‪(2, 2, 1)‬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‪B B B‬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20.97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0.804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16.87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162.4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‪(1, 2, 1)‬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‪B B B‬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16.56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0.804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13.32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127.8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14 · הקצאת משאבים ותפוקה  · 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‪Expected daily profit‬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הרווח היומי הצפוי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rofi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336" y="1828800"/>
            <a:ext cx="781502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76072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578815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400" b="0" i="0">
                <a:solidFill>
                  <a:srgbClr val="1F3A5F"/>
                </a:solidFill>
                <a:latin typeface="Calibri"/>
                <a:cs typeface="Calibri"/>
              </a:rPr>
              <a:t>הטובה ביותר: שלוש מכונות בתחנה האחרונה, וכל המכונות מהסוג היקר.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14 · הקצאת משאבים ותפוקה  ·  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‪Interpretation‬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מה למדנו מהבעיה?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קודם כל קיבולת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מכונה אחת בתחנה האחרונה מורידה את הרווח בכשליש — זה צוואר הבקבוק.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איכות משתלמת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מכונות יקרות בכל התחנות עולות עוד 12 ליום, ומוסיפות כ-1.6 מוצרים תקינים — כ-19 הכנסה.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שולי התועלת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מכונה שלישית בתחנה האחרונה מוסיפה פחות ממוצר וחצי — וכמעט רק מכסה את עלותה.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והסימולציה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נותנת את התפוקה הצפויה לכל חלופה — גם כשהקו לא מגיע למצב יציב.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14 · הקצאת משאבים ותפוקה  ·  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‪Takeaways‬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מה לוקחים מהשיעור?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חלוקה שווה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אינה בהכרח טובה — מתחילים מהעומס על כל תחנה.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צוואר הבקבוק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קובע גם את זמני ההמתנה וגם את התפוקה.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תפוקה במצב לא יציב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אין לה נוסחה פשוטה — מודדים אותה בסימולציה.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מהירות ואיכות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פונקציית רווח אחת מאזנת בין קיבולת, פסילות ועלויות.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14 · הקצאת משאבים ותפוקה  ·  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1304</Words>
  <Application>Microsoft Office PowerPoint</Application>
  <PresentationFormat>Widescreen</PresentationFormat>
  <Paragraphs>241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אלירן שרצר/Eliran Sherzer</cp:lastModifiedBy>
  <cp:revision>2</cp:revision>
  <dcterms:created xsi:type="dcterms:W3CDTF">2013-01-27T09:14:16Z</dcterms:created>
  <dcterms:modified xsi:type="dcterms:W3CDTF">2026-10-12T13:47:03Z</dcterms:modified>
  <cp:category/>
</cp:coreProperties>
</file>