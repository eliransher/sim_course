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000" b="0" i="0">
                <a:solidFill>
                  <a:srgbClr val="9FC0D8"/>
                </a:solidFill>
                <a:latin typeface="Calibri"/>
                <a:cs typeface="Calibri"/>
              </a:rPr>
              <a:t>סימולציה של אירועים בדידים לניתוח מערכות תורים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E07A2F"/>
                </a:solidFill>
                <a:latin typeface="Calibri"/>
                <a:cs typeface="Calibri"/>
              </a:rPr>
              <a:t>שיעור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4000" b="1" i="0">
                <a:solidFill>
                  <a:srgbClr val="FFFFFF"/>
                </a:solidFill>
                <a:latin typeface="Calibri"/>
                <a:cs typeface="Calibri"/>
              </a:rPr>
              <a:t>פיצול ומיזוג ברשתות תורים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000" b="0" i="0">
                <a:solidFill>
                  <a:srgbClr val="C7D8E6"/>
                </a:solidFill>
                <a:latin typeface="Calibri"/>
                <a:cs typeface="Calibri"/>
              </a:rPr>
              <a:t>סימולציה של רשת עם ארבע תחנות — זמני המתנה ואורכי תור בכל תחנה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 7 · Split &amp; merge‬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מה נעשה היום?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מבנה המערכת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תחנה שמפצלת לשתיים, ושתיים שמתמזגות לאחת.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מיזוג ופיצול של תהליכים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מתי יש תוצאה סגורה — ומתי אין.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9600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קלט הסימולציה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מימושים שהוגרלו מראש, ומטריצת מעבר.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יציבות ותקופת חימום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בדיקת עומס בכל תחנה, והשמטת תחילת הריצה.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46262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תוצאות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זמני המתנה ואורכי תור בכל תחנה.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‪Split &amp; merge network‬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מבנה המערכת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i_cel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939" y="1828800"/>
            <a:ext cx="5713815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12079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1">
                <a:solidFill>
                  <a:srgbClr val="5A6B7B"/>
                </a:solidFill>
                <a:latin typeface="Calibri"/>
                <a:cs typeface="Calibri"/>
              </a:rPr>
              <a:t>לקוחות מגיעים לתחנה הראשונה, מתפצלים לשתי תחנות, ומתמזגים לתחנה האחרונה.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69279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69671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אחרי סיום השירות בתחנה האחרונה — הלקוח עוזב את המערכת.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‪Arrivals inside a network‬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תהליכי הגעה בתוך רשת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תור יחיד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תהליך ההגעה מגיע מבחוץ.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ברשת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תהליך העזיבה מתחנה אחת הופך לתהליך ההגעה לתחנה אחרת.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המשמעות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גם אם ההגעה החיצונית פשוטה — ההגעות הפנימיות יכולות להיות מורכבות.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‪Merging‬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מיזוג תהליכים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083" y="1783080"/>
            <a:ext cx="6151527" cy="1463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42900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456432"/>
            <a:ext cx="9966960" cy="783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המקרה היפה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תהליכי פואסון בלתי תלויים — המיזוג הוא פואסון, והקצבים מתחברים.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0436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431792"/>
            <a:ext cx="9966960" cy="783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אבל ברשת כללית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תהליכי עזיבה אינם בהכרח פואסון, ובדרך כלל גם אינם בלתי תלויים.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7972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407152"/>
            <a:ext cx="9966960" cy="783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התוצאה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אחרי מיזוג קשה מאוד למצוא ביטוי מתמטי פשוט לתהליך ההגעה.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305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‪Splitting‬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0501" y="674136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 dirty="0">
                <a:solidFill>
                  <a:srgbClr val="1F3A5F"/>
                </a:solidFill>
                <a:latin typeface="Calibri"/>
                <a:cs typeface="Calibri"/>
              </a:rPr>
              <a:t>פיצול תהליכים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247" y="1783080"/>
            <a:ext cx="8683200" cy="914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88036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90779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פיצול הסתברותי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כל לקוח הולך לתחנה אחת בהסתברות מסוימת, ולשנייה בהסתברות המשלימה.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3192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95935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>
                <a:solidFill>
                  <a:srgbClr val="1F3A5F"/>
                </a:solidFill>
                <a:latin typeface="Calibri"/>
              </a:rPr>
              <a:t>Thinning</a:t>
            </a:r>
            <a:br>
              <a:rPr dirty="0"/>
            </a:b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פואסון עם בחירה בלתי תלויה לכל לקוח — גם התהליכים המפוצלים הם פואסון.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98348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01091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ניתוב תלוי מצב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תור קצר ביותר, תחנה פנויה, עדיפות — ההגעה לכל תחנה תלויה בכל הרשת.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17A0C8-1BAC-4B1C-2DDF-AE18D3013BB8}"/>
              </a:ext>
            </a:extLst>
          </p:cNvPr>
          <p:cNvSpPr/>
          <p:nvPr/>
        </p:nvSpPr>
        <p:spPr>
          <a:xfrm>
            <a:off x="914943" y="700679"/>
            <a:ext cx="431799" cy="4000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144B06-1BCF-7B33-19F8-2B1EA0FA58C1}"/>
              </a:ext>
            </a:extLst>
          </p:cNvPr>
          <p:cNvSpPr txBox="1"/>
          <p:nvPr/>
        </p:nvSpPr>
        <p:spPr>
          <a:xfrm>
            <a:off x="927100" y="72010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S1</a:t>
            </a:r>
            <a:endParaRPr lang="en-IL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4ECD4AF-D2C0-FBD3-3119-32E58927A656}"/>
              </a:ext>
            </a:extLst>
          </p:cNvPr>
          <p:cNvSpPr/>
          <p:nvPr/>
        </p:nvSpPr>
        <p:spPr>
          <a:xfrm>
            <a:off x="1943099" y="442246"/>
            <a:ext cx="431799" cy="4000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163623-0C6E-DFF0-2D31-AC52050E9100}"/>
              </a:ext>
            </a:extLst>
          </p:cNvPr>
          <p:cNvSpPr txBox="1"/>
          <p:nvPr/>
        </p:nvSpPr>
        <p:spPr>
          <a:xfrm>
            <a:off x="1967414" y="43766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S2</a:t>
            </a:r>
            <a:endParaRPr lang="en-IL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6AC787F-5E47-A428-081B-F8B61B92F101}"/>
              </a:ext>
            </a:extLst>
          </p:cNvPr>
          <p:cNvSpPr/>
          <p:nvPr/>
        </p:nvSpPr>
        <p:spPr>
          <a:xfrm>
            <a:off x="1918784" y="1148842"/>
            <a:ext cx="431799" cy="4000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C522D7-7FDD-B98E-A2C2-F1D447FFC201}"/>
              </a:ext>
            </a:extLst>
          </p:cNvPr>
          <p:cNvSpPr txBox="1"/>
          <p:nvPr/>
        </p:nvSpPr>
        <p:spPr>
          <a:xfrm>
            <a:off x="1930941" y="1164201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S3</a:t>
            </a:r>
            <a:endParaRPr lang="en-IL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8F44039-34FA-B943-5B2D-75B31F973DFF}"/>
              </a:ext>
            </a:extLst>
          </p:cNvPr>
          <p:cNvCxnSpPr>
            <a:stCxn id="16" idx="6"/>
            <a:endCxn id="20" idx="2"/>
          </p:cNvCxnSpPr>
          <p:nvPr/>
        </p:nvCxnSpPr>
        <p:spPr>
          <a:xfrm flipV="1">
            <a:off x="1346742" y="642271"/>
            <a:ext cx="596357" cy="258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0597F55-1AEE-6EE7-9348-D61B9B45CEF0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1334584" y="1020586"/>
            <a:ext cx="596357" cy="328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8A31C3-B7DC-015D-D52A-4FEE3EF18107}"/>
                  </a:ext>
                </a:extLst>
              </p:cNvPr>
              <p:cNvSpPr txBox="1"/>
              <p:nvPr/>
            </p:nvSpPr>
            <p:spPr>
              <a:xfrm>
                <a:off x="243501" y="565334"/>
                <a:ext cx="340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8A31C3-B7DC-015D-D52A-4FEE3EF18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501" y="565334"/>
                <a:ext cx="34069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D4B2367-B844-FD44-3EE3-B897EA2D5120}"/>
                  </a:ext>
                </a:extLst>
              </p:cNvPr>
              <p:cNvSpPr txBox="1"/>
              <p:nvPr/>
            </p:nvSpPr>
            <p:spPr>
              <a:xfrm>
                <a:off x="1340950" y="356538"/>
                <a:ext cx="340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D4B2367-B844-FD44-3EE3-B897EA2D5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950" y="356538"/>
                <a:ext cx="340699" cy="369332"/>
              </a:xfrm>
              <a:prstGeom prst="rect">
                <a:avLst/>
              </a:prstGeom>
              <a:blipFill>
                <a:blip r:embed="rId4"/>
                <a:stretch>
                  <a:fillRect l="-5357" r="-32143" b="-1311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9D63353-6811-4BF6-9A91-D16B87819FF8}"/>
                  </a:ext>
                </a:extLst>
              </p:cNvPr>
              <p:cNvSpPr txBox="1"/>
              <p:nvPr/>
            </p:nvSpPr>
            <p:spPr>
              <a:xfrm>
                <a:off x="749842" y="1198915"/>
                <a:ext cx="11816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9D63353-6811-4BF6-9A91-D16B87819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42" y="1198915"/>
                <a:ext cx="1181642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F2AA4E9-02CD-CE08-DDAF-093147872DD1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283802" y="898632"/>
            <a:ext cx="631141" cy="2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‪Why simulate?‬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למה סימולציה עוזרת כאן?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ההגעה לתחנה האחרונה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תוצאה של שני תהליכי עזיבה פנימיים שמתמזגים.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במקום נוסחה סגורה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מריצים את המערכת עצמה.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ומודדים ישירות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את מה שמעניין אותנו — זמני המתנה ואורכי תור.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המסקנה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בפיצול, מיזוג וניתוב — סימולציה היא כלי טבעי וחזק.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‪Simulation input‬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3400" b="1" i="0">
                <a:solidFill>
                  <a:srgbClr val="FFFFFF"/>
                </a:solidFill>
                <a:latin typeface="Calibri"/>
                <a:cs typeface="Calibri"/>
              </a:rPr>
              <a:t>קלט הסימולציה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C7D3DE"/>
                </a:solidFill>
                <a:latin typeface="Calibri"/>
                <a:cs typeface="Calibri"/>
              </a:rPr>
              <a:t>שיעור 7 · פיצול ומיזוג  ·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‪Pre-sampled input‬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מימושים, לא רק התפלגויות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מוגרל מראש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זמני הביניים בין הגעות לתחנה הראשונה, וזמני השירות בכל ארבע התחנות.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1F3A5F"/>
                </a:solidFill>
                <a:latin typeface="Calibri"/>
              </a:rPr>
              <a:t>‪Hyper-Erlang‬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ההתפלגות של כל זמני ההגעה והשירות — עם 10 ענפים.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היקף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30,000 לקוחות, קצב הגעה חיצוני 0.8.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מטריצת מעבר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שורות: התחנה שממנה הלקוח יצא. עמודות: התחנה הבאה, או יציאה.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‪Routing matrix‬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מטריצת המעבר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509737"/>
              </p:ext>
            </p:extLst>
          </p:nvPr>
        </p:nvGraphicFramePr>
        <p:xfrm>
          <a:off x="1432407" y="2103120"/>
          <a:ext cx="5647842" cy="2145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13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13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006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/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‪S1‬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‪S2‬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‪S3‬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‪S4‬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‪EXIT‬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006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‪S1‬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006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‪S2‬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006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‪S3‬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006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‪S4‬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 dirty="0">
                          <a:solidFill>
                            <a:srgbClr val="1A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71500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F3A5F"/>
                </a:solidFill>
                <a:latin typeface="Calibri"/>
                <a:cs typeface="Calibri"/>
              </a:rPr>
              <a:t>סכום כל שורה הוא 1. יציאה מהמערכת אפשרית רק מהתחנה האחרונה.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9</a:t>
            </a:r>
          </a:p>
        </p:txBody>
      </p:sp>
      <p:pic>
        <p:nvPicPr>
          <p:cNvPr id="11" name="Picture 10" descr="hi_cell3.png">
            <a:extLst>
              <a:ext uri="{FF2B5EF4-FFF2-40B4-BE49-F238E27FC236}">
                <a16:creationId xmlns:a16="http://schemas.microsoft.com/office/drawing/2014/main" id="{2B5A36E6-E354-6269-9A00-C320C3CC0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640" y="2289810"/>
            <a:ext cx="3068530" cy="1767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‪Input densities‬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זמני ההגעה והשירות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1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320" y="1828800"/>
            <a:ext cx="7731053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76072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78815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היסטוגרמת המימושים מול הצפיפות התאורטית. הסימולציה מקבלת את המימושים עצמם.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‪Stability check‬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בדיקת יציבות: העומס בכל תחנה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706727" y="2103120"/>
          <a:ext cx="8778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‪Station‬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‪λ‬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‪E[S]‬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‪ρ = λ · E[S]‬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‪S1‬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0.600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‪S2‬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0.352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‪S3‬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0.324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‪S4‬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0.560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71500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F3A5F"/>
                </a:solidFill>
                <a:latin typeface="Calibri"/>
                <a:cs typeface="Calibri"/>
              </a:rPr>
              <a:t>כל העומסים קטנים מ-1 — המערכת יציבה. תחנות הביניים מקבלות 55% ו-45% מהזרם.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‪Warm-up‬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תקופת החימום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הבעיה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בתחילת הריצה המערכת ריקה — המדידות הראשונות לא מייצגות מצב סטציונרי.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הגישה כאן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לא אומדים את תקופת החימום מהנתונים — קובעים מראש פרופורציה.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085036"/>
            <a:ext cx="10515600" cy="935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1F3A5F"/>
                </a:solidFill>
                <a:latin typeface="Calibri"/>
              </a:rPr>
              <a:t>‪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T_w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= 0.1 · T‬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משמיטים את 10% הראשונים מאופק הסימולציה.</a:t>
            </a:r>
            <a:br>
              <a:rPr lang="en-US" sz="1500" b="0" i="0" dirty="0">
                <a:solidFill>
                  <a:srgbClr val="1A2433"/>
                </a:solidFill>
                <a:latin typeface="Calibri"/>
                <a:cs typeface="Calibri"/>
              </a:rPr>
            </a:b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אפשר גם את ה-20000 ככלל אצבע – לא קריטי.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אחר כך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כל זמני ההמתנה ואורכי התור מחושבים רק אחרי תקופת החימום.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‪Results‬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3400" b="1" i="0">
                <a:solidFill>
                  <a:srgbClr val="FFFFFF"/>
                </a:solidFill>
                <a:latin typeface="Calibri"/>
                <a:cs typeface="Calibri"/>
              </a:rPr>
              <a:t>תוצאות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C7D3DE"/>
                </a:solidFill>
                <a:latin typeface="Calibri"/>
                <a:cs typeface="Calibri"/>
              </a:rPr>
              <a:t>שיעור 7 · פיצול ומיזוג  ·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‪Metrics‬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המדדים בטבלת התוצאות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‪Mean wait‬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זמן ההמתנה הממוצע בתור, לפני תחילת השירות.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‪P(wait &gt; 0)‬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שיעור הביקורים שבהם הלקוח באמת המתין.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‪Mean queue‬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אורך התור הממוצע — משוקלל בזמן.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‪P(empty)‬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פרופורציית הזמן שבה התור ריק.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‪Summary after warm-up‬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זמני המתנה ואורכי תור אחרי תקופת החימום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20927" y="2103120"/>
          <a:ext cx="101498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‪Station‬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‪Visits‬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‪Mean wait‬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‪P(wait &gt; 0)‬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‪Mean queue‬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‪P(empty)‬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‪S1‬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27,016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0.736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0.538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0.590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0.698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‪S2‬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14,769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0.270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0.908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‪S3‬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12,248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0.285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0.286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0.919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‪S4‬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27,018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0.509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0.468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0.734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71500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F3A5F"/>
                </a:solidFill>
                <a:latin typeface="Calibri"/>
                <a:cs typeface="Calibri"/>
              </a:rPr>
              <a:t>תחנות הביניים כמעט לא עמוסות. בתחנה הראשונה והאחרונה — כמחצית מהלקוחות ממתינים.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‪Queue-length distribution‬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התפלגות אורך התור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משוקללת בזמן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לכל אורך תור — איזה חלק מהזמן הוא נמשך.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דוגמה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ערך של 0.15 עבור אורך תור 2 — ב-15% מהזמן היו שני לקוחות ממתינים.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בתחנה הראשונה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התור ריק כ-70% מהזמן, ולקוח אחד ממתין כ-15% מהזמן.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‪Waiting-time histograms‬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התפלגות זמני ההמתנה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2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912" y="1828800"/>
            <a:ext cx="6617870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76072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78815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עמודה גבוהה באפס — רוב הלקוחות לא ממתינים. בתחנה הראשונה והאחרונה הזנב ארוך יותר.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‪Queue-length distributions‬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התפלגות אורך התור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2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912" y="1828800"/>
            <a:ext cx="6617870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76072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78815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חלק הזמן שבו התור נמצא בכל אורך. תחנות הביניים ריקות יותר מ-90% מהזמן.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מה למדנו מהדוגמה?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גם במערכת קטנה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ההגעה לתחנות הפנימיות כבר אינה תהליך חיצוני פשוט.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ההגעה לתחנה האחרונה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מיזוג של העזיבות משתי תחנות הביניים.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הכוח של סימולציה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עובדים ישירות עם מימושי הגעה, שירות וניתוב — בלי ביטוי סגור לכל תהליך פנימי.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‪Takeaways‬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מה לוקחים מהשיעור?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מיזוג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רק תהליכי פואסון בלתי תלויים נותנים פואסון — ברשת זה כמעט אף פעם לא המצב.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פיצול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פיצול הסתברותי של פואסון נותן פואסון; ניתוב תלוי מצב — כבר לא.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9600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קלט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מימושים מוגרלים מראש, ומטריצת מעבר שמגדירה את הניתוב.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לפני שמריצים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בודקים שהעומס בכל תחנה קטן מ-1, וקובעים תקופת חימום.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46262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התוצאה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זמני המתנה והתפלגויות אורך תור לכל תחנה — בלי נוסחה סגורה.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7 · פיצול ומיזוג  ·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1135</Words>
  <Application>Microsoft Office PowerPoint</Application>
  <PresentationFormat>Widescreen</PresentationFormat>
  <Paragraphs>233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אלירן שרצר/Eliran Sherzer</cp:lastModifiedBy>
  <cp:revision>3</cp:revision>
  <dcterms:created xsi:type="dcterms:W3CDTF">2013-01-27T09:14:16Z</dcterms:created>
  <dcterms:modified xsi:type="dcterms:W3CDTF">2026-10-11T11:12:42Z</dcterms:modified>
  <cp:category/>
</cp:coreProperties>
</file>