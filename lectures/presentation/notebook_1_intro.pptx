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328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9FC0D8"/>
                </a:solidFill>
                <a:latin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7A2F"/>
                </a:solidFill>
                <a:latin typeface="Calibri"/>
              </a:rPr>
              <a:t>שיעור ‪1‬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מבוא: לחשוב ולהחליט בעזרת סימולציה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4235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dirty="0" err="1">
                <a:solidFill>
                  <a:srgbClr val="C7D8E6"/>
                </a:solidFill>
                <a:latin typeface="Calibri"/>
              </a:rPr>
              <a:t>מהסתברות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C7D8E6"/>
                </a:solidFill>
                <a:latin typeface="Calibri"/>
              </a:rPr>
              <a:t>ומשפט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C7D8E6"/>
                </a:solidFill>
                <a:latin typeface="Calibri"/>
              </a:rPr>
              <a:t>הגבול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C7D8E6"/>
                </a:solidFill>
                <a:latin typeface="Calibri"/>
              </a:rPr>
              <a:t>המרכזי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‪</a:t>
            </a:r>
            <a:r>
              <a:rPr lang="he-IL" sz="2000" b="0" i="0" dirty="0">
                <a:solidFill>
                  <a:srgbClr val="C7D8E6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(CLT)</a:t>
            </a:r>
            <a:r>
              <a:rPr lang="he-IL" sz="2000" b="0" i="0" dirty="0">
                <a:solidFill>
                  <a:srgbClr val="C7D8E6"/>
                </a:solidFill>
                <a:latin typeface="Calibri"/>
              </a:rPr>
              <a:t> 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—‬ </a:t>
            </a:r>
            <a:r>
              <a:rPr sz="2000" b="0" i="0" dirty="0" err="1">
                <a:solidFill>
                  <a:srgbClr val="C7D8E6"/>
                </a:solidFill>
                <a:latin typeface="Calibri"/>
              </a:rPr>
              <a:t>אל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C7D8E6"/>
                </a:solidFill>
                <a:latin typeface="Calibri"/>
              </a:rPr>
              <a:t>ניתוח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C7D8E6"/>
                </a:solidFill>
                <a:latin typeface="Calibri"/>
              </a:rPr>
              <a:t>מערכות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C7D8E6"/>
                </a:solidFill>
                <a:latin typeface="Calibri"/>
              </a:rPr>
              <a:t>אקראיות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</a:t>
            </a:r>
            <a:r>
              <a:rPr sz="2000" b="0" i="0" dirty="0" err="1">
                <a:solidFill>
                  <a:srgbClr val="C7D8E6"/>
                </a:solidFill>
                <a:latin typeface="Calibri"/>
              </a:rPr>
              <a:t>בעזרת</a:t>
            </a:r>
            <a:r>
              <a:rPr sz="2000" b="0" i="0" dirty="0">
                <a:solidFill>
                  <a:srgbClr val="C7D8E6"/>
                </a:solidFill>
                <a:latin typeface="Calibri"/>
              </a:rPr>
              <a:t> ‪simulation‬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1 · Introduction‬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שאלה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פותחת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הטלות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מטבע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נדרשות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בממוצע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?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נפתור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בעזרת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סימולציה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במקום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נוסחה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משפט הגבול המרכזי ‪— CLT‬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Calibri"/>
              </a:rPr>
              <a:t>נראה איך ממוצעים של התפלגויות שונות מתכנסים לצורה נורמלית.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38448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210" y="3893312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משחק ‪Penney‬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Calibri"/>
              </a:rPr>
              <a:t>חידה על רצפי מטבע — והתשובה המפתיעה שמתקבלת מהסימולציה.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הרעיון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המרכזי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כשאין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נוסחה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נוחה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מריצים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המערכת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מודדים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ומסיקים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‪Part A · Basic simulation‬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נתחיל בשאלה פשוטה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3DE"/>
                </a:solidFill>
                <a:latin typeface="Calibri"/>
              </a:rPr>
              <a:t>שיעור ‪1 ·‬ מבוא  ‪·  2‬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‪Coin-toss expectation‬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שאלה פותחת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86AB"/>
                </a:solidFill>
                <a:latin typeface="Calibri"/>
              </a:rPr>
              <a:t>מטילים מטבע עד שמתקבלים גם עץ וגם פלי.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86AB"/>
                </a:solidFill>
                <a:latin typeface="Calibri"/>
              </a:rPr>
              <a:t>כמה הטלות בממוצע נדרשות?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A6B7B"/>
                </a:solidFill>
                <a:latin typeface="Calibri"/>
              </a:rPr>
              <a:t>נחשב זאת בעזרת סימולציה — ואחר כך נאמת אנליטית.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3‬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‪Why more than 2?‬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 err="1">
                <a:solidFill>
                  <a:srgbClr val="1F3A5F"/>
                </a:solidFill>
                <a:latin typeface="Calibri"/>
              </a:rPr>
              <a:t>אינטואיציה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: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התשובה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גדולה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מ-2.</a:t>
            </a:r>
            <a:endParaRPr sz="2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98685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במקרה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הטוב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עץ פלי או פלי עץ – כלומר 2 הטלות.</a:t>
            </a:r>
            <a:endParaRPr sz="1500" b="0" i="0" dirty="0">
              <a:solidFill>
                <a:srgbClr val="1A2433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2823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אבל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לא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תמיד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ייתכן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עץ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עץ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עץ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ורק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אז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כלומר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‪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4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‬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הטלות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מסקנה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Calibri"/>
              </a:rPr>
              <a:t>לכן הממוצע חייב להיות גדול מ-2. כמה בדיוק? לא ברור מיד.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הדרך שלנו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Calibri"/>
              </a:rPr>
              <a:t>אפשר בהסתברות — אבל אם לא בטוחים, פשוט נדמה את הניסוי.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4‬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‪Monte-Carlo estimate‬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הרעיון: מדמים את הניסוי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5A6B7B"/>
                </a:solidFill>
                <a:latin typeface="Calibri"/>
              </a:rPr>
              <a:t>במקום לפתור נוסחה — מבצעים את הניסוי הרבה פעמים ומודדים.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97479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52344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מגרילים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מטילים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מטבע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שוב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ושוב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שהתקבלו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גם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עץ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וגם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95878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50742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סופרים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הטלות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נדרשו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בניסוי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הזה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4276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5392674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413970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ממצעים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הממוצע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פני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הניסויים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‪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≈ 3‬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הטלות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5‬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D395F6-5D08-3FBC-FEAB-153A99E31907}"/>
              </a:ext>
            </a:extLst>
          </p:cNvPr>
          <p:cNvSpPr txBox="1"/>
          <p:nvPr/>
        </p:nvSpPr>
        <p:spPr>
          <a:xfrm>
            <a:off x="7194550" y="4561078"/>
            <a:ext cx="423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rgbClr val="1F3A5F"/>
                </a:solidFill>
                <a:latin typeface="Calibri"/>
              </a:rPr>
              <a:t>חוזרים</a:t>
            </a:r>
            <a:br>
              <a:rPr lang="en-US" dirty="0"/>
            </a:br>
            <a:r>
              <a:rPr lang="he-IL" sz="1500" dirty="0">
                <a:solidFill>
                  <a:srgbClr val="1A2433"/>
                </a:solidFill>
                <a:latin typeface="Calibri"/>
              </a:rPr>
              <a:t>מריצים</a:t>
            </a:r>
            <a:r>
              <a:rPr lang="he-IL" dirty="0">
                <a:solidFill>
                  <a:srgbClr val="1A2433"/>
                </a:solidFill>
              </a:rPr>
              <a:t> ‪100,000‬  ניסויים בלתי-תלויים.</a:t>
            </a:r>
          </a:p>
          <a:p>
            <a:endParaRPr lang="en-IL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‪Analytical confirmation‬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אימות אנליטי: למה בדיוק ‪3?‬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371600" y="2645469"/>
                <a:ext cx="9445752" cy="220714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 rtl="1">
                  <a:lnSpc>
                    <a:spcPct val="12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2600" b="1" i="0" dirty="0">
                    <a:solidFill>
                      <a:srgbClr val="1F3A5F"/>
                    </a:solidFill>
                    <a:latin typeface="Calibri"/>
                  </a:rPr>
                  <a:t>שלב 1: הטלה ראשונה תמיד חדשה: </a:t>
                </a:r>
                <a14:m>
                  <m:oMath xmlns:m="http://schemas.openxmlformats.org/officeDocument/2006/math">
                    <m:r>
                      <a:rPr lang="he-IL" sz="2600" b="1" i="1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sz="2600" b="1" i="1" smtClean="0">
                            <a:solidFill>
                              <a:srgbClr val="1F3A5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1" i="1" smtClean="0">
                                <a:solidFill>
                                  <a:srgbClr val="1F3A5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1" i="1" smtClean="0">
                                <a:solidFill>
                                  <a:srgbClr val="1F3A5F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600" b="1" i="1" smtClean="0">
                                <a:solidFill>
                                  <a:srgbClr val="1F3A5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600" b="1" i="1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he-IL" sz="2600" b="1" i="0" dirty="0">
                  <a:solidFill>
                    <a:srgbClr val="1F3A5F"/>
                  </a:solidFill>
                  <a:latin typeface="Calibri"/>
                </a:endParaRPr>
              </a:p>
              <a:p>
                <a:pPr algn="ctr" rtl="1">
                  <a:lnSpc>
                    <a:spcPct val="12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2600" b="1" i="0" dirty="0">
                    <a:solidFill>
                      <a:srgbClr val="1F3A5F"/>
                    </a:solidFill>
                    <a:latin typeface="Calibri"/>
                  </a:rPr>
                  <a:t>שלב ‪2:‬ המתנה לצד השני, גאומטרי</a:t>
                </a:r>
                <a:br>
                  <a:rPr lang="en-US" sz="2600" b="1" i="0" dirty="0">
                    <a:solidFill>
                      <a:srgbClr val="1F3A5F"/>
                    </a:solidFill>
                    <a:latin typeface="Calibri"/>
                  </a:rPr>
                </a:br>
                <a:r>
                  <a:rPr lang="he-IL" sz="2600" b="1" i="0" dirty="0">
                    <a:solidFill>
                      <a:srgbClr val="1F3A5F"/>
                    </a:solidFill>
                    <a:latin typeface="Calibri"/>
                  </a:rPr>
                  <a:t> ‪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 →  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₂] = 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600" b="1" i="0" dirty="0">
                    <a:solidFill>
                      <a:srgbClr val="1F3A5F"/>
                    </a:solidFill>
                    <a:latin typeface="Calibri"/>
                  </a:rPr>
                  <a:t>‬</a:t>
                </a:r>
              </a:p>
              <a:p>
                <a:pPr algn="ctr" rtl="1">
                  <a:lnSpc>
                    <a:spcPct val="125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2600" b="1" i="0" dirty="0" err="1">
                    <a:solidFill>
                      <a:srgbClr val="1F3A5F"/>
                    </a:solidFill>
                    <a:latin typeface="Calibri"/>
                  </a:rPr>
                  <a:t>סה"כ</a:t>
                </a:r>
                <a:r>
                  <a:rPr lang="he-IL" sz="2600" b="1" i="0" dirty="0">
                    <a:solidFill>
                      <a:srgbClr val="1F3A5F"/>
                    </a:solidFill>
                    <a:latin typeface="Calibri"/>
                  </a:rPr>
                  <a:t>:  ‪</a:t>
                </a:r>
                <a14:m>
                  <m:oMath xmlns:m="http://schemas.openxmlformats.org/officeDocument/2006/math"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₁] + 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₂] = 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600" b="1" i="1" dirty="0" smtClean="0">
                        <a:solidFill>
                          <a:srgbClr val="1F3A5F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2600" b="1" i="0" dirty="0">
                    <a:solidFill>
                      <a:srgbClr val="1F3A5F"/>
                    </a:solidFill>
                    <a:latin typeface="Calibri"/>
                  </a:rPr>
                  <a:t>‬</a:t>
                </a:r>
                <a:endParaRPr sz="2600" b="1" i="0" dirty="0">
                  <a:solidFill>
                    <a:srgbClr val="1F3A5F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645469"/>
                <a:ext cx="9445752" cy="2207143"/>
              </a:xfrm>
              <a:prstGeom prst="rect">
                <a:avLst/>
              </a:prstGeom>
              <a:blipFill>
                <a:blip r:embed="rId2"/>
                <a:stretch>
                  <a:fillRect b="-60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371600" y="5440680"/>
            <a:ext cx="9445752" cy="6204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dirty="0" err="1">
                <a:solidFill>
                  <a:srgbClr val="5A6B7B"/>
                </a:solidFill>
                <a:latin typeface="Calibri"/>
              </a:rPr>
              <a:t>הסימולציה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נתנה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‪~3 —‬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בדיוק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כפי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שמנבאת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ההסתברות</a:t>
            </a:r>
            <a:br>
              <a:rPr lang="en-US" sz="1600" b="0" i="0" dirty="0">
                <a:solidFill>
                  <a:srgbClr val="5A6B7B"/>
                </a:solidFill>
                <a:latin typeface="Calibri"/>
              </a:rPr>
            </a:br>
            <a:r>
              <a:rPr lang="he-IL" sz="1600" b="0" i="0" dirty="0">
                <a:solidFill>
                  <a:srgbClr val="5A6B7B"/>
                </a:solidFill>
                <a:latin typeface="Calibri"/>
              </a:rPr>
              <a:t>שאלה למחשבה: כמה הטלות קוביה צריך עד שנקבל את כל הערכים?</a:t>
            </a:r>
            <a:endParaRPr sz="1600" b="0" i="0" dirty="0">
              <a:solidFill>
                <a:srgbClr val="5A6B7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6‬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1AA21-67C3-FBF1-5BB9-44F10111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09B616-74FD-8613-5486-FB54ED80B23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DFB94D-005A-57DC-570B-74398D00BBF6}"/>
              </a:ext>
            </a:extLst>
          </p:cNvPr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‪Monte-Carlo estimate‬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BABBC3-7549-34B1-E4AB-E7255FA072BF}"/>
              </a:ext>
            </a:extLst>
          </p:cNvPr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dirty="0">
                <a:solidFill>
                  <a:srgbClr val="1F3A5F"/>
                </a:solidFill>
                <a:latin typeface="Calibri"/>
              </a:rPr>
              <a:t>מה בעצם קרה פה?</a:t>
            </a:r>
            <a:endParaRPr sz="2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BECC20-AFE2-9531-4579-3436EA33CB8A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9BBB8-3BFA-A1F1-0ACE-96656FB32327}"/>
              </a:ext>
            </a:extLst>
          </p:cNvPr>
          <p:cNvSpPr txBox="1"/>
          <p:nvPr/>
        </p:nvSpPr>
        <p:spPr>
          <a:xfrm>
            <a:off x="457200" y="1874519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 dirty="0" err="1">
                <a:solidFill>
                  <a:srgbClr val="5A6B7B"/>
                </a:solidFill>
                <a:latin typeface="Calibri"/>
              </a:rPr>
              <a:t>במקום</a:t>
            </a:r>
            <a:r>
              <a:rPr sz="1800" b="0" i="1" dirty="0">
                <a:solidFill>
                  <a:srgbClr val="5A6B7B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A6B7B"/>
                </a:solidFill>
                <a:latin typeface="Calibri"/>
              </a:rPr>
              <a:t>לפתור</a:t>
            </a:r>
            <a:r>
              <a:rPr sz="1800" b="0" i="1" dirty="0">
                <a:solidFill>
                  <a:srgbClr val="5A6B7B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A6B7B"/>
                </a:solidFill>
                <a:latin typeface="Calibri"/>
              </a:rPr>
              <a:t>נוסחה</a:t>
            </a:r>
            <a:r>
              <a:rPr sz="1800" b="0" i="1" dirty="0">
                <a:solidFill>
                  <a:srgbClr val="5A6B7B"/>
                </a:solidFill>
                <a:latin typeface="Calibri"/>
              </a:rPr>
              <a:t> — </a:t>
            </a:r>
            <a:r>
              <a:rPr sz="1800" b="0" i="1" dirty="0" err="1">
                <a:solidFill>
                  <a:srgbClr val="5A6B7B"/>
                </a:solidFill>
                <a:latin typeface="Calibri"/>
              </a:rPr>
              <a:t>מבצעים</a:t>
            </a:r>
            <a:r>
              <a:rPr sz="1800" b="0" i="1" dirty="0">
                <a:solidFill>
                  <a:srgbClr val="5A6B7B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A6B7B"/>
                </a:solidFill>
                <a:latin typeface="Calibri"/>
              </a:rPr>
              <a:t>את</a:t>
            </a:r>
            <a:r>
              <a:rPr sz="1800" b="0" i="1" dirty="0">
                <a:solidFill>
                  <a:srgbClr val="5A6B7B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A6B7B"/>
                </a:solidFill>
                <a:latin typeface="Calibri"/>
              </a:rPr>
              <a:t>הניסוי</a:t>
            </a:r>
            <a:r>
              <a:rPr sz="1800" b="0" i="1" dirty="0">
                <a:solidFill>
                  <a:srgbClr val="5A6B7B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A6B7B"/>
                </a:solidFill>
                <a:latin typeface="Calibri"/>
              </a:rPr>
              <a:t>הרבה</a:t>
            </a:r>
            <a:r>
              <a:rPr sz="1800" b="0" i="1" dirty="0">
                <a:solidFill>
                  <a:srgbClr val="5A6B7B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A6B7B"/>
                </a:solidFill>
                <a:latin typeface="Calibri"/>
              </a:rPr>
              <a:t>פעמים</a:t>
            </a:r>
            <a:r>
              <a:rPr sz="1800" b="0" i="1" dirty="0">
                <a:solidFill>
                  <a:srgbClr val="5A6B7B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5A6B7B"/>
                </a:solidFill>
                <a:latin typeface="Calibri"/>
              </a:rPr>
              <a:t>ומודדים</a:t>
            </a:r>
            <a:r>
              <a:rPr sz="1800" b="0" i="1" dirty="0">
                <a:solidFill>
                  <a:srgbClr val="5A6B7B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C5A7B31-143E-DD0D-7C47-5DC6D50E4003}"/>
              </a:ext>
            </a:extLst>
          </p:cNvPr>
          <p:cNvSpPr/>
          <p:nvPr/>
        </p:nvSpPr>
        <p:spPr>
          <a:xfrm>
            <a:off x="457200" y="2697479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1FC2F2-1401-47FE-00A5-2E9D0F9E9CF5}"/>
              </a:ext>
            </a:extLst>
          </p:cNvPr>
          <p:cNvSpPr txBox="1"/>
          <p:nvPr/>
        </p:nvSpPr>
        <p:spPr>
          <a:xfrm>
            <a:off x="822960" y="2879589"/>
            <a:ext cx="10515600" cy="3695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אומד סטטיסטי:</a:t>
            </a:r>
            <a:r>
              <a:rPr lang="en-US" b="1" dirty="0">
                <a:solidFill>
                  <a:srgbClr val="1F3A5F"/>
                </a:solidFill>
                <a:latin typeface="Calibri"/>
              </a:rPr>
              <a:t> </a:t>
            </a:r>
            <a:r>
              <a:rPr lang="he-IL" b="1" dirty="0">
                <a:solidFill>
                  <a:srgbClr val="1F3A5F"/>
                </a:solidFill>
                <a:latin typeface="Calibri"/>
              </a:rPr>
              <a:t>קיבלנו אומד סטטיסטי לתוחלת – שהוא בעצם הממוצע.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B7AABA-5808-CF7A-5680-5B44BA9350D2}"/>
              </a:ext>
            </a:extLst>
          </p:cNvPr>
          <p:cNvSpPr/>
          <p:nvPr/>
        </p:nvSpPr>
        <p:spPr>
          <a:xfrm>
            <a:off x="457200" y="3595878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CDAA02-27FB-B61E-211D-69B21B882DD8}"/>
              </a:ext>
            </a:extLst>
          </p:cNvPr>
          <p:cNvSpPr txBox="1"/>
          <p:nvPr/>
        </p:nvSpPr>
        <p:spPr>
          <a:xfrm>
            <a:off x="822960" y="3616437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</a:rPr>
              <a:t>אנחנו בהמשך הקורס נחזור על העיקרון הזה הרבה פעמים – מדדים שקשה לחשב מתמטית נאמוד אותם.</a:t>
            </a:r>
            <a:endParaRPr lang="he-IL" dirty="0">
              <a:solidFill>
                <a:srgbClr val="1A2433"/>
              </a:solidFill>
            </a:endParaRP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A453AA-F2C7-0796-AB43-273629357305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5‬</a:t>
            </a:r>
          </a:p>
        </p:txBody>
      </p:sp>
    </p:spTree>
    <p:extLst>
      <p:ext uri="{BB962C8B-B14F-4D97-AF65-F5344CB8AC3E}">
        <p14:creationId xmlns:p14="http://schemas.microsoft.com/office/powerpoint/2010/main" val="390465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‪Part B · Central Limit Theorem‬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משפט הגבול המרכזי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3DE"/>
                </a:solidFill>
                <a:latin typeface="Calibri"/>
              </a:rPr>
              <a:t>שיעור ‪1 ·‬ מבוא  ‪·  7‬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‪Central Limit Theorem‬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לכל משתנה מקרי יש התפלגות משלו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98685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נקודת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המוצא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לכל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משתנה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מקרי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‪(random variable)‬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צורת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התפלגות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אחרת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בדידה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רציפה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סימטרית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מוטה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השאלה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קורה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כשלוקחים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ממוצע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הרבה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דגימות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בלתי-תלויות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206960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משפט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הגבול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המרכזי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התפלגות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הממוצע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מתקרבת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לנורמלית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כמעט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בלי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קשר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להתפלגות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המקורית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311098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חמש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דוגמאות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‪Binomial · Geometric · Exponential · Erlang · Hyper-Erlang.‬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8‬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‪Theory vs. samples‬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 err="1">
                <a:solidFill>
                  <a:srgbClr val="1F3A5F"/>
                </a:solidFill>
                <a:latin typeface="Calibri"/>
              </a:rPr>
              <a:t>תיאוריה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מול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דגימה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: ‪Binomial‬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0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710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91247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שמאל — צפיפות/PMF תאורטית · ימין — היסטוגרמה של ‪100,000‬ הגרלות.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748447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775879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הדגימה משחזרת נאמנה את ההתפלגות התאורטית.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9‬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‪Theory vs. samples‬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 err="1">
                <a:solidFill>
                  <a:srgbClr val="1F3A5F"/>
                </a:solidFill>
                <a:latin typeface="Calibri"/>
              </a:rPr>
              <a:t>תיאוריה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מול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דגימה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: ‪Geometric‬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0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68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88634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התפלגות גאומטרית — בדידה ומוטה ימינה.  שמאל — תאורטית · ימין ‪— 100,000‬ הגרלות.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10‬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‪Theory vs. samples‬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 err="1">
                <a:solidFill>
                  <a:srgbClr val="1F3A5F"/>
                </a:solidFill>
                <a:latin typeface="Calibri"/>
              </a:rPr>
              <a:t>תיאוריה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מול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דגימה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: ‪Exponential‬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0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68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88634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התפלגות מעריכית — רציפה ומוטה חזק.  שמאל — תאורטית · ימין ‪— 100,000‬ הגרלות.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11‬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‪Theory vs. samples‬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 err="1">
                <a:solidFill>
                  <a:srgbClr val="1F3A5F"/>
                </a:solidFill>
                <a:latin typeface="Calibri"/>
              </a:rPr>
              <a:t>תיאוריה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מול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דגימה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: ‪Erlang‬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0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68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88634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התפלגות ‪Erlang —‬ סכום של מעריכיות.  שמאל — תאורטית · ימין ‪— 100,000‬ הגרלות.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12‬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‪Theory vs. samples‬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 err="1">
                <a:solidFill>
                  <a:srgbClr val="1F3A5F"/>
                </a:solidFill>
                <a:latin typeface="Calibri"/>
              </a:rPr>
              <a:t>תיאוריה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מול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דגימה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: ‪Hyper-Erlan</a:t>
            </a:r>
            <a:r>
              <a:rPr lang="en-US" sz="2800" b="1" i="0" dirty="0">
                <a:solidFill>
                  <a:srgbClr val="1F3A5F"/>
                </a:solidFill>
                <a:latin typeface="Calibri"/>
              </a:rPr>
              <a:t>g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08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68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88634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התפלגות ‪PH‬ מסוג ‪Hyper-Erlang —‬ רב-שיאית.  שמאל — תאורטית · ימין ‪— 100,000‬ הגרלות.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13‬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‪CLT · sample means‬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>
                <a:solidFill>
                  <a:srgbClr val="1F3A5F"/>
                </a:solidFill>
                <a:latin typeface="Calibri"/>
              </a:rPr>
              <a:t>‪CLT‬ 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בפעולה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: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ממוצעים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של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‪Binomial‬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1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683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88634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שמאל — ההתפלגות המקורית · ימין ‪— 10,000‬ ממוצעים, כל אחד של ‪50‬ הגרלות. הקו המקווקו הוא קירוב נורמלי.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745834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773266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כבר מהתפלגות סימטרית — הממוצע נורמלי בבירור.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14‬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dirty="0">
                <a:solidFill>
                  <a:srgbClr val="1F3A5F"/>
                </a:solidFill>
                <a:latin typeface="Calibri"/>
              </a:rPr>
              <a:t>‪CLT</a:t>
            </a:r>
            <a:r>
              <a:rPr lang="he-IL"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‬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בפעולה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: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ממוצעים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Calibri"/>
              </a:rPr>
              <a:t>של</a:t>
            </a:r>
            <a:r>
              <a:rPr sz="2800" b="1" i="0" dirty="0">
                <a:solidFill>
                  <a:srgbClr val="1F3A5F"/>
                </a:solidFill>
                <a:latin typeface="Calibri"/>
              </a:rPr>
              <a:t> ‪Geometric‬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710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91247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שמאל — ההתפלגות המקורית · ימין ‪— 10,000‬ ממוצעים, כל אחד של ‪50‬ הגרלות. הקו המקווקו הוא קירוב נורמלי.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748447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75879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התפלגות מוטה, אך ממוצע של ‪50‬ כבר נראה נורמלי.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15‬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‪CLT‬ בפעולה: ממוצעים של ‪Exponential‬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1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683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88634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שמאל — ההתפלגות המקורית · ימין ‪— 10,000‬ ממוצעים, כל אחד של ‪50‬ הגרלות. הקו המקווקו הוא קירוב נורמלי.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745834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73266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הטיה חזקה נעלמת בממוצע — התכנסות לנורמלית.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16‬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‪CLT‬ בפעולה: ממוצעים של ‪Erlang‬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1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710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91247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שמאל — ההתפלגות המקורית · ימין ‪— 10,000‬ ממוצעים, כל אחד של ‪50‬ הגרלות. הקו המקווקו הוא קירוב נורמלי.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748447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75879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ממוצע ההגרלות מתלכד עם הקירוב הנורמלי.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17‬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‪CLT‬ בפעולה: ממוצעים של ‪Hyper-Erlang‬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10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3710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91247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שמאל — ההתפלגות המקורית · ימין ‪— 10,000‬ ממוצעים, כל אחד של ‪50‬ הגרלות. הקו המקווקו הוא קירוב נורמלי.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748447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5775879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גם התפלגות ‪PH‬ מורכבת נותנת ממוצע נורמלי כמעט לחלוטין.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18‬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‪Averaging sample size 2 → 50‬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התכנסות עם גודל המדגם: ‪Hyper-Erlang‬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ell1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23123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232562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A6B7B"/>
                </a:solidFill>
                <a:latin typeface="Calibri"/>
              </a:rPr>
              <a:t>התפלגות הממוצע כאשר כל ממוצע מבוסס על ‪2, 5, 10, 30‬ ו-50 הגרלות.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689762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4717194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3A5F"/>
                </a:solidFill>
                <a:latin typeface="Calibri"/>
              </a:rPr>
              <a:t>ככל שגודל המדגם גדל — הממוצע צר יותר, סימטרי יותר, וקרוב יותר לנורמלי.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19‬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‪Part C · Penney's game‬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חידת רצפי המטבע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C7D3DE"/>
                </a:solidFill>
                <a:latin typeface="Calibri"/>
              </a:rPr>
              <a:t>שיעור ‪1 ·‬ מבוא  ‪·  20‬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‪Penney's game‬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משחק ‪Penney:‬ מי יזדקק ליותר הטלות?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8640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64173"/>
            <a:ext cx="512064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FFFFFF"/>
                </a:solidFill>
                <a:latin typeface="Calibri"/>
              </a:rPr>
              <a:t>קבוצה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‪</a:t>
            </a:r>
            <a:r>
              <a:rPr lang="he-IL" sz="1800" b="1" i="0" dirty="0">
                <a:solidFill>
                  <a:srgbClr val="FFFFFF"/>
                </a:solidFill>
                <a:latin typeface="Calibri"/>
              </a:rPr>
              <a:t>2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A2433"/>
                </a:solidFill>
                <a:latin typeface="Calibri"/>
              </a:rPr>
              <a:t>•  מטרה: הרצף  עץ · פלי · פלי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A2433"/>
                </a:solidFill>
                <a:latin typeface="Calibri"/>
              </a:rPr>
              <a:t>‪•  (Heads · Tail · Tail)‬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A2433"/>
                </a:solidFill>
                <a:latin typeface="Calibri"/>
              </a:rPr>
              <a:t>•  סופרים כמה הטלות עד שהרצף מופיע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874519"/>
            <a:ext cx="5486400" cy="4114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874519"/>
            <a:ext cx="5486400" cy="54864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964173"/>
            <a:ext cx="512064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FFFFFF"/>
                </a:solidFill>
                <a:latin typeface="Calibri"/>
              </a:rPr>
              <a:t>קבוצה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IL" sz="1800" b="1" i="0" dirty="0">
                <a:solidFill>
                  <a:srgbClr val="FFFFFF"/>
                </a:solidFill>
                <a:latin typeface="Calibri"/>
              </a:rPr>
              <a:t>‪</a:t>
            </a:r>
            <a:r>
              <a:rPr lang="he-IL" sz="1800" b="1" i="0" dirty="0">
                <a:solidFill>
                  <a:srgbClr val="FFFFFF"/>
                </a:solidFill>
                <a:latin typeface="Calibri"/>
              </a:rPr>
              <a:t>1</a:t>
            </a:r>
            <a:r>
              <a:rPr sz="1800" b="1" i="0" dirty="0">
                <a:solidFill>
                  <a:srgbClr val="FFFFFF"/>
                </a:solidFill>
                <a:latin typeface="Calibri"/>
              </a:rPr>
              <a:t>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6032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A2433"/>
                </a:solidFill>
                <a:latin typeface="Calibri"/>
              </a:rPr>
              <a:t>•  מטרה: הרצף  עץ · פלי · עץ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A2433"/>
                </a:solidFill>
                <a:latin typeface="Calibri"/>
              </a:rPr>
              <a:t>‪•  (Heads · Tail · Heads)‬</a:t>
            </a:r>
          </a:p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1A2433"/>
                </a:solidFill>
                <a:latin typeface="Calibri"/>
              </a:rPr>
              <a:t>•  סופרים כמה הטלות עד שהרצף מופיע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21‬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‪Simulating the game‬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נחשב בעזרת סימולציה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0412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אפשר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במרקוב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פתרון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אנליטי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דרך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שרשרת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‪Markov —‬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אבל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אנחנו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בעסקי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הסימולציה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הפונקציה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מטילה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מטבע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עד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שמופיע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הרצף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המבוקש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ומחזירה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מספר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ההטלות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715596"/>
            <a:ext cx="10515600" cy="691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חזרות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‪25,000‬ </a:t>
            </a:r>
            <a:r>
              <a:rPr lang="he-IL"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ניסויים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לכל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קבוצה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ואז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ממצעים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22‬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‪Result‬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התוצאה המפתיעה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152578"/>
            <a:ext cx="9445752" cy="5528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קבוצה 1: עץ פלי עץ </a:t>
            </a:r>
            <a:r>
              <a:rPr lang="en-IL" sz="2600" b="1" dirty="0">
                <a:solidFill>
                  <a:srgbClr val="1F3A5F"/>
                </a:solidFill>
              </a:rPr>
              <a:t>≈</a:t>
            </a:r>
            <a:r>
              <a:rPr lang="he-IL" sz="2600" b="1" dirty="0">
                <a:solidFill>
                  <a:srgbClr val="1F3A5F"/>
                </a:solidFill>
              </a:rPr>
              <a:t> 10</a:t>
            </a:r>
            <a:endParaRPr sz="26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347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dirty="0" err="1">
                <a:solidFill>
                  <a:srgbClr val="5A6B7B"/>
                </a:solidFill>
                <a:latin typeface="Calibri"/>
              </a:rPr>
              <a:t>רצפים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באותו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אורך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—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אך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זמן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ההמתנה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שונה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. </a:t>
            </a:r>
            <a:r>
              <a:rPr lang="he-IL" sz="1600" b="0" i="0" dirty="0">
                <a:solidFill>
                  <a:srgbClr val="5A6B7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5A6B7B"/>
                </a:solidFill>
                <a:latin typeface="Calibri"/>
              </a:rPr>
              <a:t>למה</a:t>
            </a:r>
            <a:r>
              <a:rPr sz="1600" b="0" i="0" dirty="0">
                <a:solidFill>
                  <a:srgbClr val="5A6B7B"/>
                </a:solidFill>
                <a:latin typeface="Calibr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23‬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1C591E-81BB-6531-6572-43962F4CBE37}"/>
              </a:ext>
            </a:extLst>
          </p:cNvPr>
          <p:cNvSpPr txBox="1"/>
          <p:nvPr/>
        </p:nvSpPr>
        <p:spPr>
          <a:xfrm>
            <a:off x="1371600" y="3735184"/>
            <a:ext cx="9445752" cy="5528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 dirty="0">
                <a:solidFill>
                  <a:srgbClr val="1F3A5F"/>
                </a:solidFill>
                <a:latin typeface="Calibri"/>
              </a:rPr>
              <a:t>קבוצה 2: עץ פלי פלי </a:t>
            </a:r>
            <a:r>
              <a:rPr lang="en-IL" sz="2600" b="1" dirty="0">
                <a:solidFill>
                  <a:srgbClr val="1F3A5F"/>
                </a:solidFill>
              </a:rPr>
              <a:t>≈</a:t>
            </a:r>
            <a:r>
              <a:rPr lang="he-IL" sz="2600" b="1" dirty="0">
                <a:solidFill>
                  <a:srgbClr val="1F3A5F"/>
                </a:solidFill>
              </a:rPr>
              <a:t> 8</a:t>
            </a:r>
            <a:endParaRPr sz="2600" b="1" i="0" dirty="0">
              <a:solidFill>
                <a:srgbClr val="1F3A5F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למה? והמסר של השיעור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חפיפה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עצמית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כשרצף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'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נכשל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'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בסופו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לעתים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חלק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ממנו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כבר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פותח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ניסיון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חדש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וזה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מקצר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ההמתנה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לא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אינטואיטיבי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אורך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זהה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אינו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מבטיח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זמן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המתנה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זהה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תוצאה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קשה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לניחוש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הכוח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של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הסימולציה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כשהאינטואיציה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או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הנוסחה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חמקמקות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הניסוי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החוזר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נותן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התשובה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 err="1">
                <a:solidFill>
                  <a:srgbClr val="1F3A5F"/>
                </a:solidFill>
                <a:latin typeface="Calibri"/>
              </a:rPr>
              <a:t>הצעד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F3A5F"/>
                </a:solidFill>
                <a:latin typeface="Calibri"/>
              </a:rPr>
              <a:t>הבא</a:t>
            </a:r>
            <a:r>
              <a:rPr sz="1800" b="1" i="0" dirty="0">
                <a:solidFill>
                  <a:srgbClr val="1F3A5F"/>
                </a:solidFill>
                <a:latin typeface="Calibri"/>
              </a:rPr>
              <a:t>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 err="1">
                <a:solidFill>
                  <a:srgbClr val="1A2433"/>
                </a:solidFill>
                <a:latin typeface="Calibri"/>
              </a:rPr>
              <a:t>נעבור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מ'מה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קורה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?'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אל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'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מה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כדאי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לעשות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?'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במערכות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A2433"/>
                </a:solidFill>
                <a:latin typeface="Calibri"/>
              </a:rPr>
              <a:t>תורים</a:t>
            </a:r>
            <a:r>
              <a:rPr sz="1500" b="0" i="0" dirty="0">
                <a:solidFill>
                  <a:srgbClr val="1A2433"/>
                </a:solidFill>
                <a:latin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B7B"/>
                </a:solidFill>
                <a:latin typeface="Calibri"/>
              </a:rPr>
              <a:t>שיעור ‪1 ·‬ מבוא  ‪·  24‬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1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1453</Words>
  <Application>Microsoft Office PowerPoint</Application>
  <PresentationFormat>Widescreen</PresentationFormat>
  <Paragraphs>161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2</cp:revision>
  <dcterms:created xsi:type="dcterms:W3CDTF">2013-01-27T09:14:16Z</dcterms:created>
  <dcterms:modified xsi:type="dcterms:W3CDTF">2026-09-24T09:08:53Z</dcterms:modified>
  <cp:category/>
</cp:coreProperties>
</file>